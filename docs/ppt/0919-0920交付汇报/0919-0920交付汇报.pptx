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21" Type="http://schemas.openxmlformats.org/officeDocument/2006/relationships/slide" Target="slides/slide21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7" Type="http://schemas.openxmlformats.org/officeDocument/2006/relationships/slide" Target="slides/slide7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5" Type="http://schemas.openxmlformats.org/officeDocument/2006/relationships/slide" Target="slides/slide5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9" Type="http://schemas.openxmlformats.org/officeDocument/2006/relationships/slide" Target="slides/slide9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0.png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png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padding: '20px 64px', background: '#FFFFFF', display: 'flex', flexDirection: 'column', justifyContent: 'center', gap: 22 }}&gt;&#10;    &lt;Text style={{ fontSize: 16, color: '#3B82F6', fontFamily: 'Microsoft YaHei', letterSpacing: 3 }}&gt;&#10;        工商业储能 EMS · 2026-09-19 ~ 09-20&#10;    &lt;/Text&gt;&#10;    &lt;Text style={{ fontSize: 64, fontWeight: 'bold', color: '#1A1A1A', fontFamily: 'Microsoft YaHei', lineHeight: 1.2 }}&gt;&#10;        这两天完成的交付&#10;    &lt;/Text&gt;&#10;    &lt;Text style={{ fontSize: 24, color: '#64748B', fontFamily: 'Microsoft YaHei', lineHeight: 1.6 }}&gt;&#10;        从「自己能算」到「能被上层调度、能被现场设备接入，而且每一步都有证据」&#10;    &lt;/Text&gt;&#10;    &lt;Box style={{ display: 'flex', flexDirection: 'row', gap: 28, marginTop: 26 }}&gt;&#10;        &lt;Box style={{ flex: 1, padding: '22px 24px', background: '#EFF6FF', borderRadius: 12, display: 'flex', flexDirection: 'column', gap: 6 }}&gt;&#10;            &lt;Text style={{ fontSize: 96, fontWeight: 'bold', color: '#3B82F6', fontFamily: 'Consolas', lineHeight: 1.0 }}&gt;&#10;                +1219&#10;            &lt;/Text&gt;&#10;            &lt;Text style={{ fontSize: 17, color: '#1A1A1A', fontWeight: 600, fontFamily: 'Microsoft YaHei' }}&gt;&#10;                两天净增的断言条数&#10;            &lt;/Text&gt;&#10;            &lt;Text style={{ fontSize: 14, color: '#64748B', fontFamily: 'Microsoft YaHei' }}&gt;&#10;                8085 → 9304（+15%）&#10;            &lt;/Text&gt;&#10;        &lt;/Box&gt;&#10;        &lt;Box style={{ flex: 1, padding: '22px 24px', background: '#EFF6FF', borderRadius: 12, display: 'flex', flexDirection: 'column', gap: 6 }}&gt;&#10;            &lt;Text style={{ fontSize: 96, fontWeight: 'bold', color: '#06B6D4', fontFamily: 'Consolas', lineHeight: 1.0 }}&gt;&#10;                4&#10;            &lt;/Text&gt;&#10;            &lt;Text style={{ fontSize: 17, color: '#1A1A1A', fontWeight: 600, fontFamily: 'Microsoft YaHei' }}&gt;&#10;                新建的交付模块&#10;            &lt;/Text&gt;&#10;            &lt;Text style={{ fontSize: 14, color: '#64748B', fontFamily: 'Microsoft YaHei' }}&gt;&#10;                11/ 跨进程 · 12/ 验收 · P3/ IEC104 · 13/ Modbus&#10;            &lt;/Text&gt;&#10;        &lt;/Box&gt;&#10;        &lt;Box style={{ flex: 1, padding: '22px 24px', background: '#F1F5F9', borderRadius: 12, display: 'flex', flexDirection: 'column', gap: 6 }}&gt;&#10;            &lt;Text style={{ fontSize: 96, fontWeight: 'bold', color: '#1A1A1A', fontFamily: 'Consolas', lineHeight: 1.0 }}&gt;&#10;                0&#10;            &lt;/Text&gt;&#10;            &lt;Text style={{ fontSize: 17, color: '#1A1A1A', fontWeight: 600, fontFamily: 'Microsoft YaHei' }}&gt;&#10;                失败断言&#10;            &lt;/Text&gt;&#10;            &lt;Text style={{ fontSize: 14, color: '#64748B', fontFamily: 'Microsoft YaHei' }}&gt;&#10;                15 个测试进程全绿，构建退出码 0&#10;            &lt;/Text&gt;&#10;        &lt;/Box&gt;&#10;    &lt;/Box&gt;&#10;    &lt;Text style={{ fontSize: 14, color: '#94A3B8', fontFamily: 'Microsoft YaHei', marginTop: 4 }}&gt;&#10;        本报告只讲这两天的增量；此前周期的实现另有一份汇报。&#10;  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10287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3B82F6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200" spc="225">
                <a:solidFill>
                  <a:srgbClr val="3B82F6"/>
                </a:solidFill>
                <a:latin typeface="Microsoft YaHei"/>
                <a:ea typeface="Microsoft YaHei"/>
              </a:rPr>
              <a:t> EMS · 2026-09-19 ~ 09-20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1428750"/>
            <a:ext cx="1097280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1A1A1A"/>
                </a:solidFill>
                <a:latin typeface="Microsoft YaHei"/>
                <a:ea typeface="Microsoft YaHei"/>
              </a:rPr>
              <a:t>这两天完成的交付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从「自己能算」到「能被上层调度、能被现场设备接入，而且每一步都有证据」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429000"/>
            <a:ext cx="3476625" cy="200025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3638550"/>
            <a:ext cx="301942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3B82F6"/>
                </a:solidFill>
                <a:latin typeface="Consolas"/>
                <a:ea typeface="Consolas"/>
              </a:rPr>
              <a:t>+1219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38200" y="4800600"/>
            <a:ext cx="3019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两天净增的断言条数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38200" y="5057775"/>
            <a:ext cx="3019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8085 → 9304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+15%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4352925" y="3429000"/>
            <a:ext cx="3486150" cy="200025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4581525" y="3638550"/>
            <a:ext cx="30289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06B6D4"/>
                </a:solidFill>
                <a:latin typeface="Consolas"/>
                <a:ea typeface="Consolas"/>
              </a:rPr>
              <a:t>4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581525" y="4800600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新建的交付模块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581525" y="5057775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11/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跨进程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12/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验收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P3/ IEC104 · 13/ Modbus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8105775" y="3429000"/>
            <a:ext cx="3476625" cy="200025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334375" y="3638550"/>
            <a:ext cx="301942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1A1A1A"/>
                </a:solidFill>
                <a:latin typeface="Consolas"/>
                <a:ea typeface="Consolas"/>
              </a:rPr>
              <a:t>0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334375" y="4800600"/>
            <a:ext cx="3019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Microsoft YaHei"/>
                <a:ea typeface="Microsoft YaHei"/>
              </a:rPr>
              <a:t>失败断言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334375" y="5057775"/>
            <a:ext cx="3019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15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个测试进程全绿，构建退出码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56769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本报告只讲这两天的增量；此前周期的实现另有一份汇报。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04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两天 11 项交付，断言从 8085 涨到 9304&#10;        &lt;/Text&gt;&#10;        &lt;Text style={{ fontSize: 17, color: '#64748B', fontFamily: 'Microsoft YaHei' }}&gt;&#10;            09-19 补设计方案里缺的模块与缺口；09-20 把设备接进来、把外部设定落到点上（每张卡片 = 一项交付）&#10;        &lt;/Text&gt;&#10;    &lt;/Box&gt;&#10;    &lt;Box style={{ flex: 1, display: 'flex', flexDirection: 'row', gap: 30, alignItems: 'center' }}&gt;&#10;        &lt;Box style={{ width: 720, display: 'flex', flexDirection: 'column' }}&gt;&#10;            &lt;Image src=&quot;assets/timeline_2days.png&quot; style={{ width: 720, height: 348 }} /&gt;&#10;        &lt;/Box&gt;&#10;        &lt;Box style={{ flex: 1, display: 'flex', flexDirection: 'column', gap: 16 }}&gt;&#10;            &lt;Box style={{ padding: '14px 16px', background: '#EFF6FF', borderRadius: 10, borderLeft: '4px solid #3B82F6' }}&gt;&#10;                &lt;Text style={{ fontSize: 19, fontWeight: 'bold', color: '#3B82F6', fontFamily: 'Microsoft YaHei' }}&gt;&#10;                    09-19 · 断言 8085 → 8547&#10;                &lt;/Text&gt;&#10;                &lt;Text style={{ fontSize: 16, color: '#1A1A1A', fontFamily: 'Microsoft YaHei', lineHeight: 1.6, marginTop: 4 }}&gt;&#10;                    补齐设计方案缺口：新建跨进程联调、最终验收、IEC104 网关三个模块；&#10;                    联调又照出 07/ 的三处真缺陷，并修掉 A1 / A2 两个缺口&#10;                &lt;/Text&gt;&#10;            &lt;/Box&gt;&#10;            &lt;Box style={{ padding: '14px 16px', background: '#ECFEFF', borderRadius: 10, borderLeft: '4px solid #06B6D4' }}&gt;&#10;                &lt;Text style={{ fontSize: 19, fontWeight: 'bold', color: '#06B6D4', fontFamily: 'Microsoft YaHei' }}&gt;&#10;                    09-20 · 断言 8547 → 9304&#10;                &lt;/Text&gt;&#10;                &lt;Text style={{ fontSize: 16, color: '#1A1A1A', fontFamily: 'Microsoft YaHei', lineHeight: 1.6, marginTop: 4 }}&gt;&#10;                    设备接入与外部设定：新建 Modbus 接入模块，外部调度指令第一次有了真实落点，&#10;                    再顺手扫掉三遍过期文案与已关闭的缺口&#10;                &lt;/Text&gt;&#10;            &lt;/Box&gt;&#10;            &lt;Box style={{ padding: '14px 16px', background: '#FEF2F2', borderRadius: 10, borderLeft: '4px solid #EF4444' }}&gt;&#10;                &lt;Text style={{ fontSize: 16, color: '#EF4444', fontWeight: 'bold', fontFamily: 'Microsoft YaHei', lineHeight: 1.6 }}&gt;&#10;                    为什么&quot;清扫文案&quot;也算交付？&lt;br /&gt;&#10;                    因为断言错了会变红，而写进正式产物里的数字错了，永远是绿的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02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两天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11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项交付，断言从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8085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涨到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9304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09-19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补设计方案里缺的模块与缺口；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09-20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把设备接进来、把外部设定落到点上（每张卡片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=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一项交付）</a:t>
            </a:r>
            <a:endParaRPr/>
          </a:p>
        </p:txBody>
      </p:sp>
      <p:pic>
        <p:nvPicPr>
          <p:cNvPr id="208" name=""/>
          <p:cNvPicPr>
            <a:picLocks noChangeAspect="1"/>
          </p:cNvPicPr>
          <p:nvPr/>
        </p:nvPicPr>
        <p:blipFill>
          <a:blip r:embed="rId1"/>
          <a:srcRect l="0" t="28" r="0" b="28"/>
          <a:stretch>
            <a:fillRect/>
          </a:stretch>
        </p:blipFill>
        <p:spPr>
          <a:xfrm rot="0" flipH="0" flipV="0">
            <a:off x="609600" y="2038350"/>
            <a:ext cx="6858000" cy="3314700"/>
          </a:xfrm>
          <a:prstGeom prst="rect">
            <a:avLst/>
          </a:prstGeom>
          <a:ln/>
        </p:spPr>
      </p:pic>
      <p:sp>
        <p:nvSpPr>
          <p:cNvPr id="209" name=""/>
          <p:cNvSpPr/>
          <p:nvPr/>
        </p:nvSpPr>
        <p:spPr>
          <a:xfrm rot="0" flipH="0" flipV="0">
            <a:off x="7791450" y="1562100"/>
            <a:ext cx="3829050" cy="1409700"/>
          </a:xfrm>
          <a:prstGeom prst="roundRect">
            <a:avLst>
              <a:gd name="adj" fmla="val 675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7791450" y="1562100"/>
            <a:ext cx="3829050" cy="1409700"/>
          </a:xfrm>
          <a:custGeom>
            <a:pathLst>
              <a:path w="402" h="14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42"/>
                </a:lnTo>
                <a:cubicBezTo>
                  <a:pt x="4" y="145"/>
                  <a:pt x="6" y="147"/>
                  <a:pt x="9" y="148"/>
                </a:cubicBezTo>
                <a:cubicBezTo>
                  <a:pt x="4" y="147"/>
                  <a:pt x="0" y="143"/>
                  <a:pt x="0" y="13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943850" y="1695450"/>
            <a:ext cx="3486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B82F6"/>
                </a:solidFill>
                <a:latin typeface="Microsoft YaHei"/>
                <a:ea typeface="Microsoft YaHei"/>
              </a:rPr>
              <a:t>09-19 · </a:t>
            </a:r>
            <a:r>
              <a:rPr lang="zh-CN" sz="1425" b="1">
                <a:solidFill>
                  <a:srgbClr val="3B82F6"/>
                </a:solidFill>
                <a:latin typeface="Microsoft YaHei"/>
                <a:ea typeface="Microsoft YaHei"/>
              </a:rPr>
              <a:t>断言</a:t>
            </a:r>
            <a:r>
              <a:rPr lang="en-US" sz="1425" b="1">
                <a:solidFill>
                  <a:srgbClr val="3B82F6"/>
                </a:solidFill>
                <a:latin typeface="Microsoft YaHei"/>
                <a:ea typeface="Microsoft YaHei"/>
              </a:rPr>
              <a:t> 8085 → 8547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943850" y="1952625"/>
            <a:ext cx="34861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补齐设计方案缺口：新建跨进程联调、最终验收、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IEC104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网关三个模块；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联调又照出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07/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的三处真缺陷，并修掉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A1 / A2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两个缺口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7791450" y="3124200"/>
            <a:ext cx="3829050" cy="1409700"/>
          </a:xfrm>
          <a:prstGeom prst="roundRect">
            <a:avLst>
              <a:gd name="adj" fmla="val 6757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7791450" y="3124200"/>
            <a:ext cx="3829050" cy="1409700"/>
          </a:xfrm>
          <a:custGeom>
            <a:pathLst>
              <a:path w="402" h="14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42"/>
                </a:lnTo>
                <a:cubicBezTo>
                  <a:pt x="4" y="145"/>
                  <a:pt x="6" y="147"/>
                  <a:pt x="9" y="148"/>
                </a:cubicBezTo>
                <a:cubicBezTo>
                  <a:pt x="4" y="147"/>
                  <a:pt x="0" y="143"/>
                  <a:pt x="0" y="13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943850" y="3257550"/>
            <a:ext cx="3486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B6D4"/>
                </a:solidFill>
                <a:latin typeface="Microsoft YaHei"/>
                <a:ea typeface="Microsoft YaHei"/>
              </a:rPr>
              <a:t>09-20 · </a:t>
            </a:r>
            <a:r>
              <a:rPr lang="zh-CN" sz="1425" b="1">
                <a:solidFill>
                  <a:srgbClr val="06B6D4"/>
                </a:solidFill>
                <a:latin typeface="Microsoft YaHei"/>
                <a:ea typeface="Microsoft YaHei"/>
              </a:rPr>
              <a:t>断言</a:t>
            </a:r>
            <a:r>
              <a:rPr lang="en-US" sz="1425" b="1">
                <a:solidFill>
                  <a:srgbClr val="06B6D4"/>
                </a:solidFill>
                <a:latin typeface="Microsoft YaHei"/>
                <a:ea typeface="Microsoft YaHei"/>
              </a:rPr>
              <a:t> 8547 → 9304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943850" y="3514725"/>
            <a:ext cx="34861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设备接入与外部设定：新建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Modbus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接入模块，外部调度指令第一次有了真实落点，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再顺手扫掉三遍过期文案与已关闭的缺口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791450" y="4686300"/>
            <a:ext cx="3829050" cy="1152525"/>
          </a:xfrm>
          <a:prstGeom prst="roundRect">
            <a:avLst>
              <a:gd name="adj" fmla="val 8264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7791450" y="4686300"/>
            <a:ext cx="3829050" cy="1152525"/>
          </a:xfrm>
          <a:custGeom>
            <a:pathLst>
              <a:path w="402" h="12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5"/>
                </a:lnTo>
                <a:cubicBezTo>
                  <a:pt x="4" y="118"/>
                  <a:pt x="6" y="120"/>
                  <a:pt x="9" y="121"/>
                </a:cubicBezTo>
                <a:cubicBezTo>
                  <a:pt x="4" y="120"/>
                  <a:pt x="0" y="116"/>
                  <a:pt x="0" y="11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943850" y="4819650"/>
            <a:ext cx="34861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F4444"/>
                </a:solidFill>
                <a:latin typeface="Microsoft YaHei"/>
                <a:ea typeface="Microsoft YaHei"/>
              </a:rPr>
              <a:t>为什么</a:t>
            </a:r>
            <a:r>
              <a:rPr lang="en-US" sz="1200" b="1">
                <a:solidFill>
                  <a:srgbClr val="EF4444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EF4444"/>
                </a:solidFill>
                <a:latin typeface="Microsoft YaHei"/>
                <a:ea typeface="Microsoft YaHei"/>
              </a:rPr>
              <a:t>清扫文案</a:t>
            </a:r>
            <a:r>
              <a:rPr lang="en-US" sz="1200" b="1">
                <a:solidFill>
                  <a:srgbClr val="EF4444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EF4444"/>
                </a:solidFill>
                <a:latin typeface="Microsoft YaHei"/>
                <a:ea typeface="Microsoft YaHei"/>
              </a:rPr>
              <a:t>也算交付？</a:t>
            </a:r>
            <a:endParaRPr/>
          </a:p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F4444"/>
                </a:solidFill>
                <a:latin typeface="Microsoft YaHei"/>
                <a:ea typeface="Microsoft YaHei"/>
              </a:rPr>
              <a:t>因为断言错了会变红，而写进正式产物里的数字错了，永远是绿的。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08" name="" descr="&lt;Slide style={{ width: 1280, height: 720, padding: '20px 64px', background: 'linear-gradient(135deg, #EFF6FF 0%, #FFFFFF 52%, #F0FDFA 100%)', display: 'flex', flexDirection: 'column', justifyContent: 'center' }}&gt;&#10;    &lt;Text style={{ fontSize: 128, fontWeight: 'bold', color: '#DBEAFE', fontFamily: 'Consolas', lineHeight: 1.0 }}&gt;&#10;        01&#10;    &lt;/Text&gt;&#10;    &lt;Text style={{ fontSize: 72, fontWeight: 'bold', color: '#1A1A1A', fontFamily: 'Microsoft YaHei', lineHeight: 1.2, marginTop: -18 }}&gt;&#10;        09-19 · 补齐设计方案缺口&#10;    &lt;/Text&gt;&#10;    &lt;Text style={{ fontSize: 22, color: '#64748B', fontFamily: 'Microsoft YaHei', lineHeight: 1.7, marginTop: 18 }}&gt;&#10;        设计方案里的「周期 11 / 周期 12」原本没有对应模块 ——&#10;        把该有的补上，顺带把两个&quot;通路上不生效&quot;的缺口修掉。&#10;    &lt;/Text&gt;&#10;    &lt;Box style={{ display: 'flex', flexDirection: 'row', gap: 40, marginTop: 26 }}&gt;&#10;        &lt;Text style={{ fontSize: 17, color: '#3B82F6', fontWeight: 600, fontFamily: 'Microsoft YaHei' }}&gt;&#10;            新建 11/ 12/ P3/&#10;        &lt;/Text&gt;&#10;        &lt;Text style={{ fontSize: 17, color: '#3B82F6', fontWeight: 600, fontFamily: 'Microsoft YaHei' }}&gt;&#10;            修缺口 A1 / A2&#10;        &lt;/Text&gt;&#10;        &lt;Text style={{ fontSize: 17, color: '#3B82F6', fontWeight: 600, fontFamily: 'Microsoft YaHei' }}&gt;&#10;            判据修正 T47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FF6FF"/>
              </a:gs>
              <a:gs pos="52000">
                <a:srgbClr val="FFFFFF"/>
              </a:gs>
              <a:gs pos="100000">
                <a:srgbClr val="F0FDF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>
                <a:solidFill>
                  <a:srgbClr val="DBEAFE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09600" y="3057525"/>
            <a:ext cx="10972800" cy="990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5400" b="1">
                <a:solidFill>
                  <a:srgbClr val="1A1A1A"/>
                </a:solidFill>
                <a:latin typeface="Microsoft YaHei"/>
                <a:ea typeface="Microsoft YaHei"/>
              </a:rPr>
              <a:t>09-19 · </a:t>
            </a:r>
            <a:r>
              <a:rPr lang="zh-CN" sz="5400" b="1">
                <a:solidFill>
                  <a:srgbClr val="1A1A1A"/>
                </a:solidFill>
                <a:latin typeface="Microsoft YaHei"/>
                <a:ea typeface="Microsoft YaHei"/>
              </a:rPr>
              <a:t>补齐设计方案缺口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09600" y="42195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设计方案里的「周期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11 /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周期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12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」原本没有对应模块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把该有的补上，顺带把两个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通路上不生效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的缺口修掉。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09600" y="4895850"/>
            <a:ext cx="1304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新建</a:t>
            </a:r>
            <a:r>
              <a:rPr lang="en-US" sz="1275" b="1">
                <a:solidFill>
                  <a:srgbClr val="3B82F6"/>
                </a:solidFill>
                <a:latin typeface="Microsoft YaHei"/>
                <a:ea typeface="Microsoft YaHei"/>
              </a:rPr>
              <a:t> 11/ 12/ P3/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2295525" y="4895850"/>
            <a:ext cx="1152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修缺口</a:t>
            </a:r>
            <a:r>
              <a:rPr lang="en-US" sz="1275" b="1">
                <a:solidFill>
                  <a:srgbClr val="3B82F6"/>
                </a:solidFill>
                <a:latin typeface="Microsoft YaHei"/>
                <a:ea typeface="Microsoft YaHei"/>
              </a:rPr>
              <a:t> A1 / A2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829050" y="4895850"/>
            <a:ext cx="1000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判据修正</a:t>
            </a:r>
            <a:r>
              <a:rPr lang="en-US" sz="1275" b="1">
                <a:solidFill>
                  <a:srgbClr val="3B82F6"/>
                </a:solidFill>
                <a:latin typeface="Microsoft YaHei"/>
                <a:ea typeface="Microsoft YaHei"/>
              </a:rPr>
              <a:t> T47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16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09-19：三个新模块 + 两处修复 + 一处判据修正&#10;        &lt;/Text&gt;&#10;        &lt;Text style={{ fontSize: 17, color: '#64748B', fontFamily: 'Microsoft YaHei' }}&gt;&#10;            每一张卡片回答两件事：为什么非做不可 / 做完之后多了多少条可自动检查的行为&#10;        &lt;/Text&gt;&#10;    &lt;/Box&gt;&#10;    &lt;Box style={{ flex: 1, display: 'flex', flexDirection: 'column', gap: 14 }}&gt;&#10;        &lt;Box style={{ display: 'flex', flexDirection: 'row', gap: 14, flex: 1 }}&gt;&#10;            &lt;Box style={{ flex: 1, padding: '14px 16px', background: '#EFF6FF', borderRadius: 10, display: 'flex', flexDirection: 'column', gap: 6 }}&gt;&#10;                &lt;Text style={{ fontSize: 19, fontWeight: 'bold', color: '#1A1A1A', fontFamily: 'Microsoft YaHei' }}&gt;新建 11/ 跨进程联调&lt;/Text&gt;&#10;                &lt;Text style={{ fontSize: 15, color: '#64748B', fontFamily: 'Microsoft YaHei', lineHeight: 1.6, flex: 1 }}&gt;&#10;                    模块内自洽，不等于装到一起还对。三个真进程 + 一块真共享内存，是唯一能照出跨边界缺陷的镜子。&#10;                &lt;/Text&gt;&#10;                &lt;Text style={{ fontSize: 17, fontWeight: 'bold', color: '#3B82F6', fontFamily: 'Consolas' }}&gt;152 断言&lt;/Text&gt;&#10;            &lt;/Box&gt;&#10;            &lt;Box style={{ flex: 1, padding: '14px 16px', background: '#EFF6FF', borderRadius: 10, display: 'flex', flexDirection: 'column', gap: 6 }}&gt;&#10;                &lt;Text style={{ fontSize: 19, fontWeight: 'bold', color: '#1A1A1A', fontFamily: 'Microsoft YaHei' }}&gt;新建 12/ 最终验收&lt;/Text&gt;&#10;                &lt;Text style={{ fontSize: 15, color: '#64748B', fontFamily: 'Microsoft YaHei', lineHeight: 1.6, flex: 1 }}&gt;&#10;                    交付要有门禁：七维度 55 项检查，判据与实测同时输出，只出 PASS/FAIL 的报告不可复核。&#10;                &lt;/Text&gt;&#10;                &lt;Text style={{ fontSize: 17, fontWeight: 'bold', color: '#3B82F6', fontFamily: 'Consolas' }}&gt;114 自测 + 55/55 检查项&lt;/Text&gt;&#10;            &lt;/Box&gt;&#10;            &lt;Box style={{ flex: 1, padding: '14px 16px', background: '#EFF6FF', borderRadius: 10, display: 'flex', flexDirection: 'column', gap: 6 }}&gt;&#10;                &lt;Text style={{ fontSize: 19, fontWeight: 'bold', color: '#1A1A1A', fontFamily: 'Microsoft YaHei' }}&gt;新建 P3/ IEC104 从站&lt;/Text&gt;&#10;                &lt;Text style={{ fontSize: 15, color: '#64748B', fontFamily: 'Microsoft YaHei', lineHeight: 1.6, flex: 1 }}&gt;&#10;                    对上得能被调度看见：真实 TCP、真实报文、真实遥控遥调时序，不是自己和自己对答案。&#10;                &lt;/Text&gt;&#10;                &lt;Text style={{ fontSize: 17, fontWeight: 'bold', color: '#3B82F6', fontFamily: 'Consolas' }}&gt;408 协议 + 121 落点&lt;/Text&gt;&#10;            &lt;/Box&gt;&#10;        &lt;/Box&gt;&#10;        &lt;Box style={{ display: 'flex', flexDirection: 'row', gap: 14, flex: 1 }}&gt;&#10;            &lt;Box style={{ flex: 1, padding: '14px 16px', background: '#FFFFFF', borderRadius: 10, border: '1px solid #E2E8F0', display: 'flex', flexDirection: 'column', gap: 6 }}&gt;&#10;                &lt;Text style={{ fontSize: 19, fontWeight: 'bold', color: '#1A1A1A', fontFamily: 'Microsoft YaHei' }}&gt;修 07/ 三处真实缺陷&lt;/Text&gt;&#10;                &lt;Text style={{ fontSize: 15, color: '#64748B', fontFamily: 'Microsoft YaHei', lineHeight: 1.6, flex: 1 }}&gt;&#10;                    联调才暴露的三处：权限区间恒为 [0,0]、seqlock 碰撞被误计为采集失败、缺热模型 ——&#10;                    单进程测试里它们永远是绿的。&#10;                &lt;/Text&gt;&#10;                &lt;Text style={{ fontSize: 17, fontWeight: 'bold', color: '#3B82F6', fontFamily: 'Consolas' }}&gt;3 处 / 单进程照不出&lt;/Text&gt;&#10;            &lt;/Box&gt;&#10;            &lt;Box style={{ flex: 1, padding: '14px 16px', background: '#FFFFFF', borderRadius: 10, border: '1px solid #E2E8F0', display: 'flex', flexDirection: 'column', gap: 6 }}&gt;&#10;                &lt;Text style={{ fontSize: 19, fontWeight: 'bold', color: '#1A1A1A', fontFamily: 'Microsoft YaHei' }}&gt;缺口 A1 + A2&lt;/Text&gt;&#10;                &lt;Text style={{ fontSize: 15, color: '#64748B', fontFamily: 'Microsoft YaHei', lineHeight: 1.6, flex: 1 }}&gt;&#10;                    A1：BMS 禁充 / 禁放位在点表里没建模，却正是最硬那条安全约束的输入。&#10;                    A2：关口功率两个口径，三路相减会把误差叠加 —— 统一为「只读电表」。&#10;                &lt;/Text&gt;&#10;                &lt;Text style={{ fontSize: 17, fontWeight: 'bold', color: '#06B6D4', fontFamily: 'Consolas' }}&gt;点表 30 → 32 点；关口只读电表&lt;/Text&gt;&#10;            &lt;/Box&gt;&#10;            &lt;Box style={{ flex: 1, padding: '14px 16px', background: '#FEF2F2', borderRadius: 10, border: '1px solid #EF4444', display: 'flex', flexDirection: 'column', gap: 6 }}&gt;&#10;                &lt;Text style={{ fontSize: 19, fontWeight: 'bold', color: '#1A1A1A', fontFamily: 'Microsoft YaHei' }}&gt;判据修正 T47&lt;/Text&gt;&#10;                &lt;Text style={{ fontSize: 15, color: '#64748B', fontFamily: 'Microsoft YaHei', lineHeight: 1.6, flex: 1 }}&gt;&#10;                    原判据「降级次数 == 0」测的是机器闲不闲，不是代码对不对。降级本身是设计内的保护动作。&#10;                &lt;/Text&gt;&#10;                &lt;Text style={{ fontSize: 17, fontWeight: 'bold', color: '#EF4444', fontFamily: 'Consolas' }}&gt;改为四层判据 + 守卫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04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09-19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：三个新模块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两处修复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一处判据修正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每一张卡片回答两件事：为什么非做不可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做完之后多了多少条可自动检查的行为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09600" y="1066800"/>
            <a:ext cx="3571875" cy="2562225"/>
          </a:xfrm>
          <a:prstGeom prst="roundRect">
            <a:avLst>
              <a:gd name="adj" fmla="val 371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62000" y="1200150"/>
            <a:ext cx="3267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11/ </a:t>
            </a: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跨进程联调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62000" y="1476375"/>
            <a:ext cx="3267075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模块内自洽，不等于装到一起还对。三个真进程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一块真共享内存，是唯一能照出跨边界缺陷的镜子。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62000" y="3295650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Consolas"/>
                <a:ea typeface="Consolas"/>
              </a:rPr>
              <a:t>152 </a:t>
            </a:r>
            <a:r>
              <a:rPr lang="zh-CN" sz="1275" b="1">
                <a:solidFill>
                  <a:srgbClr val="3B82F6"/>
                </a:solidFill>
                <a:latin typeface="Consolas"/>
                <a:ea typeface="Consolas"/>
              </a:rPr>
              <a:t>断言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4314825" y="1066800"/>
            <a:ext cx="3562350" cy="2562225"/>
          </a:xfrm>
          <a:prstGeom prst="roundRect">
            <a:avLst>
              <a:gd name="adj" fmla="val 371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467225" y="1200150"/>
            <a:ext cx="3257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12/ </a:t>
            </a: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最终验收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467225" y="1476375"/>
            <a:ext cx="3257550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交付要有门禁：七维度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55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项检查，判据与实测同时输出，只出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PASS/FAIL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的报告不可复核。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467225" y="3295650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Consolas"/>
                <a:ea typeface="Consolas"/>
              </a:rPr>
              <a:t>114 </a:t>
            </a:r>
            <a:r>
              <a:rPr lang="zh-CN" sz="1275" b="1">
                <a:solidFill>
                  <a:srgbClr val="3B82F6"/>
                </a:solidFill>
                <a:latin typeface="Consolas"/>
                <a:ea typeface="Consolas"/>
              </a:rPr>
              <a:t>自测</a:t>
            </a:r>
            <a:r>
              <a:rPr lang="en-US" sz="1275" b="1">
                <a:solidFill>
                  <a:srgbClr val="3B82F6"/>
                </a:solidFill>
                <a:latin typeface="Consolas"/>
                <a:ea typeface="Consolas"/>
              </a:rPr>
              <a:t> + 55/55 </a:t>
            </a:r>
            <a:r>
              <a:rPr lang="zh-CN" sz="1275" b="1">
                <a:solidFill>
                  <a:srgbClr val="3B82F6"/>
                </a:solidFill>
                <a:latin typeface="Consolas"/>
                <a:ea typeface="Consolas"/>
              </a:rPr>
              <a:t>检查项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8010525" y="1066800"/>
            <a:ext cx="3571875" cy="2562225"/>
          </a:xfrm>
          <a:prstGeom prst="roundRect">
            <a:avLst>
              <a:gd name="adj" fmla="val 371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162925" y="1200150"/>
            <a:ext cx="3267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P3/ IEC104 </a:t>
            </a: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从站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162925" y="1476375"/>
            <a:ext cx="3267075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对上得能被调度看见：真实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TCP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、真实报文、真实遥控遥调时序，不是自己和自己对答案。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162925" y="3295650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Consolas"/>
                <a:ea typeface="Consolas"/>
              </a:rPr>
              <a:t>408 </a:t>
            </a:r>
            <a:r>
              <a:rPr lang="zh-CN" sz="1275" b="1">
                <a:solidFill>
                  <a:srgbClr val="3B82F6"/>
                </a:solidFill>
                <a:latin typeface="Consolas"/>
                <a:ea typeface="Consolas"/>
              </a:rPr>
              <a:t>协议</a:t>
            </a:r>
            <a:r>
              <a:rPr lang="en-US" sz="1275" b="1">
                <a:solidFill>
                  <a:srgbClr val="3B82F6"/>
                </a:solidFill>
                <a:latin typeface="Consolas"/>
                <a:ea typeface="Consolas"/>
              </a:rPr>
              <a:t> + 121 </a:t>
            </a:r>
            <a:r>
              <a:rPr lang="zh-CN" sz="1275" b="1">
                <a:solidFill>
                  <a:srgbClr val="3B82F6"/>
                </a:solidFill>
                <a:latin typeface="Consolas"/>
                <a:ea typeface="Consolas"/>
              </a:rPr>
              <a:t>落点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09600" y="3762375"/>
            <a:ext cx="3571875" cy="2562225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62000" y="3895725"/>
            <a:ext cx="3267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修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07/ </a:t>
            </a: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三处真实缺陷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62000" y="4171950"/>
            <a:ext cx="3267075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联调才暴露的三处：权限区间恒为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[0,0]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seqlock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碰撞被误计为采集失败、缺热模型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单进程测试里它们永远是绿的。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62000" y="5991225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Consolas"/>
                <a:ea typeface="Consolas"/>
              </a:rPr>
              <a:t>3 </a:t>
            </a:r>
            <a:r>
              <a:rPr lang="zh-CN" sz="1275" b="1">
                <a:solidFill>
                  <a:srgbClr val="3B82F6"/>
                </a:solidFill>
                <a:latin typeface="Consolas"/>
                <a:ea typeface="Consolas"/>
              </a:rPr>
              <a:t>处</a:t>
            </a:r>
            <a:r>
              <a:rPr lang="en-US" sz="1275" b="1">
                <a:solidFill>
                  <a:srgbClr val="3B82F6"/>
                </a:solidFill>
                <a:latin typeface="Consolas"/>
                <a:ea typeface="Consolas"/>
              </a:rPr>
              <a:t> / </a:t>
            </a:r>
            <a:r>
              <a:rPr lang="zh-CN" sz="1275" b="1">
                <a:solidFill>
                  <a:srgbClr val="3B82F6"/>
                </a:solidFill>
                <a:latin typeface="Consolas"/>
                <a:ea typeface="Consolas"/>
              </a:rPr>
              <a:t>单进程照不出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4314825" y="3762375"/>
            <a:ext cx="3562350" cy="2562225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467225" y="3895725"/>
            <a:ext cx="3257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缺口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A1 + A2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467225" y="4171950"/>
            <a:ext cx="3257550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A1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BMS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禁充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禁放位在点表里没建模，却正是最硬那条安全约束的输入。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A2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：关口功率两个口径，三路相减会把误差叠加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统一为「只读电表」。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467225" y="5991225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B6D4"/>
                </a:solidFill>
                <a:latin typeface="Consolas"/>
                <a:ea typeface="Consolas"/>
              </a:rPr>
              <a:t>点表</a:t>
            </a:r>
            <a:r>
              <a:rPr lang="en-US" sz="1275" b="1">
                <a:solidFill>
                  <a:srgbClr val="06B6D4"/>
                </a:solidFill>
                <a:latin typeface="Consolas"/>
                <a:ea typeface="Consolas"/>
              </a:rPr>
              <a:t> 30 → 32 </a:t>
            </a:r>
            <a:r>
              <a:rPr lang="zh-CN" sz="1275" b="1">
                <a:solidFill>
                  <a:srgbClr val="06B6D4"/>
                </a:solidFill>
                <a:latin typeface="Consolas"/>
                <a:ea typeface="Consolas"/>
              </a:rPr>
              <a:t>点；关口只读电表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8010525" y="3762375"/>
            <a:ext cx="3571875" cy="2562225"/>
          </a:xfrm>
          <a:prstGeom prst="roundRect">
            <a:avLst>
              <a:gd name="adj" fmla="val 3717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162925" y="3895725"/>
            <a:ext cx="3267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判据修正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T47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162925" y="4171950"/>
            <a:ext cx="3267075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原判据「降级次数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== 0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」测的是机器闲不闲，不是代码对不对。降级本身是设计内的保护动作。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162925" y="5991225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F4444"/>
                </a:solidFill>
                <a:latin typeface="Consolas"/>
                <a:ea typeface="Consolas"/>
              </a:rPr>
              <a:t>改为四层判据</a:t>
            </a:r>
            <a:r>
              <a:rPr lang="en-US" sz="1275" b="1">
                <a:solidFill>
                  <a:srgbClr val="EF4444"/>
                </a:solidFill>
                <a:latin typeface="Consolas"/>
                <a:ea typeface="Consolas"/>
              </a:rPr>
              <a:t> + </a:t>
            </a:r>
            <a:r>
              <a:rPr lang="zh-CN" sz="1275" b="1">
                <a:solidFill>
                  <a:srgbClr val="EF4444"/>
                </a:solidFill>
                <a:latin typeface="Consolas"/>
                <a:ea typeface="Consolas"/>
              </a:rPr>
              <a:t>守卫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46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原理 · 为什么必须跨进程&#10;        &lt;/Text&gt;&#10;        &lt;Text style={{ fontSize: 17, color: '#64748B', fontFamily: 'Microsoft YaHei' }}&gt;&#10;            同一套代码，换一种装法：单进程全绿，跨进程才照出三个真实缺陷&#10;        &lt;/Text&gt;&#10;    &lt;/Box&gt;&#10;    &lt;Box style={{ flex: 1, display: 'flex', flexDirection: 'row', gap: 28, alignItems: 'center' }}&gt;&#10;        &lt;Box style={{ width: 600 }}&gt;&#10;            &lt;Image src=&quot;assets/crossproc.png&quot; style={{ width: 600, height: 299 }} /&gt;&#10;        &lt;/Box&gt;&#10;        &lt;Box style={{ flex: 1, display: 'flex', flexDirection: 'column', gap: 14 }}&gt;&#10;            &lt;Box style={{ padding: '14px 16px', background: '#F1F5F9', borderRadius: 10 }}&gt;&#10;                &lt;Text style={{ fontSize: 18, fontWeight: 'bold', color: '#1A1A1A', fontFamily: 'Microsoft YaHei' }}&gt;&#10;                    跨内存边界 + 测试夹具替我喂数据&#10;                &lt;/Text&gt;&#10;                &lt;Text style={{ fontSize: 15, color: '#64748B', fontFamily: 'Microsoft YaHei', lineHeight: 1.6, marginTop: 4 }}&gt;&#10;                    = 测试盲区。所有断言都绿，但真实链路是断的 —— 而断在哪一步，绿的测试永远不告诉你。&#10;                &lt;/Text&gt;&#10;            &lt;/Box&gt;&#10;            &lt;Box style={{ padding: '14px 16px', background: '#FEF2F2', borderRadius: 10, borderLeft: '4px solid #EF4444' }}&gt;&#10;                &lt;Text style={{ fontSize: 18, fontWeight: 'bold', color: '#EF4444', fontFamily: 'Microsoft YaHei' }}&gt;&#10;                    补通路前先自问一句&#10;                &lt;/Text&gt;&#10;                &lt;Text style={{ fontSize: 15, color: '#1A1A1A', fontFamily: 'Microsoft YaHei', lineHeight: 1.6, marginTop: 4 }}&gt;&#10;                    这条路上，有几步是测试夹具替我做的？&lt;br /&gt;&#10;                    哪怕只有一步，这一步在接真机前就一次都没走过。&#10;                &lt;/Text&gt;&#10;            &lt;/Box&gt;&#10;            &lt;Text style={{ fontSize: 15, color: '#64748B', fontFamily: 'Microsoft YaHei', lineHeight: 1.6 }}&gt;&#10;                三个缺陷在单进程测试里永远不会暴露 —— 这就是这两天要把三个真进程装到一起的原因。&#10;            &lt;/Text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05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原理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为什么必须跨进程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同一套代码，换一种装法：单进程全绿，跨进程才照出三个真实缺陷</a:t>
            </a:r>
            <a:endParaRPr/>
          </a:p>
        </p:txBody>
      </p:sp>
      <p:pic>
        <p:nvPicPr>
          <p:cNvPr id="350" name=""/>
          <p:cNvPicPr>
            <a:picLocks noChangeAspect="1"/>
          </p:cNvPicPr>
          <p:nvPr/>
        </p:nvPicPr>
        <p:blipFill>
          <a:blip r:embed="rId1"/>
          <a:srcRect l="0" t="66" r="0" b="66"/>
          <a:stretch>
            <a:fillRect/>
          </a:stretch>
        </p:blipFill>
        <p:spPr>
          <a:xfrm rot="0" flipH="0" flipV="0">
            <a:off x="609600" y="2276475"/>
            <a:ext cx="5715000" cy="2847975"/>
          </a:xfrm>
          <a:prstGeom prst="rect">
            <a:avLst/>
          </a:prstGeom>
          <a:ln/>
        </p:spPr>
      </p:pic>
      <p:sp>
        <p:nvSpPr>
          <p:cNvPr id="351" name=""/>
          <p:cNvSpPr/>
          <p:nvPr/>
        </p:nvSpPr>
        <p:spPr>
          <a:xfrm rot="0" flipH="0" flipV="0">
            <a:off x="6591300" y="2219325"/>
            <a:ext cx="4991100" cy="1066800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743700" y="2352675"/>
            <a:ext cx="468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跨内存边界</a:t>
            </a: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测试夹具替我喂数据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743700" y="2600325"/>
            <a:ext cx="4686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=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测试盲区。所有断言都绿，但真实链路是断的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而断在哪一步，绿的测试永远不告诉你。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629400" y="3419475"/>
            <a:ext cx="4991100" cy="1066800"/>
          </a:xfrm>
          <a:prstGeom prst="roundRect">
            <a:avLst>
              <a:gd name="adj" fmla="val 8929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6629400" y="3419475"/>
            <a:ext cx="4991100" cy="1066800"/>
          </a:xfrm>
          <a:custGeom>
            <a:pathLst>
              <a:path w="524" h="11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6"/>
                </a:lnTo>
                <a:cubicBezTo>
                  <a:pt x="4" y="109"/>
                  <a:pt x="6" y="111"/>
                  <a:pt x="9" y="112"/>
                </a:cubicBezTo>
                <a:cubicBezTo>
                  <a:pt x="4" y="111"/>
                  <a:pt x="0" y="107"/>
                  <a:pt x="0" y="10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781800" y="3552825"/>
            <a:ext cx="4648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F4444"/>
                </a:solidFill>
                <a:latin typeface="Microsoft YaHei"/>
                <a:ea typeface="Microsoft YaHei"/>
              </a:rPr>
              <a:t>补通路前先自问一句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781800" y="3800475"/>
            <a:ext cx="46482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这条路上，有几步是测试夹具替我做的？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哪怕只有一步，这一步在接真机前就一次都没走过。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591300" y="4619625"/>
            <a:ext cx="4991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三个缺陷在单进程测试里永远不会暴露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这就是这两天要把三个真进程装到一起的原因。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61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原理 · 点表的索引是「运行时坐标」&#10;        &lt;/Text&gt;&#10;        &lt;Text style={{ fontSize: 17, color: '#64748B', fontFamily: 'Microsoft YaHei' }}&gt;&#10;            A1 的两个决策，以及 A2 差点&quot;修了个寂寞&quot;的教训&#10;        &lt;/Text&gt;&#10;    &lt;/Box&gt;&#10;    &lt;Box style={{ flex: 1, display: 'flex', flexDirection: 'row', gap: 28, alignItems: 'center' }}&gt;&#10;        &lt;Box style={{ width: 640 }}&gt;&#10;            &lt;Image src=&quot;assets/point_append.png&quot; style={{ width: 640, height: 280 }} /&gt;&#10;        &lt;/Box&gt;&#10;        &lt;Box style={{ flex: 1, display: 'flex', flexDirection: 'column', gap: 13 }}&gt;&#10;            &lt;Box style={{ padding: '12px 14px', background: '#ECFEFF', borderRadius: 10, borderLeft: '4px solid #06B6D4' }}&gt;&#10;                &lt;Text style={{ fontSize: 17, fontWeight: 'bold', color: '#06B6D4', fontFamily: 'Microsoft YaHei' }}&gt;&#10;                    决策一 · 只追加在末尾&#10;                &lt;/Text&gt;&#10;                &lt;Text style={{ fontSize: 14, color: '#1A1A1A', fontFamily: 'Microsoft YaHei', lineHeight: 1.6, marginTop: 3 }}&gt;&#10;                    共享内存里已经有段，段里的索引不会跟着新代码变。中间插入会让其后所有点整体偏移 ——&#10;                    现场表现是「点名对得上、值全是隔壁点的」。&#10;                &lt;/Text&gt;&#10;            &lt;/Box&gt;&#10;            &lt;Box style={{ padding: '12px 14px', background: '#ECFEFF', borderRadius: 10, borderLeft: '4px solid #06B6D4' }}&gt;&#10;                &lt;Text style={{ fontSize: 17, fontWeight: 'bold', color: '#06B6D4', fontFamily: 'Microsoft YaHei' }}&gt;&#10;                    决策二 · 新点默认&quot;允许&quot;&#10;                &lt;/Text&gt;&#10;                &lt;Text style={{ fontSize: 14, color: '#1A1A1A', fontFamily: 'Microsoft YaHei', lineHeight: 1.6, marginTop: 3 }}&gt;&#10;                    默认&quot;禁止&quot;会让&quot;设备侧尚未上线&quot;直接锁死区间，冷启动不可用；&#10;                    默认&quot;允许&quot;与修复前逐位一致，不引入新风险。&#10;                &lt;/Text&gt;&#10;            &lt;/Box&gt;&#10;            &lt;Box style={{ padding: '12px 14px', background: '#FEF2F2', borderRadius: 10, borderLeft: '4px solid #EF4444' }}&gt;&#10;                &lt;Text style={{ fontSize: 17, fontWeight: 'bold', color: '#EF4444', fontFamily: 'Microsoft YaHei' }}&gt;&#10;                    教训 · 先造出可观测差异，再谈修好&#10;                &lt;/Text&gt;&#10;                &lt;Text style={{ fontSize: 14, color: '#1A1A1A', fontFamily: 'Microsoft YaHei', lineHeight: 1.6, marginTop: 3 }}&gt;&#10;                    A2 改完后所有旧用例逐位恒等 —— 把代码退回去，一条断言也不会红。&#10;                    所以先加一个默认 0、可注入的电表偏差把两条路径拉开，再去断言&quot;跟电表、不跟平衡值&quot;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06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原理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点表的索引是「运行时坐标」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A1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的两个决策，以及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A2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差点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修了个寂寞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的教训</a:t>
            </a:r>
            <a:endParaRPr/>
          </a:p>
        </p:txBody>
      </p:sp>
      <p:pic>
        <p:nvPicPr>
          <p:cNvPr id="365" name=""/>
          <p:cNvPicPr>
            <a:picLocks noChangeAspect="1"/>
          </p:cNvPicPr>
          <p:nvPr/>
        </p:nvPicPr>
        <p:blipFill>
          <a:blip r:embed="rId1"/>
          <a:srcRect l="4" t="0" r="4" b="0"/>
          <a:stretch>
            <a:fillRect/>
          </a:stretch>
        </p:blipFill>
        <p:spPr>
          <a:xfrm rot="0" flipH="0" flipV="0">
            <a:off x="609600" y="2362200"/>
            <a:ext cx="6096000" cy="2667000"/>
          </a:xfrm>
          <a:prstGeom prst="rect">
            <a:avLst/>
          </a:prstGeom>
          <a:ln/>
        </p:spPr>
      </p:pic>
      <p:sp>
        <p:nvSpPr>
          <p:cNvPr id="366" name=""/>
          <p:cNvSpPr/>
          <p:nvPr/>
        </p:nvSpPr>
        <p:spPr>
          <a:xfrm rot="0" flipH="0" flipV="0">
            <a:off x="7010400" y="1990725"/>
            <a:ext cx="4610100" cy="971550"/>
          </a:xfrm>
          <a:prstGeom prst="roundRect">
            <a:avLst>
              <a:gd name="adj" fmla="val 9804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7010400" y="1990725"/>
            <a:ext cx="4610100" cy="971550"/>
          </a:xfrm>
          <a:custGeom>
            <a:pathLst>
              <a:path w="484" h="10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6"/>
                </a:lnTo>
                <a:cubicBezTo>
                  <a:pt x="4" y="99"/>
                  <a:pt x="6" y="101"/>
                  <a:pt x="9" y="102"/>
                </a:cubicBezTo>
                <a:cubicBezTo>
                  <a:pt x="4" y="101"/>
                  <a:pt x="0" y="97"/>
                  <a:pt x="0" y="9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143750" y="2105025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决策一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只追加在末尾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7143750" y="2333625"/>
            <a:ext cx="4305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共享内存里已经有段，段里的索引不会跟着新代码变。中间插入会让其后所有点整体偏移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现场表现是「点名对得上、值全是隔壁点的」。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7010400" y="3086100"/>
            <a:ext cx="4610100" cy="971550"/>
          </a:xfrm>
          <a:prstGeom prst="roundRect">
            <a:avLst>
              <a:gd name="adj" fmla="val 9804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7010400" y="3086100"/>
            <a:ext cx="4610100" cy="971550"/>
          </a:xfrm>
          <a:custGeom>
            <a:pathLst>
              <a:path w="484" h="10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6"/>
                </a:lnTo>
                <a:cubicBezTo>
                  <a:pt x="4" y="99"/>
                  <a:pt x="6" y="101"/>
                  <a:pt x="9" y="102"/>
                </a:cubicBezTo>
                <a:cubicBezTo>
                  <a:pt x="4" y="101"/>
                  <a:pt x="0" y="97"/>
                  <a:pt x="0" y="9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143750" y="3200400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决策二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新点默认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允许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143750" y="3429000"/>
            <a:ext cx="4305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默认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禁止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会让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设备侧尚未上线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直接锁死区间，冷启动不可用；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默认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允许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与修复前逐位一致，不引入新风险。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7010400" y="4181475"/>
            <a:ext cx="4610100" cy="1228725"/>
          </a:xfrm>
          <a:prstGeom prst="roundRect">
            <a:avLst>
              <a:gd name="adj" fmla="val 7752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7010400" y="4181475"/>
            <a:ext cx="4610100" cy="1228725"/>
          </a:xfrm>
          <a:custGeom>
            <a:pathLst>
              <a:path w="484" h="12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23"/>
                </a:lnTo>
                <a:cubicBezTo>
                  <a:pt x="4" y="126"/>
                  <a:pt x="6" y="128"/>
                  <a:pt x="9" y="129"/>
                </a:cubicBezTo>
                <a:cubicBezTo>
                  <a:pt x="4" y="128"/>
                  <a:pt x="0" y="124"/>
                  <a:pt x="0" y="11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143750" y="4295775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F4444"/>
                </a:solidFill>
                <a:latin typeface="Microsoft YaHei"/>
                <a:ea typeface="Microsoft YaHei"/>
              </a:rPr>
              <a:t>教训</a:t>
            </a:r>
            <a:r>
              <a:rPr lang="en-US" sz="1275" b="1">
                <a:solidFill>
                  <a:srgbClr val="EF4444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EF4444"/>
                </a:solidFill>
                <a:latin typeface="Microsoft YaHei"/>
                <a:ea typeface="Microsoft YaHei"/>
              </a:rPr>
              <a:t>先造出可观测差异，再谈修好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143750" y="4524375"/>
            <a:ext cx="43053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A2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改完后所有旧用例逐位恒等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把代码退回去，一条断言也不会红。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所以先加一个默认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0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、可注入的电表偏差把两条路径拉开，再去断言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跟电表、不跟平衡值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80" name="" descr="&lt;Slide style={{ width: 1280, height: 720, padding: '20px 64px', background: 'linear-gradient(135deg, #ECFEFF 0%, #FFFFFF 52%, #EFF6FF 100%)', display: 'flex', flexDirection: 'column', justifyContent: 'center' }}&gt;&#10;    &lt;Text style={{ fontSize: 128, fontWeight: 'bold', color: '#CFFAFE', fontFamily: 'Consolas', lineHeight: 1.0 }}&gt;&#10;        02&#10;    &lt;/Text&gt;&#10;    &lt;Text style={{ fontSize: 72, fontWeight: 'bold', color: '#1A1A1A', fontFamily: 'Microsoft YaHei', lineHeight: 1.2, marginTop: -18 }}&gt;&#10;        09-20 · 设备接入与外部设定&#10;    &lt;/Text&gt;&#10;    &lt;Text style={{ fontSize: 22, color: '#64748B', fontFamily: 'Microsoft YaHei', lineHeight: 1.7, marginTop: 18 }}&gt;&#10;        让下行的调度指令第一次有真实落点，让对下的设备连接第一次走真协议 ——&#10;        两条路都不再停留在&quot;我们自己能算&quot;。&#10;    &lt;/Text&gt;&#10;    &lt;Box style={{ display: 'flex', flexDirection: 'row', gap: 40, marginTop: 26 }}&gt;&#10;        &lt;Text style={{ fontSize: 17, color: '#06B6D4', fontWeight: 600, fontFamily: 'Microsoft YaHei' }}&gt;&#10;            新建 13/ Modbus 接入&#10;        &lt;/Text&gt;&#10;        &lt;Text style={{ fontSize: 17, color: '#06B6D4', fontWeight: 600, fontFamily: 'Microsoft YaHei' }}&gt;&#10;            缺口 A3.1 / A3.2 全链路&#10;        &lt;/Text&gt;&#10;        &lt;Text style={{ fontSize: 17, color: '#06B6D4', fontWeight: 600, fontFamily: 'Microsoft YaHei' }}&gt;&#10;            转发表外置 + 三遍清扫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CFEFF"/>
              </a:gs>
              <a:gs pos="52000">
                <a:srgbClr val="FFFFFF"/>
              </a:gs>
              <a:gs pos="100000">
                <a:srgbClr val="EFF6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>
                <a:solidFill>
                  <a:srgbClr val="CFFAFE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09600" y="3057525"/>
            <a:ext cx="10972800" cy="990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5400" b="1">
                <a:solidFill>
                  <a:srgbClr val="1A1A1A"/>
                </a:solidFill>
                <a:latin typeface="Microsoft YaHei"/>
                <a:ea typeface="Microsoft YaHei"/>
              </a:rPr>
              <a:t>09-20 · </a:t>
            </a:r>
            <a:r>
              <a:rPr lang="zh-CN" sz="5400" b="1">
                <a:solidFill>
                  <a:srgbClr val="1A1A1A"/>
                </a:solidFill>
                <a:latin typeface="Microsoft YaHei"/>
                <a:ea typeface="Microsoft YaHei"/>
              </a:rPr>
              <a:t>设备接入与外部设定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09600" y="42195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让下行的调度指令第一次有真实落点，让对下的设备连接第一次走真协议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两条路都不再停留在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我们自己能算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09600" y="489585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新建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 13/ Modbus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接入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2733675" y="4895850"/>
            <a:ext cx="1819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缺口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 A3.1 / A3.2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全链路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933950" y="4895850"/>
            <a:ext cx="1685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转发表外置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 +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三遍清扫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88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09-20：一个模块 + 三层缺口 + 一轮清扫&#10;        &lt;/Text&gt;&#10;        &lt;Text style={{ fontSize: 17, color: '#64748B', fontFamily: 'Microsoft YaHei' }}&gt;&#10;            主线是把&quot;指令从上面进来、从下面出去&quot;这两条通路都接通，并且每一步都留证据&#10;        &lt;/Text&gt;&#10;    &lt;/Box&gt;&#10;    &lt;Box style={{ flex: 1, display: 'flex', flexDirection: 'column', gap: 14 }}&gt;&#10;        &lt;Box style={{ display: 'flex', flexDirection: 'row', gap: 14, flex: 1.15 }}&gt;&#10;            &lt;Box style={{ flex: 1.2, padding: '16px 18px', background: '#ECFEFF', borderRadius: 10, display: 'flex', flexDirection: 'column', gap: 7 }}&gt;&#10;                &lt;Text style={{ fontSize: 21, fontWeight: 'bold', color: '#1A1A1A', fontFamily: 'Microsoft YaHei' }}&gt;新建 13/ · Modbus TCP 设备接入&lt;/Text&gt;&#10;                &lt;Text style={{ fontSize: 15, color: '#64748B', fontFamily: 'Microsoft YaHei', lineHeight: 1.65, flex: 1 }}&gt;&#10;                    对下接现场设备（BMS / PCS / 电表）。之所以不让模拟器直写共享内存，是因为那样&quot;Modbus 写寄存器&quot;这条路在接真机前一次都没走过 ——&#10;                    字节序、寄存器地址、写后回读、超时重试都会在现场第一次遇到。&#10;                &lt;/Text&gt;&#10;                &lt;Text style={{ fontSize: 18, fontWeight: 'bold', color: '#06B6D4', fontFamily: 'Consolas' }}&gt;223 + 133 + 83 = 439 断言（三层）&lt;/Text&gt;&#10;            &lt;/Box&gt;&#10;            &lt;Box style={{ flex: 1.2, padding: '16px 18px', background: '#ECFEFF', borderRadius: 10, display: 'flex', flexDirection: 'column', gap: 7 }}&gt;&#10;                &lt;Text style={{ fontSize: 21, fontWeight: 'bold', color: '#1A1A1A', fontFamily: 'Microsoft YaHei' }}&gt;缺口 A3.1 · EXT 外部设定点区&lt;/Text&gt;&#10;                &lt;Text style={{ fontSize: 15, color: '#64748B', fontFamily: 'Microsoft YaHei', lineHeight: 1.65, flex: 1 }}&gt;&#10;                    IEC104 的遥调以前没有落点：指令收得下，却无处安放。新建 8 个 EXT 点承载&quot;当前设定的状态&quot;，&#10;                    并用&quot;只有六个具名 setter&quot;把网关的写权限从&quot;不允许&quot;变成&quot;写不出来&quot;。&#10;                &lt;/Text&gt;&#10;                &lt;Text style={{ fontSize: 18, fontWeight: 'bold', color: '#06B6D4', fontFamily: 'Consolas' }}&gt;点表 32 → 40 点；P3 168 → 497&lt;/Text&gt;&#10;            &lt;/Box&gt;&#10;        &lt;/Box&gt;&#10;        &lt;Box style={{ display: 'flex', flexDirection: 'row', gap: 14, flex: 1 }}&gt;&#10;            &lt;Box style={{ flex: 1, padding: '13px 15px', background: '#FFFFFF', borderRadius: 10, border: '1px solid #E2E8F0', display: 'flex', flexDirection: 'column', gap: 5 }}&gt;&#10;                &lt;Text style={{ fontSize: 18, fontWeight: 'bold', color: '#1A1A1A', fontFamily: 'Microsoft YaHei' }}&gt;缺口 A3.2 · 接进安全链&lt;/Text&gt;&#10;                &lt;Text style={{ fontSize: 14, color: '#64748B', fontFamily: 'Microsoft YaHei', lineHeight: 1.6, flex: 1 }}&gt;&#10;                    落点有了还得接线：接进安全引擎的第 10 条约束，并拍板&quot;停机 / 闭锁在失联后粘住&quot;。&#10;                &lt;/Text&gt;&#10;                &lt;Text style={{ fontSize: 16, fontWeight: 'bold', color: '#3B82F6', fontFamily: 'Consolas' }}&gt;05 +26 / P3 +4 / 11 +1&lt;/Text&gt;&#10;            &lt;/Box&gt;&#10;            &lt;Box style={{ flex: 1, padding: '13px 15px', background: '#FFFFFF', borderRadius: 10, border: '1px solid #E2E8F0', display: 'flex', flexDirection: 'column', gap: 5 }}&gt;&#10;                &lt;Text style={{ fontSize: 18, fontWeight: 'bold', color: '#1A1A1A', fontFamily: 'Microsoft YaHei' }}&gt;转发表外置 CSV&lt;/Text&gt;&#10;                &lt;Text style={{ fontSize: 14, color: '#64748B', fontFamily: 'Microsoft YaHei', lineHeight: 1.6, flex: 1 }}&gt;&#10;                    现场改一个 IOA 不该重编 C++。外置之后必须配校验，否则外置表本身就是新的错误来源。&#10;                &lt;/Text&gt;&#10;                &lt;Text style={{ fontSize: 16, fontWeight: 'bold', color: '#3B82F6', fontFamily: 'Consolas' }}&gt;T77 +28 断言&lt;/Text&gt;&#10;            &lt;/Box&gt;&#10;            &lt;Box style={{ flex: 1, padding: '13px 15px', background: '#FEF2F2', borderRadius: 10, border: '1px solid #EF4444', display: 'flex', flexDirection: 'column', gap: 5 }}&gt;&#10;                &lt;Text style={{ fontSize: 18, fontWeight: 'bold', color: '#1A1A1A', fontFamily: 'Microsoft YaHei' }}&gt;三遍文案 / 遗留清扫&lt;/Text&gt;&#10;                &lt;Text style={{ fontSize: 14, color: '#64748B', fontFamily: 'Microsoft YaHei', lineHeight: 1.6, flex: 1 }}&gt;&#10;                    全仓扫 115 处过期数字，真正过期的只有 27 处 —— 其余是对的，因为同一个数字指不同的表。&#10;                    所以必须先分类，再动手。&#10;                &lt;/Text&gt;&#10;                &lt;Text style={{ fontSize: 16, fontWeight: 'bold', color: '#EF4444', fontFamily: 'Consolas' }}&gt;6 张清单成立 / 8 处已过期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08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09-20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：一个模块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三层缺口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一轮清扫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主线是把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指令从上面进来、从下面出去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这两条通路都接通，并且每一步都留证据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09600" y="1066800"/>
            <a:ext cx="5419725" cy="2743200"/>
          </a:xfrm>
          <a:prstGeom prst="roundRect">
            <a:avLst>
              <a:gd name="adj" fmla="val 3472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81050" y="1219200"/>
            <a:ext cx="5076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新建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13/ · Modbus TCP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设备接入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81050" y="1533525"/>
            <a:ext cx="5076825" cy="1847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对下接现场设备（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BMS / PCS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电表）。之所以不让模拟器直写共享内存，是因为那样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"Modbus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写寄存器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这条路在接真机前一次都没走过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字节序、寄存器地址、写后回读、超时重试都会在现场第一次遇到。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81050" y="3448050"/>
            <a:ext cx="5076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B6D4"/>
                </a:solidFill>
                <a:latin typeface="Consolas"/>
                <a:ea typeface="Consolas"/>
              </a:rPr>
              <a:t>223 + 133 + 83 = 439 </a:t>
            </a:r>
            <a:r>
              <a:rPr lang="zh-CN" sz="1350" b="1">
                <a:solidFill>
                  <a:srgbClr val="06B6D4"/>
                </a:solidFill>
                <a:latin typeface="Consolas"/>
                <a:ea typeface="Consolas"/>
              </a:rPr>
              <a:t>断言（三层）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6162675" y="1066800"/>
            <a:ext cx="5419725" cy="2743200"/>
          </a:xfrm>
          <a:prstGeom prst="roundRect">
            <a:avLst>
              <a:gd name="adj" fmla="val 3472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334125" y="1219200"/>
            <a:ext cx="5076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缺口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A3.1 · EXT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外部设定点区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334125" y="1533525"/>
            <a:ext cx="5076825" cy="1847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IEC104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的遥调以前没有落点：指令收得下，却无处安放。新建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个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EXT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点承载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当前设定的状态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并用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只有六个具名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setter"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把网关的写权限从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不允许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变成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写不出来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334125" y="3448050"/>
            <a:ext cx="5076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B6D4"/>
                </a:solidFill>
                <a:latin typeface="Consolas"/>
                <a:ea typeface="Consolas"/>
              </a:rPr>
              <a:t>点表</a:t>
            </a:r>
            <a:r>
              <a:rPr lang="en-US" sz="1350" b="1">
                <a:solidFill>
                  <a:srgbClr val="06B6D4"/>
                </a:solidFill>
                <a:latin typeface="Consolas"/>
                <a:ea typeface="Consolas"/>
              </a:rPr>
              <a:t> 32 → 40 </a:t>
            </a:r>
            <a:r>
              <a:rPr lang="zh-CN" sz="1350" b="1">
                <a:solidFill>
                  <a:srgbClr val="06B6D4"/>
                </a:solidFill>
                <a:latin typeface="Consolas"/>
                <a:ea typeface="Consolas"/>
              </a:rPr>
              <a:t>点；</a:t>
            </a:r>
            <a:r>
              <a:rPr lang="en-US" sz="1350" b="1">
                <a:solidFill>
                  <a:srgbClr val="06B6D4"/>
                </a:solidFill>
                <a:latin typeface="Consolas"/>
                <a:ea typeface="Consolas"/>
              </a:rPr>
              <a:t>P3 168 → 497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09600" y="3943350"/>
            <a:ext cx="3571875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752475" y="4067175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缺口</a:t>
            </a: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 A3.2 · </a:t>
            </a: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接进安全链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52475" y="4324350"/>
            <a:ext cx="3286125" cy="1638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落点有了还得接线：接进安全引擎的第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10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条约束，并拍板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停机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闭锁在失联后粘住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52475" y="6010275"/>
            <a:ext cx="3286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Consolas"/>
                <a:ea typeface="Consolas"/>
              </a:rPr>
              <a:t>05 +26 / P3 +4 / 11 +1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4314825" y="3943350"/>
            <a:ext cx="356235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4457700" y="4067175"/>
            <a:ext cx="327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转发表外置</a:t>
            </a: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 CSV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4457700" y="4324350"/>
            <a:ext cx="3276600" cy="1638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现场改一个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IOA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不该重编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C++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。外置之后必须配校验，否则外置表本身就是新的错误来源。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457700" y="6010275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Consolas"/>
                <a:ea typeface="Consolas"/>
              </a:rPr>
              <a:t>T77 +28 </a:t>
            </a:r>
            <a:r>
              <a:rPr lang="zh-CN" sz="1200" b="1">
                <a:solidFill>
                  <a:srgbClr val="3B82F6"/>
                </a:solidFill>
                <a:latin typeface="Consolas"/>
                <a:ea typeface="Consolas"/>
              </a:rPr>
              <a:t>断言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8010525" y="3943350"/>
            <a:ext cx="3571875" cy="238125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153400" y="4067175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三遍文案</a:t>
            </a: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遗留清扫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153400" y="4324350"/>
            <a:ext cx="3286125" cy="1638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全仓扫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115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处过期数字，真正过期的只有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27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处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其余是对的，因为同一个数字指不同的表。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所以必须先分类，再动手。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153400" y="6010275"/>
            <a:ext cx="3286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F4444"/>
                </a:solidFill>
                <a:latin typeface="Consolas"/>
                <a:ea typeface="Consolas"/>
              </a:rPr>
              <a:t>6 </a:t>
            </a:r>
            <a:r>
              <a:rPr lang="zh-CN" sz="1200" b="1">
                <a:solidFill>
                  <a:srgbClr val="EF4444"/>
                </a:solidFill>
                <a:latin typeface="Consolas"/>
                <a:ea typeface="Consolas"/>
              </a:rPr>
              <a:t>张清单成立</a:t>
            </a:r>
            <a:r>
              <a:rPr lang="en-US" sz="1200" b="1">
                <a:solidFill>
                  <a:srgbClr val="EF4444"/>
                </a:solidFill>
                <a:latin typeface="Consolas"/>
                <a:ea typeface="Consolas"/>
              </a:rPr>
              <a:t> / 8 </a:t>
            </a:r>
            <a:r>
              <a:rPr lang="zh-CN" sz="1200" b="1">
                <a:solidFill>
                  <a:srgbClr val="EF4444"/>
                </a:solidFill>
                <a:latin typeface="Consolas"/>
                <a:ea typeface="Consolas"/>
              </a:rPr>
              <a:t>处已过期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14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原理 · 对下接现场设备&#10;        &lt;/Text&gt;&#10;        &lt;Text style={{ fontSize: 17, color: '#64748B', fontFamily: 'Microsoft YaHei' }}&gt;&#10;            一台适配器两端互换：对模拟器是调试，对真机就是生产&#10;        &lt;/Text&gt;&#10;    &lt;/Box&gt;&#10;    &lt;Box style={{ flex: 1, display: 'flex', flexDirection: 'column', gap: 14, alignItems: 'center', justifyContent: 'center' }}&gt;&#10;        &lt;Image src=&quot;assets/modbus_arch.png&quot; style={{ width: 1000, height: 468 }} /&gt;&#10;        &lt;Box style={{ display: 'flex', flexDirection: 'row', gap: 16, width: 1000 }}&gt;&#10;            &lt;Box style={{ flex: 1, padding: '10px 14px', background: '#ECFEFF', borderRadius: 8 }}&gt;&#10;                &lt;Text style={{ fontSize: 15, color: '#06B6D4', fontWeight: 600, fontFamily: 'Microsoft YaHei' }}&gt;&#10;                    上行 · 量测与状态：读 IR / HR / DI，写进 MEAS / STA / CFG&#10;                &lt;/Text&gt;&#10;            &lt;/Box&gt;&#10;            &lt;Box style={{ flex: 1, padding: '10px 14px', background: '#EFF6FF', borderRadius: 8 }}&gt;&#10;                &lt;Text style={{ fontSize: 15, color: '#3B82F6', fontWeight: 600, fontFamily: 'Microsoft YaHei' }}&gt;&#10;                    下行 · 指令：写 HR，一次原子下发 3 个连续指令点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09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原理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对下接现场设备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一台适配器两端互换：对模拟器是调试，对真机就是生产</a:t>
            </a:r>
            <a:endParaRPr/>
          </a:p>
        </p:txBody>
      </p:sp>
      <p:pic>
        <p:nvPicPr>
          <p:cNvPr id="418" name=""/>
          <p:cNvPicPr>
            <a:picLocks noChangeAspect="1"/>
          </p:cNvPicPr>
          <p:nvPr/>
        </p:nvPicPr>
        <p:blipFill>
          <a:blip r:embed="rId1"/>
          <a:srcRect l="0" t="24" r="0" b="24"/>
          <a:stretch>
            <a:fillRect/>
          </a:stretch>
        </p:blipFill>
        <p:spPr>
          <a:xfrm rot="0" flipH="0" flipV="0">
            <a:off x="1333500" y="1219200"/>
            <a:ext cx="9525000" cy="4457700"/>
          </a:xfrm>
          <a:prstGeom prst="rect">
            <a:avLst/>
          </a:prstGeom>
          <a:ln/>
        </p:spPr>
      </p:pic>
      <p:sp>
        <p:nvSpPr>
          <p:cNvPr id="419" name=""/>
          <p:cNvSpPr/>
          <p:nvPr/>
        </p:nvSpPr>
        <p:spPr>
          <a:xfrm rot="0" flipH="0" flipV="0">
            <a:off x="1333500" y="5810250"/>
            <a:ext cx="4686300" cy="361950"/>
          </a:xfrm>
          <a:prstGeom prst="roundRect">
            <a:avLst>
              <a:gd name="adj" fmla="val 21053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466850" y="5905500"/>
            <a:ext cx="441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Microsoft YaHei"/>
                <a:ea typeface="Microsoft YaHei"/>
              </a:rPr>
              <a:t>上行</a:t>
            </a:r>
            <a:r>
              <a:rPr lang="en-US" sz="1125" b="1">
                <a:solidFill>
                  <a:srgbClr val="06B6D4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06B6D4"/>
                </a:solidFill>
                <a:latin typeface="Microsoft YaHei"/>
                <a:ea typeface="Microsoft YaHei"/>
              </a:rPr>
              <a:t>量测与状态：读</a:t>
            </a:r>
            <a:r>
              <a:rPr lang="en-US" sz="1125" b="1">
                <a:solidFill>
                  <a:srgbClr val="06B6D4"/>
                </a:solidFill>
                <a:latin typeface="Microsoft YaHei"/>
                <a:ea typeface="Microsoft YaHei"/>
              </a:rPr>
              <a:t> IR / HR / DI</a:t>
            </a:r>
            <a:r>
              <a:rPr lang="zh-CN" sz="1125" b="1">
                <a:solidFill>
                  <a:srgbClr val="06B6D4"/>
                </a:solidFill>
                <a:latin typeface="Microsoft YaHei"/>
                <a:ea typeface="Microsoft YaHei"/>
              </a:rPr>
              <a:t>，写进</a:t>
            </a:r>
            <a:r>
              <a:rPr lang="en-US" sz="1125" b="1">
                <a:solidFill>
                  <a:srgbClr val="06B6D4"/>
                </a:solidFill>
                <a:latin typeface="Microsoft YaHei"/>
                <a:ea typeface="Microsoft YaHei"/>
              </a:rPr>
              <a:t> MEAS / STA / CFG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6172200" y="5810250"/>
            <a:ext cx="468630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305550" y="5905500"/>
            <a:ext cx="441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下行</a:t>
            </a: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指令：写</a:t>
            </a: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 HR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，一次原子下发</a:t>
            </a:r>
            <a:r>
              <a:rPr lang="en-US" sz="1125" b="1">
                <a:solidFill>
                  <a:srgbClr val="3B82F6"/>
                </a:solidFill>
                <a:latin typeface="Microsoft YaHei"/>
                <a:ea typeface="Microsoft YaHei"/>
              </a:rPr>
              <a:t> 3 </a:t>
            </a: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个连续指令点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9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原理 · 一组量必须「要么全旧、要么全新」&#10;        &lt;/Text&gt;&#10;        &lt;Text style={{ fontSize: 17, color: '#64748B', fontFamily: 'Microsoft YaHei' }}&gt;&#10;            共享内存的单点写入不会撕裂，但一组量会 —— 而撕裂出来的中间态看起来是合法的&#10;        &lt;/Text&gt;&#10;    &lt;/Box&gt;&#10;    &lt;Box style={{ flex: 1, display: 'flex', flexDirection: 'row', gap: 26, alignItems: 'center' }}&gt;&#10;        &lt;Box style={{ width: 620 }}&gt;&#10;            &lt;Image src=&quot;assets/ext_protocol.png&quot; style={{ width: 620, height: 314 }} /&gt;&#10;        &lt;/Box&gt;&#10;        &lt;Box style={{ flex: 1, display: 'flex', flexDirection: 'column', gap: 13 }}&gt;&#10;            &lt;Box style={{ padding: '13px 15px', background: '#EFF6FF', borderRadius: 10, borderLeft: '4px solid #3B82F6' }}&gt;&#10;                &lt;Text style={{ fontSize: 18, fontWeight: 'bold', color: '#3B82F6', fontFamily: 'Microsoft YaHei' }}&gt;&#10;                    写者：序号前后各递增一次&#10;                &lt;/Text&gt;&#10;                &lt;Text style={{ fontSize: 14, color: '#1A1A1A', fontFamily: 'Microsoft YaHei', lineHeight: 1.6, marginTop: 3 }}&gt;&#10;                    写之前先递增（变成奇数 = 正在写），写完再递增（变成偶数 = 已完成）。&#10;                &lt;/Text&gt;&#10;            &lt;/Box&gt;&#10;            &lt;Box style={{ padding: '13px 15px', background: '#EFF6FF', borderRadius: 10, borderLeft: '4px solid #3B82F6' }}&gt;&#10;                &lt;Text style={{ fontSize: 18, fontWeight: 'bold', color: '#3B82F6', fontFamily: 'Microsoft YaHei' }}&gt;&#10;                    读者：读前后序号必须相等且为偶数&#10;                &lt;/Text&gt;&#10;                &lt;Text style={{ fontSize: 14, color: '#1A1A1A', fontFamily: 'Microsoft YaHei', lineHeight: 1.6, marginTop: 3 }}&gt;&#10;                    「相等」挡快写者（读完之后才变）；「偶数」挡慢写者（读的过程中一直在变）。缺一不可。&#10;                &lt;/Text&gt;&#10;            &lt;/Box&gt;&#10;            &lt;Box style={{ padding: '13px 15px', background: '#FEF2F2', borderRadius: 10, borderLeft: '4px solid #EF4444' }}&gt;&#10;                &lt;Text style={{ fontSize: 18, fontWeight: 'bold', color: '#EF4444', fontFamily: 'Microsoft YaHei' }}&gt;&#10;                    这是这两天抓到的一个真缺陷&#10;                &lt;/Text&gt;&#10;                &lt;Text style={{ fontSize: 14, color: '#1A1A1A', fontFamily: 'Microsoft YaHei', lineHeight: 1.6, marginTop: 3 }}&gt;&#10;                    原来只有&quot;写完之后递增&quot;。一次写 6 个点的清空操作，会读到「新的上界 + 旧的下界」——&#10;                    中间态可能比两端都宽。单点 setter 看不出，只有整组写才暴露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10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原理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一组量必须「要么全旧、要么全新」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共享内存的单点写入不会撕裂，但一组量会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而撕裂出来的中间态看起来是合法的</a:t>
            </a:r>
            <a:endParaRPr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 r:embed="rId1"/>
          <a:srcRect l="0" t="56" r="0" b="56"/>
          <a:stretch>
            <a:fillRect/>
          </a:stretch>
        </p:blipFill>
        <p:spPr>
          <a:xfrm rot="0" flipH="0" flipV="0">
            <a:off x="609600" y="2200275"/>
            <a:ext cx="5905500" cy="2990850"/>
          </a:xfrm>
          <a:prstGeom prst="rect">
            <a:avLst/>
          </a:prstGeom>
          <a:ln/>
        </p:spPr>
      </p:pic>
      <p:sp>
        <p:nvSpPr>
          <p:cNvPr id="24" name=""/>
          <p:cNvSpPr/>
          <p:nvPr/>
        </p:nvSpPr>
        <p:spPr>
          <a:xfrm rot="0" flipH="0" flipV="0">
            <a:off x="6800850" y="2076450"/>
            <a:ext cx="4819650" cy="742950"/>
          </a:xfrm>
          <a:prstGeom prst="roundRect">
            <a:avLst>
              <a:gd name="adj" fmla="val 12821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800850" y="2076450"/>
            <a:ext cx="4819650" cy="742950"/>
          </a:xfrm>
          <a:custGeom>
            <a:pathLst>
              <a:path w="506" h="7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2"/>
                </a:lnTo>
                <a:cubicBezTo>
                  <a:pt x="4" y="75"/>
                  <a:pt x="6" y="77"/>
                  <a:pt x="9" y="78"/>
                </a:cubicBezTo>
                <a:cubicBezTo>
                  <a:pt x="4" y="77"/>
                  <a:pt x="0" y="73"/>
                  <a:pt x="0" y="6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943725" y="2200275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写者：序号前后各递增一次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943725" y="2438400"/>
            <a:ext cx="4495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写之前先递增（变成奇数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正在写），写完再递增（变成偶数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已完成）。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800850" y="2943225"/>
            <a:ext cx="4819650" cy="1000125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6800850" y="2943225"/>
            <a:ext cx="4819650" cy="1000125"/>
          </a:xfrm>
          <a:custGeom>
            <a:pathLst>
              <a:path w="506" h="10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9"/>
                </a:lnTo>
                <a:cubicBezTo>
                  <a:pt x="4" y="102"/>
                  <a:pt x="6" y="104"/>
                  <a:pt x="9" y="105"/>
                </a:cubicBezTo>
                <a:cubicBezTo>
                  <a:pt x="4" y="104"/>
                  <a:pt x="0" y="100"/>
                  <a:pt x="0" y="9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943725" y="3067050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读者：读前后序号必须相等且为偶数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943725" y="3305175"/>
            <a:ext cx="4495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「相等」挡快写者（读完之后才变）；「偶数」挡慢写者（读的过程中一直在变）。缺一不可。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800850" y="4067175"/>
            <a:ext cx="4819650" cy="1257300"/>
          </a:xfrm>
          <a:prstGeom prst="roundRect">
            <a:avLst>
              <a:gd name="adj" fmla="val 7576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6800850" y="4067175"/>
            <a:ext cx="4819650" cy="1257300"/>
          </a:xfrm>
          <a:custGeom>
            <a:pathLst>
              <a:path w="506" h="13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26"/>
                </a:lnTo>
                <a:cubicBezTo>
                  <a:pt x="4" y="129"/>
                  <a:pt x="6" y="131"/>
                  <a:pt x="9" y="132"/>
                </a:cubicBezTo>
                <a:cubicBezTo>
                  <a:pt x="4" y="131"/>
                  <a:pt x="0" y="127"/>
                  <a:pt x="0" y="12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943725" y="4191000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F4444"/>
                </a:solidFill>
                <a:latin typeface="Microsoft YaHei"/>
                <a:ea typeface="Microsoft YaHei"/>
              </a:rPr>
              <a:t>这是这两天抓到的一个真缺陷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943725" y="4429125"/>
            <a:ext cx="44958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原来只有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写完之后递增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。一次写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6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个点的清空操作，会读到「新的上界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旧的下界」——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中间态可能比两端都宽。单点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setter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看不出，只有整组写才暴露。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8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原理 · 把外部设定接进安全链&#10;        &lt;/Text&gt;&#10;        &lt;Text style={{ fontSize: 17, color: '#64748B', fontFamily: 'Microsoft YaHei' }}&gt;&#10;            位置有讲究：9 条约束收敛之后、矛盾检查之前；语义有取舍：停机粘住，功率不生效&#10;        &lt;/Text&gt;&#10;    &lt;/Box&gt;&#10;    &lt;Box style={{ flex: 1, display: 'flex', flexDirection: 'row', gap: 26, alignItems: 'center' }}&gt;&#10;        &lt;Box style={{ width: 620 }}&gt;&#10;            &lt;Image src=&quot;assets/safety_chain.png&quot; style={{ width: 620, height: 290 }} /&gt;&#10;        &lt;/Box&gt;&#10;        &lt;Box style={{ flex: 1, display: 'flex', flexDirection: 'column', gap: 13 }}&gt;&#10;            &lt;Box style={{ padding: '13px 15px', background: '#EFF6FF', borderRadius: 10, borderLeft: '4px solid #3B82F6' }}&gt;&#10;                &lt;Text style={{ fontSize: 18, fontWeight: 'bold', color: '#3B82F6', fontFamily: 'Microsoft YaHei' }}&gt;&#10;                    为什么是这个位置&#10;                &lt;/Text&gt;&#10;                &lt;Text style={{ fontSize: 14, color: '#1A1A1A', fontFamily: 'Microsoft YaHei', lineHeight: 1.6, marginTop: 3 }}&gt;&#10;                    EXT 是「监督命令」，不是设备降额 —— 它不进降额项，也不能绕过本地安全约束。&#10;                    也不会直接覆盖调度目标，只做单侧收紧。&#10;                &lt;/Text&gt;&#10;            &lt;/Box&gt;&#10;            &lt;Box style={{ padding: '13px 15px', background: '#FEF2F2', borderRadius: 10, borderLeft: '4px solid #EF4444' }}&gt;&#10;                &lt;Text style={{ fontSize: 18, fontWeight: 'bold', color: '#EF4444', fontFamily: 'Microsoft YaHei' }}&gt;&#10;                    停机 / 闭锁在失联后粘住&#10;                &lt;/Text&gt;&#10;                &lt;Text style={{ fontSize: 14, color: '#1A1A1A', fontFamily: 'Microsoft YaHei', lineHeight: 1.6, marginTop: 3 }}&gt;&#10;                    安全不对称：丢掉&quot;停机&quot;会丢安全（调度要停的理由本地看不到）；多粘一会儿&quot;停机&quot;只丢钱 ——&#10;                    区间收成 [0, 0] 永远安全。&#10;                &lt;/Text&gt;&#10;            &lt;/Box&gt;&#10;            &lt;Box style={{ padding: '13px 15px', background: '#F1F5F9', borderRadius: 10 }}&gt;&#10;                &lt;Text style={{ fontSize: 15, color: '#1A1A1A', fontFamily: 'Microsoft YaHei', lineHeight: 1.6 }}&gt;&#10;                    失效兜底必须有两条正交判据：网关侧的快路径（主站断开立刻清空）+ EMS 侧不依赖任何进程活着的&#10;                    时标判据（距上次设定超过阈值即判不可用）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11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原理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把外部设定接进安全链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位置有讲究：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9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条约束收敛之后、矛盾检查之前；语义有取舍：停机粘住，功率不生效</a:t>
            </a:r>
            <a:endParaRPr/>
          </a:p>
        </p:txBody>
      </p:sp>
      <p:pic>
        <p:nvPicPr>
          <p:cNvPr id="42" name=""/>
          <p:cNvPicPr>
            <a:picLocks noChangeAspect="1"/>
          </p:cNvPicPr>
          <p:nvPr/>
        </p:nvPicPr>
        <p:blipFill>
          <a:blip r:embed="rId1"/>
          <a:srcRect l="0" t="51" r="0" b="51"/>
          <a:stretch>
            <a:fillRect/>
          </a:stretch>
        </p:blipFill>
        <p:spPr>
          <a:xfrm rot="0" flipH="0" flipV="0">
            <a:off x="609600" y="2314575"/>
            <a:ext cx="5905500" cy="2762250"/>
          </a:xfrm>
          <a:prstGeom prst="rect">
            <a:avLst/>
          </a:prstGeom>
          <a:ln/>
        </p:spPr>
      </p:pic>
      <p:sp>
        <p:nvSpPr>
          <p:cNvPr id="43" name=""/>
          <p:cNvSpPr/>
          <p:nvPr/>
        </p:nvSpPr>
        <p:spPr>
          <a:xfrm rot="0" flipH="0" flipV="0">
            <a:off x="6800850" y="2038350"/>
            <a:ext cx="4819650" cy="1000125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800850" y="2038350"/>
            <a:ext cx="4819650" cy="1000125"/>
          </a:xfrm>
          <a:custGeom>
            <a:pathLst>
              <a:path w="506" h="10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9"/>
                </a:lnTo>
                <a:cubicBezTo>
                  <a:pt x="4" y="102"/>
                  <a:pt x="6" y="104"/>
                  <a:pt x="9" y="105"/>
                </a:cubicBezTo>
                <a:cubicBezTo>
                  <a:pt x="4" y="104"/>
                  <a:pt x="0" y="100"/>
                  <a:pt x="0" y="9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943725" y="2162175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为什么是这个位置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943725" y="2400300"/>
            <a:ext cx="4495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EXT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是「监督命令」，不是设备降额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它不进降额项，也不能绕过本地安全约束。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也不会直接覆盖调度目标，只做单侧收紧。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800850" y="3162300"/>
            <a:ext cx="4819650" cy="1000125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6800850" y="3162300"/>
            <a:ext cx="4819650" cy="1000125"/>
          </a:xfrm>
          <a:custGeom>
            <a:pathLst>
              <a:path w="506" h="10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9"/>
                </a:lnTo>
                <a:cubicBezTo>
                  <a:pt x="4" y="102"/>
                  <a:pt x="6" y="104"/>
                  <a:pt x="9" y="105"/>
                </a:cubicBezTo>
                <a:cubicBezTo>
                  <a:pt x="4" y="104"/>
                  <a:pt x="0" y="100"/>
                  <a:pt x="0" y="9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943725" y="3286125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F4444"/>
                </a:solidFill>
                <a:latin typeface="Microsoft YaHei"/>
                <a:ea typeface="Microsoft YaHei"/>
              </a:rPr>
              <a:t>停机</a:t>
            </a:r>
            <a:r>
              <a:rPr lang="en-US" sz="1350" b="1">
                <a:solidFill>
                  <a:srgbClr val="EF4444"/>
                </a:solidFill>
                <a:latin typeface="Microsoft YaHei"/>
                <a:ea typeface="Microsoft YaHei"/>
              </a:rPr>
              <a:t> / </a:t>
            </a:r>
            <a:r>
              <a:rPr lang="zh-CN" sz="1350" b="1">
                <a:solidFill>
                  <a:srgbClr val="EF4444"/>
                </a:solidFill>
                <a:latin typeface="Microsoft YaHei"/>
                <a:ea typeface="Microsoft YaHei"/>
              </a:rPr>
              <a:t>闭锁在失联后粘住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943725" y="3524250"/>
            <a:ext cx="4495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安全不对称：丢掉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停机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会丢安全（调度要停的理由本地看不到）；多粘一会儿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停机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只丢钱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区间收成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[0, 0]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永远安全。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762750" y="4286250"/>
            <a:ext cx="4819650" cy="1076325"/>
          </a:xfrm>
          <a:prstGeom prst="roundRect">
            <a:avLst>
              <a:gd name="adj" fmla="val 885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905625" y="4410075"/>
            <a:ext cx="45339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失效兜底必须有两条正交判据：网关侧的快路径（主站断开立刻清空）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+ EMS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侧不依赖任何进程活着的</a:t>
            </a:r>
            <a:r>
              <a:rPr lang="en-US" sz="1125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1A1A1A"/>
                </a:solidFill>
                <a:latin typeface="Microsoft YaHei"/>
                <a:ea typeface="Microsoft YaHei"/>
              </a:rPr>
              <a:t>时标判据（距上次设定超过阈值即判不可用）。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5" name="" descr="&lt;Slide style={{ width: 1280, height: 720, padding: '20px 64px', background: 'linear-gradient(135deg, #EFF6FF 0%, #FFFFFF 52%, #F0FDFA 100%)', display: 'flex', flexDirection: 'column', justifyContent: 'center' }}&gt;&#10;    &lt;Text style={{ fontSize: 128, fontWeight: 'bold', color: '#DBEAFE', fontFamily: 'Consolas', lineHeight: 1.0 }}&gt;&#10;        03&#10;    &lt;/Text&gt;&#10;    &lt;Text style={{ fontSize: 72, fontWeight: 'bold', color: '#1A1A1A', fontFamily: 'Microsoft YaHei', lineHeight: 1.2, marginTop: -18 }}&gt;&#10;        测试工作&#10;    &lt;/Text&gt;&#10;    &lt;Text style={{ fontSize: 22, color: '#64748B', fontFamily: 'Microsoft YaHei', lineHeight: 1.7, marginTop: 18 }}&gt;&#10;        这两天最重要的结构性变化：测试从「一层」变成「五层」，&#10;        而且每一层都专门覆盖上一层覆盖不到的东西。&#10;    &lt;/Text&gt;&#10;    &lt;Box style={{ display: 'flex', flexDirection: 'row', gap: 34, marginTop: 26, alignItems: 'center' }}&gt;&#10;        &lt;Text style={{ fontSize: 17, color: '#3B82F6', fontWeight: 600, fontFamily: 'Microsoft YaHei' }}&gt;&#10;            断言 +1219&#10;        &lt;/Text&gt;&#10;        &lt;Text style={{ fontSize: 17, color: '#3B82F6', fontWeight: 600, fontFamily: 'Microsoft YaHei' }}&gt;&#10;            抓到 12 类问题&#10;        &lt;/Text&gt;&#10;        &lt;Text style={{ fontSize: 17, color: '#3B82F6', fontWeight: 600, fontFamily: 'Microsoft YaHei' }}&gt;&#10;            判据反证 8 次&#10;        &lt;/Text&gt;&#10;        &lt;Text style={{ fontSize: 16, color: '#EF4444', fontWeight: 'bold', fontFamily: 'Microsoft YaHei' }}&gt;&#10;            本报告重点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FF6FF"/>
              </a:gs>
              <a:gs pos="52000">
                <a:srgbClr val="FFFFFF"/>
              </a:gs>
              <a:gs pos="100000">
                <a:srgbClr val="F0FDF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>
                <a:solidFill>
                  <a:srgbClr val="DBEAFE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09600" y="3057525"/>
            <a:ext cx="10972800" cy="990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5400" b="1">
                <a:solidFill>
                  <a:srgbClr val="1A1A1A"/>
                </a:solidFill>
                <a:latin typeface="Microsoft YaHei"/>
                <a:ea typeface="Microsoft YaHei"/>
              </a:rPr>
              <a:t>测试工作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" y="42195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这两天最重要的结构性变化：测试从「一层」变成「五层」，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而且每一层都专门覆盖上一层覆盖不到的东西。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4895850"/>
            <a:ext cx="895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断言</a:t>
            </a:r>
            <a:r>
              <a:rPr lang="en-US" sz="1275" b="1">
                <a:solidFill>
                  <a:srgbClr val="3B82F6"/>
                </a:solidFill>
                <a:latin typeface="Microsoft YaHei"/>
                <a:ea typeface="Microsoft YaHei"/>
              </a:rPr>
              <a:t> +1219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828800" y="4895850"/>
            <a:ext cx="1114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抓到</a:t>
            </a:r>
            <a:r>
              <a:rPr lang="en-US" sz="1275" b="1">
                <a:solidFill>
                  <a:srgbClr val="3B82F6"/>
                </a:solidFill>
                <a:latin typeface="Microsoft YaHei"/>
                <a:ea typeface="Microsoft YaHei"/>
              </a:rPr>
              <a:t> 12 </a:t>
            </a: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类问题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267075" y="4895850"/>
            <a:ext cx="100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判据反证</a:t>
            </a:r>
            <a:r>
              <a:rPr lang="en-US" sz="1275" b="1">
                <a:solidFill>
                  <a:srgbClr val="3B82F6"/>
                </a:solidFill>
                <a:latin typeface="Microsoft YaHei"/>
                <a:ea typeface="Microsoft YaHei"/>
              </a:rPr>
              <a:t> 8 </a:t>
            </a: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600575" y="49053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F4444"/>
                </a:solidFill>
                <a:latin typeface="Microsoft YaHei"/>
                <a:ea typeface="Microsoft YaHei"/>
              </a:rPr>
              <a:t>本报告重点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4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五层测试体系：每层专补上一层的盲区&#10;        &lt;/Text&gt;&#10;        &lt;Text style={{ fontSize: 17, color: '#64748B', fontFamily: 'Microsoft YaHei' }}&gt;&#10;            越往上越接近真实链路，越往下越接近纯逻辑；分层的意义是任何一次失败都能定位到它所属的那层&#10;        &lt;/Text&gt;&#10;    &lt;/Box&gt;&#10;    &lt;Box style={{ flex: 1, display: 'flex', flexDirection: 'row', gap: 26, alignItems: 'center' }}&gt;&#10;        &lt;Box style={{ width: 620 }}&gt;&#10;            &lt;Image src=&quot;assets/test_pyramid.png&quot; style={{ width: 620, height: 269 }} /&gt;&#10;        &lt;/Box&gt;&#10;        &lt;Box style={{ flex: 1, display: 'flex', flexDirection: 'column', gap: 12 }}&gt;&#10;            &lt;Box style={{ padding: '12px 14px', background: '#EFF6FF', borderRadius: 10, borderLeft: '4px solid #3B82F6' }}&gt;&#10;                &lt;Text style={{ fontSize: 17, fontWeight: 'bold', color: '#3B82F6', fontFamily: 'Microsoft YaHei' }}&gt;&#10;                    ①② 单元与跨进程&#10;                &lt;/Text&gt;&#10;                &lt;Text style={{ fontSize: 14, color: '#1A1A1A', fontFamily: 'Microsoft YaHei', lineHeight: 1.6, marginTop: 3 }}&gt;&#10;                    9026 条纯逻辑断言打底；再起三个真进程经共享内存交互，补上夹具替不了的那一段（跨内存边界 + 并发）。&#10;                &lt;/Text&gt;&#10;            &lt;/Box&gt;&#10;            &lt;Box style={{ padding: '12px 14px', background: '#ECFEFF', borderRadius: 10, borderLeft: '4px solid #06B6D4' }}&gt;&#10;                &lt;Text style={{ fontSize: 17, fontWeight: 'bold', color: '#06B6D4', fontFamily: 'Microsoft YaHei' }}&gt;&#10;                    ③ 跨内存边界落点 · 121 条&#10;                &lt;/Text&gt;&#10;                &lt;Text style={{ fontSize: 14, color: '#1A1A1A', fontFamily: 'Microsoft YaHei', lineHeight: 1.6, marginTop: 3 }}&gt;&#10;                    这个模块专门做一件事：不注入任何东西 —— 写走真实写者、读走真实接口，并按点名反查索引对账。&#10;                &lt;/Text&gt;&#10;            &lt;/Box&gt;&#10;            &lt;Box style={{ padding: '12px 14px', background: '#ECFEFF', borderRadius: 10, borderLeft: '4px solid #06B6D4' }}&gt;&#10;                &lt;Text style={{ fontSize: 17, fontWeight: 'bold', color: '#06B6D4', fontFamily: 'Microsoft YaHei' }}&gt;&#10;                    ④⑤ 跨语言对账与交付门禁&#10;                &lt;/Text&gt;&#10;                &lt;Text style={{ fontSize: 14, color: '#1A1A1A', fontFamily: 'Microsoft YaHei', lineHeight: 1.6, marginTop: 3 }}&gt;&#10;                    83 条对上真外部对端（自己写两端 = 自己和自己对答案）；最后是七维度 55 项交付门禁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13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五层测试体系：每层专补上一层的盲区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越往上越接近真实链路，越往下越接近纯逻辑；分层的意义是任何一次失败都能定位到它所属的那层</a:t>
            </a:r>
            <a:endParaRPr/>
          </a:p>
        </p:txBody>
      </p:sp>
      <p:pic>
        <p:nvPicPr>
          <p:cNvPr id="68" name=""/>
          <p:cNvPicPr>
            <a:picLocks noChangeAspect="1"/>
          </p:cNvPicPr>
          <p:nvPr/>
        </p:nvPicPr>
        <p:blipFill>
          <a:blip r:embed="rId1"/>
          <a:srcRect l="0" t="98" r="0" b="98"/>
          <a:stretch>
            <a:fillRect/>
          </a:stretch>
        </p:blipFill>
        <p:spPr>
          <a:xfrm rot="0" flipH="0" flipV="0">
            <a:off x="609600" y="2419350"/>
            <a:ext cx="5905500" cy="2562225"/>
          </a:xfrm>
          <a:prstGeom prst="rect">
            <a:avLst/>
          </a:prstGeom>
          <a:ln/>
        </p:spPr>
      </p:pic>
      <p:sp>
        <p:nvSpPr>
          <p:cNvPr id="69" name=""/>
          <p:cNvSpPr/>
          <p:nvPr/>
        </p:nvSpPr>
        <p:spPr>
          <a:xfrm rot="0" flipH="0" flipV="0">
            <a:off x="6800850" y="2124075"/>
            <a:ext cx="4819650" cy="971550"/>
          </a:xfrm>
          <a:prstGeom prst="roundRect">
            <a:avLst>
              <a:gd name="adj" fmla="val 980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800850" y="2124075"/>
            <a:ext cx="4819650" cy="971550"/>
          </a:xfrm>
          <a:custGeom>
            <a:pathLst>
              <a:path w="506" h="10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6"/>
                </a:lnTo>
                <a:cubicBezTo>
                  <a:pt x="4" y="99"/>
                  <a:pt x="6" y="101"/>
                  <a:pt x="9" y="102"/>
                </a:cubicBezTo>
                <a:cubicBezTo>
                  <a:pt x="4" y="101"/>
                  <a:pt x="0" y="97"/>
                  <a:pt x="0" y="9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934200" y="2238375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Microsoft YaHei"/>
                <a:ea typeface="Microsoft YaHei"/>
              </a:rPr>
              <a:t>①② </a:t>
            </a: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单元与跨进程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934200" y="2466975"/>
            <a:ext cx="4514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9026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条纯逻辑断言打底；再起三个真进程经共享内存交互，补上夹具替不了的那一段（跨内存边界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并发）。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800850" y="3209925"/>
            <a:ext cx="4819650" cy="971550"/>
          </a:xfrm>
          <a:prstGeom prst="roundRect">
            <a:avLst>
              <a:gd name="adj" fmla="val 9804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6800850" y="3209925"/>
            <a:ext cx="4819650" cy="971550"/>
          </a:xfrm>
          <a:custGeom>
            <a:pathLst>
              <a:path w="506" h="10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6"/>
                </a:lnTo>
                <a:cubicBezTo>
                  <a:pt x="4" y="99"/>
                  <a:pt x="6" y="101"/>
                  <a:pt x="9" y="102"/>
                </a:cubicBezTo>
                <a:cubicBezTo>
                  <a:pt x="4" y="101"/>
                  <a:pt x="0" y="97"/>
                  <a:pt x="0" y="9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934200" y="3324225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③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跨内存边界落点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 · 121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934200" y="3552825"/>
            <a:ext cx="4514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这个模块专门做一件事：不注入任何东西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写走真实写者、读走真实接口，并按点名反查索引对账。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800850" y="4295775"/>
            <a:ext cx="4819650" cy="971550"/>
          </a:xfrm>
          <a:prstGeom prst="roundRect">
            <a:avLst>
              <a:gd name="adj" fmla="val 9804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6800850" y="4295775"/>
            <a:ext cx="4819650" cy="971550"/>
          </a:xfrm>
          <a:custGeom>
            <a:pathLst>
              <a:path w="506" h="10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6"/>
                </a:lnTo>
                <a:cubicBezTo>
                  <a:pt x="4" y="99"/>
                  <a:pt x="6" y="101"/>
                  <a:pt x="9" y="102"/>
                </a:cubicBezTo>
                <a:cubicBezTo>
                  <a:pt x="4" y="101"/>
                  <a:pt x="0" y="97"/>
                  <a:pt x="0" y="9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934200" y="4410075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④⑤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跨语言对账与交付门禁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934200" y="4638675"/>
            <a:ext cx="4514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83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条对上真外部对端（自己写两端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自己和自己对答案）；最后是七维度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55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项交付门禁。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3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两天净增 1219 条断言，0 失败&#10;        &lt;/Text&gt;&#10;        &lt;Text style={{ fontSize: 16, color: '#64748B', fontFamily: 'Microsoft YaHei' }}&gt;&#10;            断言 = 系统「必须成立的行为」被写下来、并被机器反复检查的次数&#10;        &lt;/Text&gt;&#10;    &lt;/Box&gt;&#10;    &lt;Box style={{ flex: 1, display: 'flex', flexDirection: 'row', gap: 30, alignItems: 'center' }}&gt;&#10;        &lt;Box style={{ width: 340, display: 'flex', flexDirection: 'column', gap: 10 }}&gt;&#10;            &lt;Text style={{ fontSize: 15, color: '#64748B', fontFamily: 'Microsoft YaHei' }}&gt;全量断言（本机默认口径）&lt;/Text&gt;&#10;            &lt;Text style={{ fontSize: 118, fontWeight: 'bold', color: '#3B82F6', fontFamily: 'Consolas', lineHeight: 1.0 }}&gt;&#10;                9304&#10;            &lt;/Text&gt;&#10;            &lt;Box style={{ display: 'flex', flexDirection: 'row', alignItems: 'baseline', gap: 8 }}&gt;&#10;                &lt;Text style={{ fontSize: 34, fontWeight: 'bold', color: '#06B6D4', fontFamily: 'Consolas' }}&gt;+1219&lt;/Text&gt;&#10;                &lt;Text style={{ fontSize: 15, color: '#64748B', fontFamily: 'Microsoft YaHei' }}&gt;较 09-19 起点（+15%）&lt;/Text&gt;&#10;            &lt;/Box&gt;&#10;            &lt;Box style={{ marginTop: 8, padding: '12px 14px', background: '#EFF6FF', borderRadius: 8, borderLeft: '3px solid #3B82F6' }}&gt;&#10;                &lt;Text style={{ fontSize: 15, color: '#1A1A1A', fontWeight: 600, fontFamily: 'Microsoft YaHei', lineHeight: 1.6 }}&gt;&#10;                    这个数字的意义不是&quot;代码变多&quot;，&lt;br /&gt;&#10;                    而是&quot;能被自动验证的行为变多&quot;。&#10;                &lt;/Text&gt;&#10;            &lt;/Box&gt;&#10;        &lt;/Box&gt;&#10;        &lt;Box style={{ flex: 1, display: 'flex', flexDirection: 'column', gap: 10, alignItems: 'center' }}&gt;&#10;            &lt;Image src=&quot;assets/test_baseline.png&quot; style={{ width: 700, height: 299 }} /&gt;&#10;            &lt;Text style={{ fontSize: 13, color: '#94A3B8', fontFamily: 'Microsoft YaHei', lineHeight: 1.6 }}&gt;&#10;                基线口径：本机默认环境 9304；把跨语言层依赖装上后为 9382 —— 报告里必须写清用的是哪个口径。&#10;                判据：构建日志里是否出现「跳过 0 项」。&#10;            &lt;/Text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14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两天净增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1219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条断言，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0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失败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断言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系统「必须成立的行为」被写下来、并被机器反复检查的次数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2171700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全量断言（本机默认口径）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2438400"/>
            <a:ext cx="3238500" cy="1352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850" b="1">
                <a:solidFill>
                  <a:srgbClr val="3B82F6"/>
                </a:solidFill>
                <a:latin typeface="Consolas"/>
                <a:ea typeface="Consolas"/>
              </a:rPr>
              <a:t>9304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3886200"/>
            <a:ext cx="895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6B6D4"/>
                </a:solidFill>
                <a:latin typeface="Consolas"/>
                <a:ea typeface="Consolas"/>
              </a:rPr>
              <a:t>+1219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581150" y="3886200"/>
            <a:ext cx="1600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较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09-19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起点（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+15%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38175" y="4448175"/>
            <a:ext cx="3238500" cy="781050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638175" y="4448175"/>
            <a:ext cx="3238500" cy="781050"/>
          </a:xfrm>
          <a:custGeom>
            <a:pathLst>
              <a:path w="340" h="8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77"/>
                </a:lnTo>
                <a:cubicBezTo>
                  <a:pt x="3" y="79"/>
                  <a:pt x="5" y="81"/>
                  <a:pt x="7" y="82"/>
                </a:cubicBezTo>
                <a:cubicBezTo>
                  <a:pt x="3" y="81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71525" y="4562475"/>
            <a:ext cx="2943225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这个数字的意义不是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代码变多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而是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能被自动验证的行为变多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pic>
        <p:nvPicPr>
          <p:cNvPr id="94" name=""/>
          <p:cNvPicPr>
            <a:picLocks noChangeAspect="1"/>
          </p:cNvPicPr>
          <p:nvPr/>
        </p:nvPicPr>
        <p:blipFill>
          <a:blip r:embed="rId1"/>
          <a:srcRect l="0" t="41" r="0" b="41"/>
          <a:stretch>
            <a:fillRect/>
          </a:stretch>
        </p:blipFill>
        <p:spPr>
          <a:xfrm rot="0" flipH="0" flipV="0">
            <a:off x="4524375" y="1990725"/>
            <a:ext cx="6667500" cy="2847975"/>
          </a:xfrm>
          <a:prstGeom prst="rect">
            <a:avLst/>
          </a:prstGeom>
          <a:ln/>
        </p:spPr>
      </p:pic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133850" y="4933950"/>
            <a:ext cx="74485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基线口径：本机默认环境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9304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；把跨语言层依赖装上后为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9382 ——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报告里必须写清用的是哪个口径。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判据：构建日志里是否出现「跳过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0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项」。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98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测试工作量：这两天改写了哪些测试&#10;        &lt;/Text&gt;&#10;        &lt;Text style={{ fontSize: 17, color: '#64748B', fontFamily: 'Microsoft YaHei' }}&gt;&#10;            9 个测试文件被新建或改写；另外 9 个文件逐位不变（「新增量不改旧行为」也是要被证明的）&#10;        &lt;/Text&gt;&#10;    &lt;/Box&gt;&#10;    &lt;Box style={{ flex: 1, display: 'flex', flexDirection: 'column', justifyContent: 'center' }}&gt;&#10;        &lt;Box style={{ display: 'flex', flexDirection: 'row', padding: '8px 14px', background: '#F1F5F9', borderRadius: 6 }}&gt;&#10;            &lt;Text style={{ width: 396, fontSize: 14, fontWeight: 'bold', color: '#64748B', fontFamily: 'Microsoft YaHei' }}&gt;测试文件&lt;/Text&gt;&#10;            &lt;Text style={{ width: 170, fontSize: 14, fontWeight: 'bold', color: '#64748B', fontFamily: 'Microsoft YaHei' }}&gt;断言变化&lt;/Text&gt;&#10;            &lt;Text style={{ flex: 1, fontSize: 14, fontWeight: 'bold', color: '#64748B', fontFamily: 'Microsoft YaHei' }}&gt;新增 / 改写的关键内容&lt;/Text&gt;&#10;        &lt;/Box&gt;&#10;        &lt;Box style={{ display: 'flex', flexDirection: 'row', padding: '9px 14px' }}&gt;&#10;            &lt;Text style={{ width: 396, fontSize: 15, color: '#1A1A1A', fontFamily: 'Consolas' }}&gt;05/tests/test_safety_engine.cpp&lt;/Text&gt;&#10;            &lt;Text style={{ width: 170, fontSize: 15, fontWeight: 'bold', color: '#3B82F6', fontFamily: 'Consolas' }}&gt;68 → 94&lt;/Text&gt;&#10;            &lt;Text style={{ flex: 1, fontSize: 15, color: '#64748B', fontFamily: 'Microsoft YaHei' }}&gt;外部设定第 10 条约束（含停机粘住 / 功率不生效）&lt;/Text&gt;&#10;        &lt;/Box&gt;&#10;        &lt;Box style={{ display: 'flex', flexDirection: 'row', padding: '9px 14px', background: '#F8FAFC' }}&gt;&#10;            &lt;Text style={{ width: 396, fontSize: 15, color: '#1A1A1A', fontFamily: 'Consolas' }}&gt;07/tests/test_rtdb_device_io.cpp&lt;/Text&gt;&#10;            &lt;Text style={{ width: 170, fontSize: 15, fontWeight: 'bold', color: '#3B82F6', fontFamily: 'Consolas' }}&gt;546 → 554&lt;/Text&gt;&#10;            &lt;Text style={{ flex: 1, fontSize: 15, color: '#64748B', fontFamily: 'Microsoft YaHei' }}&gt;逐点循环随点表扩容自动多跑 8 次（32 → 40 点）&lt;/Text&gt;&#10;        &lt;/Box&gt;&#10;        &lt;Box style={{ display: 'flex', flexDirection: 'row', padding: '9px 14px' }}&gt;&#10;            &lt;Text style={{ width: 396, fontSize: 15, color: '#1A1A1A', fontFamily: 'Consolas' }}&gt;11/tests/test_system_integration.cpp&lt;/Text&gt;&#10;            &lt;Text style={{ width: 170, fontSize: 15, fontWeight: 'bold', color: '#06B6D4', fontFamily: 'Consolas' }}&gt;新建 → 152&lt;/Text&gt;&#10;            &lt;Text style={{ flex: 1, fontSize: 15, color: '#64748B', fontFamily: 'Microsoft YaHei' }}&gt;跨进程量测 / 指令 / 角色边界；并发四层判据&lt;/Text&gt;&#10;        &lt;/Box&gt;&#10;        &lt;Box style={{ display: 'flex', flexDirection: 'row', padding: '9px 14px', background: '#F8FAFC' }}&gt;&#10;            &lt;Text style={{ width: 396, fontSize: 15, color: '#1A1A1A', fontFamily: 'Consolas' }}&gt;12/tests/test_acceptance.cpp&lt;/Text&gt;&#10;            &lt;Text style={{ width: 170, fontSize: 15, fontWeight: 'bold', color: '#06B6D4', fontFamily: 'Consolas' }}&gt;新建 → 114&lt;/Text&gt;&#10;            &lt;Text style={{ flex: 1, fontSize: 15, color: '#64748B', fontFamily: 'Microsoft YaHei' }}&gt;验收器自测：七维度检查项、报告生成、结论 55/55&lt;/Text&gt;&#10;        &lt;/Box&gt;&#10;        &lt;Box style={{ display: 'flex', flexDirection: 'row', padding: '9px 14px' }}&gt;&#10;            &lt;Text style={{ width: 396, fontSize: 15, color: '#1A1A1A', fontFamily: 'Consolas' }}&gt;P3/tests/test_iec104.cpp&lt;/Text&gt;&#10;            &lt;Text style={{ width: 170, fontSize: 15, fontWeight: 'bold', color: '#3B82F6', fontFamily: 'Consolas' }}&gt;165 → 408&lt;/Text&gt;&#10;            &lt;Text style={{ flex: 1, fontSize: 15, color: '#64748B', fontFamily: 'Microsoft YaHei' }}&gt;协议层 + EXT 点区契约 + 六个下发口穷举 + 转发表 CSV&lt;/Text&gt;&#10;        &lt;/Box&gt;&#10;        &lt;Box style={{ display: 'flex', flexDirection: 'row', padding: '9px 14px', background: '#F8FAFC' }}&gt;&#10;            &lt;Text style={{ width: 396, fontSize: 15, color: '#1A1A1A', fontFamily: 'Consolas' }}&gt;P3/tests/test_ext_rtdb.cpp&lt;/Text&gt;&#10;            &lt;Text style={{ width: 170, fontSize: 15, fontWeight: 'bold', color: '#06B6D4', fontFamily: 'Consolas' }}&gt;新建 → 121&lt;/Text&gt;&#10;            &lt;Text style={{ flex: 1, fontSize: 15, color: '#64748B', fontFamily: 'Microsoft YaHei' }}&gt;跨共享内存边界、不注入任何东西（走真段那一组）&lt;/Text&gt;&#10;        &lt;/Box&gt;&#10;        &lt;Box style={{ display: 'flex', flexDirection: 'row', padding: '9px 14px' }}&gt;&#10;            &lt;Text style={{ width: 396, fontSize: 15, color: '#1A1A1A', fontFamily: 'Consolas' }}&gt;13/tests/test_modbus_tcp.cpp&lt;/Text&gt;&#10;            &lt;Text style={{ width: 170, fontSize: 15, fontWeight: 'bold', color: '#06B6D4', fontFamily: 'Consolas' }}&gt;新建 → 223&lt;/Text&gt;&#10;            &lt;Text style={{ flex: 1, fontSize: 15, color: '#64748B', fontFamily: 'Microsoft YaHei' }}&gt;功能码 / 异常码 / 分块 / 边界 / 串包自愈&lt;/Text&gt;&#10;        &lt;/Box&gt;&#10;        &lt;Box style={{ display: 'flex', flexDirection: 'row', padding: '9px 14px', background: '#F8FAFC' }}&gt;&#10;            &lt;Text style={{ width: 396, fontSize: 15, color: '#1A1A1A', fontFamily: 'Consolas' }}&gt;13/tests/test_modbus_device_io.cpp&lt;/Text&gt;&#10;            &lt;Text style={{ width: 170, fontSize: 15, fontWeight: 'bold', color: '#06B6D4', fontFamily: 'Consolas' }}&gt;新建 → 133&lt;/Text&gt;&#10;            &lt;Text style={{ flex: 1, fontSize: 15, color: '#64748B', fontFamily: 'Microsoft YaHei' }}&gt;三次请求语义、超时 ≠ 暂时无数据、超范围钳位&lt;/Text&gt;&#10;        &lt;/Box&gt;&#10;        &lt;Box style={{ display: 'flex', flexDirection: 'row', padding: '9px 14px' }}&gt;&#10;            &lt;Text style={{ width: 396, fontSize: 15, color: '#1A1A1A', fontFamily: 'Consolas' }}&gt;13/tests/test_modbus_bridge.cpp&lt;/Text&gt;&#10;            &lt;Text style={{ width: 170, fontSize: 15, fontWeight: 'bold', color: '#06B6D4', fontFamily: 'Consolas' }}&gt;新建 → 83&lt;/Text&gt;&#10;            &lt;Text style={{ flex: 1, fontSize: 15, color: '#64748B', fontFamily: 'Microsoft YaHei' }}&gt;跨语言对账：模型跟踪指令、从站不可达快速失败&lt;/Text&gt;&#10;        &lt;/Box&gt;&#10;        &lt;Box style={{ marginTop: 12, padding: '11px 14px', background: '#F1F5F9', borderRadius: 8 }}&gt;&#10;            &lt;Text style={{ fontSize: 14, color: '#64748B', fontFamily: 'Microsoft YaHei', lineHeight: 1.6 }}&gt;&#10;                其余 9 个测试文件逐位不变：04=65 / 06=34 / 07 P0=81 / 07 loop=6050 / 08=444 / 09=77 / 10=144 / P1=171 / P2=434 ——&#10;                9 改写 + 9 不变 = 18 个带断言计数的目标，再加 12/ 验收（55/55）共 19 个。&#10;            &lt;/Text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15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测试工作量：这两天改写了哪些测试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9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个测试文件被新建或改写；另外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9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个文件逐位不变（「新增量不改旧行为」也是要被证明的）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1581150"/>
            <a:ext cx="10972800" cy="314325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42950" y="1657350"/>
            <a:ext cx="3771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Microsoft YaHei"/>
                <a:ea typeface="Microsoft YaHei"/>
              </a:rPr>
              <a:t>测试文件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514850" y="1657350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Microsoft YaHei"/>
                <a:ea typeface="Microsoft YaHei"/>
              </a:rPr>
              <a:t>断言变化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134100" y="1657350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4748B"/>
                </a:solidFill>
                <a:latin typeface="Microsoft YaHei"/>
                <a:ea typeface="Microsoft YaHei"/>
              </a:rPr>
              <a:t>新增</a:t>
            </a:r>
            <a:r>
              <a:rPr lang="en-US" sz="1050" b="1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64748B"/>
                </a:solidFill>
                <a:latin typeface="Microsoft YaHei"/>
                <a:ea typeface="Microsoft YaHei"/>
              </a:rPr>
              <a:t>改写的关键内容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42950" y="19812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Consolas"/>
                <a:ea typeface="Consolas"/>
              </a:rPr>
              <a:t>05/tests/test_safety_engine.cpp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514850" y="19812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Consolas"/>
                <a:ea typeface="Consolas"/>
              </a:rPr>
              <a:t>68 → 94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134100" y="1981200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外部设定第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条约束（含停机粘住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功率不生效）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09600" y="2238375"/>
            <a:ext cx="10972800" cy="3429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42950" y="23241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Consolas"/>
                <a:ea typeface="Consolas"/>
              </a:rPr>
              <a:t>07/tests/test_rtdb_device_io.cpp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514850" y="23241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Consolas"/>
                <a:ea typeface="Consolas"/>
              </a:rPr>
              <a:t>546 → 554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134100" y="2324100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逐点循环随点表扩容自动多跑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次（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32 → 40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点）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42950" y="26670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Consolas"/>
                <a:ea typeface="Consolas"/>
              </a:rPr>
              <a:t>11/tests/test_system_integration.cpp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514850" y="26670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Consolas"/>
                <a:ea typeface="Consolas"/>
              </a:rPr>
              <a:t>新建</a:t>
            </a:r>
            <a:r>
              <a:rPr lang="en-US" sz="1125" b="1">
                <a:solidFill>
                  <a:srgbClr val="06B6D4"/>
                </a:solidFill>
                <a:latin typeface="Consolas"/>
                <a:ea typeface="Consolas"/>
              </a:rPr>
              <a:t> → 152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134100" y="2667000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跨进程量测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指令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角色边界；并发四层判据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09600" y="2924175"/>
            <a:ext cx="10972800" cy="3429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42950" y="30099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Consolas"/>
                <a:ea typeface="Consolas"/>
              </a:rPr>
              <a:t>12/tests/test_acceptance.cpp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514850" y="30099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Consolas"/>
                <a:ea typeface="Consolas"/>
              </a:rPr>
              <a:t>新建</a:t>
            </a:r>
            <a:r>
              <a:rPr lang="en-US" sz="1125" b="1">
                <a:solidFill>
                  <a:srgbClr val="06B6D4"/>
                </a:solidFill>
                <a:latin typeface="Consolas"/>
                <a:ea typeface="Consolas"/>
              </a:rPr>
              <a:t> → 114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134100" y="3009900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验收器自测：七维度检查项、报告生成、结论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55/55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42950" y="33528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Consolas"/>
                <a:ea typeface="Consolas"/>
              </a:rPr>
              <a:t>P3/tests/test_iec104.cpp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514850" y="33528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B82F6"/>
                </a:solidFill>
                <a:latin typeface="Consolas"/>
                <a:ea typeface="Consolas"/>
              </a:rPr>
              <a:t>165 → 408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134100" y="3352800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协议层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+ EXT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点区契约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六个下发口穷举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转发表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CSV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3609975"/>
            <a:ext cx="10972800" cy="3429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42950" y="36957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Consolas"/>
                <a:ea typeface="Consolas"/>
              </a:rPr>
              <a:t>P3/tests/test_ext_rtdb.cpp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514850" y="36957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Consolas"/>
                <a:ea typeface="Consolas"/>
              </a:rPr>
              <a:t>新建</a:t>
            </a:r>
            <a:r>
              <a:rPr lang="en-US" sz="1125" b="1">
                <a:solidFill>
                  <a:srgbClr val="06B6D4"/>
                </a:solidFill>
                <a:latin typeface="Consolas"/>
                <a:ea typeface="Consolas"/>
              </a:rPr>
              <a:t> → 121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134100" y="3695700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跨共享内存边界、不注入任何东西（走真段那一组）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42950" y="40386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Consolas"/>
                <a:ea typeface="Consolas"/>
              </a:rPr>
              <a:t>13/tests/test_modbus_tcp.cpp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514850" y="40386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Consolas"/>
                <a:ea typeface="Consolas"/>
              </a:rPr>
              <a:t>新建</a:t>
            </a:r>
            <a:r>
              <a:rPr lang="en-US" sz="1125" b="1">
                <a:solidFill>
                  <a:srgbClr val="06B6D4"/>
                </a:solidFill>
                <a:latin typeface="Consolas"/>
                <a:ea typeface="Consolas"/>
              </a:rPr>
              <a:t> → 223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134100" y="4038600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功能码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异常码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分块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边界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串包自愈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9600" y="4295775"/>
            <a:ext cx="10972800" cy="3429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42950" y="43815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Consolas"/>
                <a:ea typeface="Consolas"/>
              </a:rPr>
              <a:t>13/tests/test_modbus_device_io.cpp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4514850" y="43815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Consolas"/>
                <a:ea typeface="Consolas"/>
              </a:rPr>
              <a:t>新建</a:t>
            </a:r>
            <a:r>
              <a:rPr lang="en-US" sz="1125" b="1">
                <a:solidFill>
                  <a:srgbClr val="06B6D4"/>
                </a:solidFill>
                <a:latin typeface="Consolas"/>
                <a:ea typeface="Consolas"/>
              </a:rPr>
              <a:t> → 133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134100" y="4381500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三次请求语义、超时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≠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暂时无数据、超范围钳位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42950" y="4724400"/>
            <a:ext cx="3771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Consolas"/>
                <a:ea typeface="Consolas"/>
              </a:rPr>
              <a:t>13/tests/test_modbus_bridge.cpp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514850" y="47244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B6D4"/>
                </a:solidFill>
                <a:latin typeface="Consolas"/>
                <a:ea typeface="Consolas"/>
              </a:rPr>
              <a:t>新建</a:t>
            </a:r>
            <a:r>
              <a:rPr lang="en-US" sz="1125" b="1">
                <a:solidFill>
                  <a:srgbClr val="06B6D4"/>
                </a:solidFill>
                <a:latin typeface="Consolas"/>
                <a:ea typeface="Consolas"/>
              </a:rPr>
              <a:t> → 83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134100" y="4724400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跨语言对账：模型跟踪指令、从站不可达快速失败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09600" y="5095875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2950" y="5200650"/>
            <a:ext cx="10706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其余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9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个测试文件逐位不变：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04=65 / 06=34 / 07 P0=81 / 07 loop=6050 / 08=444 / 09=77 / 10=144 / P1=171 / P2=434 —— 9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改写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+ 9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不变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= 18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个带断言计数的目标，再加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12/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验收（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55/55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）共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19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个。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41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测试抓到了哪三类问题&#10;        &lt;/Text&gt;&#10;        &lt;Text style={{ fontSize: 17, color: '#64748B', fontFamily: 'Microsoft YaHei' }}&gt;&#10;            第二类最值得记：测试自己出错，比产品缺陷更隐蔽 —— 因为它会以&quot;全绿&quot;的形式出现&#10;        &lt;/Text&gt;&#10;    &lt;/Box&gt;&#10;    &lt;Box style={{ flex: 1, display: 'flex', flexDirection: 'column', gap: 13 }}&gt;&#10;        &lt;Box style={{ display: 'flex', flexDirection: 'row', gap: 13, flex: 1 }}&gt;&#10;            &lt;Box style={{ flex: 1, padding: '13px 15px', background: '#FEF2F2', borderRadius: 10, display: 'flex', flexDirection: 'column', gap: 5 }}&gt;&#10;                &lt;Text style={{ fontSize: 18, fontWeight: 'bold', color: '#EF4444', fontFamily: 'Microsoft YaHei' }}&gt;① 产品缺陷&lt;/Text&gt;&#10;                &lt;Text style={{ fontSize: 14, color: '#1A1A1A', fontFamily: 'Microsoft YaHei', lineHeight: 1.65, flex: 1 }}&gt;&#10;                    发布协议缺&quot;写之前也递增序号&quot;；&lt;br /&gt;&#10;                    点表对象缓存只判&quot;文件在不在&quot;不判&quot;源文件更新了没&quot;；&lt;br /&gt;&#10;                    检查项标题说 32 点、证据行派生出来是 40 点；&lt;br /&gt;&#10;                    跨语言层跳过了却仍印&quot;三层测试全部通过&quot;；&lt;br /&gt;&#10;                    网关心跳永远印 0 秒（单位换算错）；&lt;br /&gt;&#10;                    禁用位 / 禁充放位通路级失效。&#10;                &lt;/Text&gt;&#10;            &lt;/Box&gt;&#10;            &lt;Box style={{ flex: 1, padding: '13px 15px', background: '#EFF6FF', borderRadius: 10, display: 'flex', flexDirection: 'column', gap: 5 }}&gt;&#10;                &lt;Text style={{ fontSize: 18, fontWeight: 'bold', color: '#3B82F6', fontFamily: 'Microsoft YaHei' }}&gt;② 测试自己出错&lt;/Text&gt;&#10;                &lt;Text style={{ fontSize: 14, color: '#1A1A1A', fontFamily: 'Microsoft YaHei', lineHeight: 1.65, flex: 1 }}&gt;&#10;                    判据测的是&quot;机器闲不闲&quot;，不是&quot;代码对不对&quot;；&lt;br /&gt;&#10;                    并发用例空跑 300 次快照，一次都没被对账过，&#10;                    看着&quot;零违规&quot;，实际什么都没检查；&lt;br /&gt;&#10;                    断言适用范围写错：拿超大量级当初始值，&#10;                    于是&quot;恒等元&quot;这条断言本身不成立；&lt;br /&gt;&#10;                    覆盖率悄悄缩水：遍历时误把序号/时标点算成载荷点。&#10;                &lt;/Text&gt;&#10;            &lt;/Box&gt;&#10;            &lt;Box style={{ flex: 1, padding: '13px 15px', background: '#F1F5F9', borderRadius: 10, display: 'flex', flexDirection: 'column', gap: 5 }}&gt;&#10;                &lt;Text style={{ fontSize: 18, fontWeight: 'bold', color: '#64748B', fontFamily: 'Microsoft YaHei' }}&gt;③ 过期产物&lt;/Text&gt;&#10;                &lt;Text style={{ fontSize: 14, color: '#1A1A1A', fontFamily: 'Microsoft YaHei', lineHeight: 1.65, flex: 1 }}&gt;&#10;                    正式验收报告标题写 32 点表、同一条检查项的实测值已经是 40；&lt;br /&gt;&#10;                    已经交付的缺口仍挂在模块文档的&quot;未做&quot;栏里；&lt;br /&gt;&#10;                    仓库根的构建日志还停在旧口径。&lt;br /&gt;&lt;br /&gt;&#10;                    这类不会变红 —— 断言错了会红，&lt;br /&gt;产物里的数字错了永远是绿的。&#10;                &lt;/Text&gt;&#10;            &lt;/Box&gt;&#10;        &lt;/Box&gt;&#10;        &lt;Box style={{ display: 'flex', flexDirection: 'row', gap: 13, padding: '12px 16px', background: '#FFFFFF', border: '1px solid #E2E8F0', borderRadius: 10 }}&gt;&#10;            &lt;Text style={{ fontSize: 15, color: '#1A1A1A', fontWeight: 600, fontFamily: 'Microsoft YaHei' }}&gt;&#10;                另外还有两类&quot;不出声&quot;的缺陷：&#10;            &lt;/Text&gt;&#10;            &lt;Text style={{ fontSize: 15, color: '#64748B', fontFamily: 'Microsoft YaHei' }}&gt;&#10;                新建的 Modbus 模块内 6 个（协议细节、点表、容量边界）·&#10;                IEC104 网关内 6 个静默出错类（品质常量写反、原子宏破坏、计数早于载荷、窄类型溢出、报文分包、脚本里的控制字符）&#10;            &lt;/Text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16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测试抓到了哪三类问题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第二类最值得记：测试自己出错，比产品缺陷更隐蔽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因为它会以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全绿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的形式出现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1066800"/>
            <a:ext cx="3571875" cy="4562475"/>
          </a:xfrm>
          <a:prstGeom prst="roundRect">
            <a:avLst>
              <a:gd name="adj" fmla="val 2667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52475" y="1190625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F4444"/>
                </a:solidFill>
                <a:latin typeface="Microsoft YaHei"/>
                <a:ea typeface="Microsoft YaHei"/>
              </a:rPr>
              <a:t>① </a:t>
            </a:r>
            <a:r>
              <a:rPr lang="zh-CN" sz="1350" b="1">
                <a:solidFill>
                  <a:srgbClr val="EF4444"/>
                </a:solidFill>
                <a:latin typeface="Microsoft YaHei"/>
                <a:ea typeface="Microsoft YaHei"/>
              </a:rPr>
              <a:t>产品缺陷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52475" y="1447800"/>
            <a:ext cx="3286125" cy="405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发布协议缺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写之前也递增序号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；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点表对象缓存只判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文件在不在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不判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源文件更新了没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；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检查项标题说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32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点、证据行派生出来是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40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点；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跨语言层跳过了却仍印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三层测试全部通过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；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网关心跳永远印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0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秒（单位换算错）；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禁用位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禁充放位通路级失效。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4305300" y="1066800"/>
            <a:ext cx="3581400" cy="4562475"/>
          </a:xfrm>
          <a:prstGeom prst="roundRect">
            <a:avLst>
              <a:gd name="adj" fmla="val 266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448175" y="1190625"/>
            <a:ext cx="3295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B82F6"/>
                </a:solidFill>
                <a:latin typeface="Microsoft YaHei"/>
                <a:ea typeface="Microsoft YaHei"/>
              </a:rPr>
              <a:t>② </a:t>
            </a: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测试自己出错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448175" y="1447800"/>
            <a:ext cx="3295650" cy="405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判据测的是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机器闲不闲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，不是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代码对不对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；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并发用例空跑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300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次快照，一次都没被对账过，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看着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零违规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，实际什么都没检查；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断言适用范围写错：拿超大量级当初始值，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于是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恒等元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这条断言本身不成立；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覆盖率悄悄缩水：遍历时误把序号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时标点算成载荷点。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8010525" y="1066800"/>
            <a:ext cx="3571875" cy="4562475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153400" y="1190625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③ </a:t>
            </a: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过期产物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153400" y="1447800"/>
            <a:ext cx="3286125" cy="405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正式验收报告标题写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32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点表、同一条检查项的实测值已经是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40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；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已经交付的缺口仍挂在模块文档的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未做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栏里；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仓库根的构建日志还停在旧口径。</a:t>
            </a:r>
            <a:endParaRPr/>
          </a:p>
          <a:p>
            <a:pPr>
              <a:lnSpc>
                <a:spcPct val="165000"/>
              </a:lnSpc>
            </a:pPr>
            <a:r>
              <a:rPr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这类不会变红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断言错了会红，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产物里的数字错了永远是绿的。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5753100"/>
            <a:ext cx="109728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62000" y="5867400"/>
            <a:ext cx="1666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另外还有两类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不出声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的缺陷：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2552700" y="5867400"/>
            <a:ext cx="88773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新建的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Modbus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模块内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个（协议细节、点表、容量边界）·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IEC104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网关内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个静默出错类（品质常量写反、原子宏破坏、计数早于载荷、窄类型溢出、报文分包、脚本里的控制字符）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59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判据反证：8 次「故意改坏」&#10;        &lt;/Text&gt;&#10;        &lt;Text style={{ fontSize: 17, color: '#64748B', fontFamily: 'Microsoft YaHei' }}&gt;&#10;            测试全绿不等于测试有效 —— 如果正确写法和错误写法跑出来一模一样，这条断言就是&quot;修了个寂寞&quot;&#10;        &lt;/Text&gt;&#10;    &lt;/Box&gt;&#10;    &lt;Box style={{ flex: 1, display: 'flex', flexDirection: 'column', alignItems: 'center', justifyContent: 'center', gap: 16 }}&gt;&#10;        &lt;Image src=&quot;assets/test_refute.png&quot; style={{ width: 1040, height: 364 }} /&gt;&#10;        &lt;Box style={{ display: 'flex', flexDirection: 'row', gap: 16, width: 1040 }}&gt;&#10;            &lt;Box style={{ flex: 1, padding: '11px 14px', background: '#EFF6FF', borderRadius: 8 }}&gt;&#10;                &lt;Text style={{ fontSize: 14, color: '#1A1A1A', fontFamily: 'Microsoft YaHei', lineHeight: 1.6 }}&gt;&#10;                    每加一批判据，当场把实现改坏一次，确认它真的会红，再改回来。&#10;                    反证不通过 → 这条判据无效，回去重写。&#10;                &lt;/Text&gt;&#10;            &lt;/Box&gt;&#10;            &lt;Box style={{ flex: 1, padding: '11px 14px', background: '#F1F5F9', borderRadius: 8 }}&gt;&#10;                &lt;Text style={{ fontSize: 14, color: '#1A1A1A', fontFamily: 'Microsoft YaHei', lineHeight: 1.6 }}&gt;&#10;                    有 2 次没变红 —— 价值不在&quot;测试有效&quot;，而在证明我原来的注释写错了：&#10;                    实测发现模拟器构造时就会拒绝顺序写反，那条&quot;判据&quot;本来就是多余的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17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判据反证：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8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次「故意改坏」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测试全绿不等于测试有效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如果正确写法和错误写法跑出来一模一样，这条断言就是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修了个寂寞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163" name=""/>
          <p:cNvPicPr>
            <a:picLocks noChangeAspect="1"/>
          </p:cNvPicPr>
          <p:nvPr/>
        </p:nvPicPr>
        <p:blipFill>
          <a:blip r:embed="rId1"/>
          <a:srcRect l="0" t="23" r="0" b="23"/>
          <a:stretch>
            <a:fillRect/>
          </a:stretch>
        </p:blipFill>
        <p:spPr>
          <a:xfrm rot="0" flipH="0" flipV="0">
            <a:off x="1143000" y="1524000"/>
            <a:ext cx="9906000" cy="3467100"/>
          </a:xfrm>
          <a:prstGeom prst="rect">
            <a:avLst/>
          </a:prstGeom>
          <a:ln/>
        </p:spPr>
      </p:pic>
      <p:sp>
        <p:nvSpPr>
          <p:cNvPr id="164" name=""/>
          <p:cNvSpPr/>
          <p:nvPr/>
        </p:nvSpPr>
        <p:spPr>
          <a:xfrm rot="0" flipH="0" flipV="0">
            <a:off x="1143000" y="5143500"/>
            <a:ext cx="4876800" cy="72390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276350" y="5248275"/>
            <a:ext cx="4610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每加一批判据，当场把实现改坏一次，确认它真的会红，再改回来。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反证不通过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这条判据无效，回去重写。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172200" y="5143500"/>
            <a:ext cx="4876800" cy="72390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305550" y="5248275"/>
            <a:ext cx="4610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有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2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次没变红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价值不在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测试有效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，而在证明我原来的注释写错了：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实测发现模拟器构造时就会拒绝顺序写反，那条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判据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本来就是多余的。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70" name="" descr="&lt;Slide style={{ width: 1280, height: 720, padding: '20px 64px', background: '#FFFFFF', display: 'flex', flexDirection: 'column' }}&gt;&#10;    &lt;Box style={{ height: 92, display: 'flex', flexDirection: 'column', justifyContent: 'center', gap: 6 }}&gt;&#10;        &lt;Text style={{ fontSize: 36, fontWeight: 'bold', color: '#1A1A1A', fontFamily: 'Microsoft YaHei' }}&gt;&#10;            这两天沉淀下来的四条测试纪律&#10;        &lt;/Text&gt;&#10;        &lt;Text style={{ fontSize: 17, color: '#64748B', fontFamily: 'Microsoft YaHei' }}&gt;&#10;            每条后面都挂着一个具体事件 —— 没有出处的方法论不算沉淀&#10;        &lt;/Text&gt;&#10;    &lt;/Box&gt;&#10;    &lt;Box style={{ flex: 1, display: 'flex', flexDirection: 'column', gap: 12, justifyContent: 'center' }}&gt;&#10;        &lt;Box style={{ display: 'flex', flexDirection: 'row', gap: 16, padding: '12px 16px', background: '#FEF2F2', borderRadius: 10, borderLeft: '5px solid #EF4444' }}&gt;&#10;            &lt;Text style={{ width: 58, fontSize: 34, fontWeight: 'bold', color: '#EF4444', fontFamily: 'Consolas', lineHeight: 1.1 }}&gt;01&lt;/Text&gt;&#10;            &lt;Box style={{ flex: 1, display: 'flex', flexDirection: 'column', gap: 3 }}&gt;&#10;                &lt;Text style={{ fontSize: 19, fontWeight: 'bold', color: '#1A1A1A', fontFamily: 'Microsoft YaHei' }}&gt;静默失败是头号敌人&lt;/Text&gt;&#10;                &lt;Text style={{ fontSize: 14, color: '#64748B', fontFamily: 'Microsoft YaHei', lineHeight: 1.6 }}&gt;&#10;                    心跳永远 0 秒、跳过了却印&quot;全部通过&quot;、同名点表两套内容 —— 共同点是不报错、退出码还是 0。&#10;                    → 允许跳过，就必须显式宣布自己跳过了，而且这个信号要一路传到最外层的结论行。&#10;                &lt;/Text&gt;&#10;            &lt;/Box&gt;&#10;        &lt;/Box&gt;&#10;        &lt;Box style={{ display: 'flex', flexDirection: 'row', gap: 16, padding: '12px 16px', background: '#EFF6FF', borderRadius: 10, borderLeft: '5px solid #3B82F6' }}&gt;&#10;            &lt;Text style={{ width: 58, fontSize: 34, fontWeight: 'bold', color: '#3B82F6', fontFamily: 'Consolas', lineHeight: 1.1 }}&gt;02&lt;/Text&gt;&#10;            &lt;Box style={{ flex: 1, display: 'flex', flexDirection: 'column', gap: 3 }}&gt;&#10;                &lt;Text style={{ fontSize: 19, fontWeight: 'bold', color: '#1A1A1A', fontFamily: 'Microsoft YaHei' }}&gt;只有跨边界才照得出来&lt;/Text&gt;&#10;                &lt;Text style={{ fontSize: 14, color: '#64748B', fontFamily: 'Microsoft YaHei', lineHeight: 1.6 }}&gt;&#10;                    跨进程、跨内存段、跨语言。补通路前先自问：这条路上有几步是测试夹具替我做的？&#10;                    → 跨内存边界 + 夹具注入 = 测试盲区，所以必须有一个走真段、不注入任何东西的测试。&#10;                &lt;/Text&gt;&#10;            &lt;/Box&gt;&#10;        &lt;/Box&gt;&#10;        &lt;Box style={{ display: 'flex', flexDirection: 'row', gap: 16, padding: '12px 16px', background: '#EFF6FF', borderRadius: 10, borderLeft: '5px solid #3B82F6' }}&gt;&#10;            &lt;Text style={{ width: 58, fontSize: 34, fontWeight: 'bold', color: '#3B82F6', fontFamily: 'Consolas', lineHeight: 1.1 }}&gt;03&lt;/Text&gt;&#10;            &lt;Box style={{ flex: 1, display: 'flex', flexDirection: 'column', gap: 3 }}&gt;&#10;                &lt;Text style={{ fontSize: 19, fontWeight: 'bold', color: '#1A1A1A', fontFamily: 'Microsoft YaHei' }}&gt;判据本身会错，而且错得很安静&lt;/Text&gt;&#10;                &lt;Text style={{ fontSize: 14, color: '#64748B', fontFamily: 'Microsoft YaHei', lineHeight: 1.6 }}&gt;&#10;                    判据测错对象、并发用例空跑、断言适用范围写错 —— 三条都是&quot;绿着的错误&quot;。&#10;                    → 新增判据必须当场反证；覆盖型用例必须自带覆盖率守卫。&#10;                &lt;/Text&gt;&#10;            &lt;/Box&gt;&#10;        &lt;/Box&gt;&#10;        &lt;Box style={{ display: 'flex', flexDirection: 'row', gap: 16, padding: '12px 16px', background: '#F1F5F9', borderRadius: 10, borderLeft: '5px solid #64748B' }}&gt;&#10;            &lt;Text style={{ width: 58, fontSize: 34, fontWeight: 'bold', color: '#64748B', fontFamily: 'Consolas', lineHeight: 1.1 }}&gt;04&lt;/Text&gt;&#10;            &lt;Box style={{ flex: 1, display: 'flex', flexDirection: 'column', gap: 3 }}&gt;&#10;                &lt;Text style={{ fontSize: 19, fontWeight: 'bold', color: '#1A1A1A', fontFamily: 'Microsoft YaHei' }}&gt;声称的行为必须与代码一致&lt;/Text&gt;&#10;                &lt;Text style={{ fontSize: 14, color: '#64748B', fontFamily: 'Microsoft YaHei', lineHeight: 1.6 }}&gt;&#10;                    报告标题说 32、证据说 40；注释说只跳某一段、代码连另一段一起写了。&#10;                    → 会进产物的数字从真相源派生；注释里的数字干脆去掉；每次交付后回看一遍各模块的&quot;未做&quot;清单。&#10;                &lt;/Text&gt;&#10;            &lt;/Box&gt;&#10;        &lt;/Box&gt;&#10;    &lt;/Box&gt;&#10;    &lt;Box style={{ height: 36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18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29527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这两天沉淀下来的四条测试纪律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每条后面都挂着一个具体事件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没有出处的方法论不算沉淀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57225" y="167640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657225" y="1676400"/>
            <a:ext cx="10972800" cy="990600"/>
          </a:xfrm>
          <a:custGeom>
            <a:pathLst>
              <a:path w="1152" h="10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9"/>
                </a:lnTo>
                <a:cubicBezTo>
                  <a:pt x="5" y="101"/>
                  <a:pt x="7" y="103"/>
                  <a:pt x="9" y="104"/>
                </a:cubicBezTo>
                <a:cubicBezTo>
                  <a:pt x="4" y="103"/>
                  <a:pt x="0" y="99"/>
                  <a:pt x="0" y="9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09625" y="1790700"/>
            <a:ext cx="55245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EF4444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514475" y="1790700"/>
            <a:ext cx="9915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静默失败是头号敌人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514475" y="2038350"/>
            <a:ext cx="99155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心跳永远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秒、跳过了却印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全部通过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、同名点表两套内容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共同点是不报错、退出码还是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0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允许跳过，就必须显式宣布自己跳过了，而且这个信号要一路传到最外层的结论行。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57225" y="278130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57225" y="2781300"/>
            <a:ext cx="10972800" cy="990600"/>
          </a:xfrm>
          <a:custGeom>
            <a:pathLst>
              <a:path w="1152" h="10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9"/>
                </a:lnTo>
                <a:cubicBezTo>
                  <a:pt x="5" y="101"/>
                  <a:pt x="7" y="103"/>
                  <a:pt x="9" y="104"/>
                </a:cubicBezTo>
                <a:cubicBezTo>
                  <a:pt x="4" y="103"/>
                  <a:pt x="0" y="99"/>
                  <a:pt x="0" y="9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09625" y="2895600"/>
            <a:ext cx="55245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3B82F6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514475" y="2895600"/>
            <a:ext cx="9915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只有跨边界才照得出来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514475" y="3143250"/>
            <a:ext cx="99155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跨进程、跨内存段、跨语言。补通路前先自问：这条路上有几步是测试夹具替我做的？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跨内存边界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夹具注入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=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测试盲区，所以必须有一个走真段、不注入任何东西的测试。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57225" y="3886200"/>
            <a:ext cx="10972800" cy="733425"/>
          </a:xfrm>
          <a:prstGeom prst="roundRect">
            <a:avLst>
              <a:gd name="adj" fmla="val 1298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57225" y="3886200"/>
            <a:ext cx="10972800" cy="733425"/>
          </a:xfrm>
          <a:custGeom>
            <a:pathLst>
              <a:path w="1152" h="7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2"/>
                </a:lnTo>
                <a:cubicBezTo>
                  <a:pt x="5" y="74"/>
                  <a:pt x="7" y="76"/>
                  <a:pt x="9" y="77"/>
                </a:cubicBezTo>
                <a:cubicBezTo>
                  <a:pt x="4" y="76"/>
                  <a:pt x="0" y="72"/>
                  <a:pt x="0" y="6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09625" y="4000500"/>
            <a:ext cx="55245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3B82F6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514475" y="4000500"/>
            <a:ext cx="9915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判据本身会错，而且错得很安静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514475" y="4248150"/>
            <a:ext cx="99155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判据测错对象、并发用例空跑、断言适用范围写错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三条都是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绿着的错误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新增判据必须当场反证；覆盖型用例必须自带覆盖率守卫。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57225" y="47339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657225" y="4733925"/>
            <a:ext cx="10972800" cy="990600"/>
          </a:xfrm>
          <a:custGeom>
            <a:pathLst>
              <a:path w="1152" h="10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9"/>
                </a:lnTo>
                <a:cubicBezTo>
                  <a:pt x="5" y="101"/>
                  <a:pt x="7" y="103"/>
                  <a:pt x="9" y="104"/>
                </a:cubicBezTo>
                <a:cubicBezTo>
                  <a:pt x="4" y="103"/>
                  <a:pt x="0" y="99"/>
                  <a:pt x="0" y="9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09625" y="4848225"/>
            <a:ext cx="55245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64748B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514475" y="4848225"/>
            <a:ext cx="9915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声称的行为必须与代码一致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514475" y="5095875"/>
            <a:ext cx="99155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报告标题说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32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、证据说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40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；注释说只跳某一段、代码连另一段一起写了。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会进产物的数字从真相源派生；注释里的数字干脆去掉；每次交付后回看一遍各模块的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未做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清单。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641985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068050" y="64198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96" name="" descr="&lt;Slide style={{ width: 1280, height: 720, padding: '20px 64px', background: 'linear-gradient(135deg, #EFF6FF 0%, #FFFFFF 52%, #ECFEFF 100%)', display: 'flex', flexDirection: 'column', justifyContent: 'center' }}&gt;&#10;    &lt;Text style={{ fontSize: 128, fontWeight: 'bold', color: '#DBEAFE', fontFamily: 'Consolas', lineHeight: 1.0 }}&gt;&#10;        04&#10;    &lt;/Text&gt;&#10;    &lt;Text style={{ fontSize: 72, fontWeight: 'bold', color: '#1A1A1A', fontFamily: 'Microsoft YaHei', lineHeight: 1.2, marginTop: -18 }}&gt;&#10;        实测与仿真证据&#10;    &lt;/Text&gt;&#10;    &lt;Text style={{ fontSize: 22, color: '#64748B', fontFamily: 'Microsoft YaHei', lineHeight: 1.7, marginTop: 18 }}&gt;&#10;        不是模拟调用：五个真实进程 + 一块真实共享内存跑 600 拍，&#10;        再加上一次真实 24h 跑批。&#10;    &lt;/Text&gt;&#10;    &lt;Box style={{ display: 'flex', flexDirection: 'row', gap: 34, marginTop: 26 }}&gt;&#10;        &lt;Text style={{ fontSize: 17, color: '#06B6D4', fontWeight: 600, fontFamily: 'Microsoft YaHei' }}&gt;&#10;            五进程闭环 600 拍&#10;        &lt;/Text&gt;&#10;        &lt;Text style={{ fontSize: 17, color: '#06B6D4', fontWeight: 600, fontFamily: 'Microsoft YaHei' }}&gt;&#10;            24h 仿真 8640 拍&#10;        &lt;/Text&gt;&#10;        &lt;Text style={{ fontSize: 17, color: '#06B6D4', fontWeight: 600, fontFamily: 'Microsoft YaHei' }}&gt;&#10;            验收 55 / 55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FF6FF"/>
              </a:gs>
              <a:gs pos="52000">
                <a:srgbClr val="FFFFFF"/>
              </a:gs>
              <a:gs pos="100000">
                <a:srgbClr val="ECFE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>
                <a:solidFill>
                  <a:srgbClr val="DBEAFE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3057525"/>
            <a:ext cx="10972800" cy="990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5400" b="1">
                <a:solidFill>
                  <a:srgbClr val="1A1A1A"/>
                </a:solidFill>
                <a:latin typeface="Microsoft YaHei"/>
                <a:ea typeface="Microsoft YaHei"/>
              </a:rPr>
              <a:t>实测与仿真证据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4219575"/>
            <a:ext cx="109728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不是模拟调用：五个真实进程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一块真实共享内存跑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600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拍，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再加上一次真实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24h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跑批。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4895850"/>
            <a:ext cx="137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五进程闭环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 600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拍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2305050" y="4895850"/>
            <a:ext cx="1343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24h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仿真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 8640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拍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971925" y="4895850"/>
            <a:ext cx="95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验收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> 55 / 55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22" name="" descr="&lt;Slide style={{ width: 1280, height: 720, padding: '20px 64px', background: '#FFFFFF', display: 'flex', flexDirection: 'column' }}&gt;&#10;    &lt;Box style={{ height: 88, display: 'flex', flexDirection: 'column', justifyContent: 'center', gap: 6 }}&gt;&#10;        &lt;Text style={{ fontSize: 36, fontWeight: 'bold', color: '#1A1A1A', fontFamily: 'Microsoft YaHei' }}&gt;&#10;            五进程闭环 600 拍：调度说「停机」，区间就收成 [0, 0]&#10;        &lt;/Text&gt;&#10;        &lt;Text style={{ fontSize: 16, color: '#64748B', fontFamily: 'Microsoft YaHei' }}&gt;&#10;            证据分两处取：一处从共享内存段里读真值，一处看 EMS 进程自己的联调检查项&#10;        &lt;/Text&gt;&#10;    &lt;/Box&gt;&#10;    &lt;Box style={{ display: 'flex', flexDirection: 'column', alignItems: 'center', gap: 12, marginTop: 4 }}&gt;&#10;        &lt;Image src=&quot;assets/five_proc.png&quot; style={{ width: 1000, height: 314 }} /&gt;&#10;    &lt;/Box&gt;&#10;    &lt;Box style={{ flex: 1, display: 'flex', flexDirection: 'row', gap: 14, marginTop: 14 }}&gt;&#10;        &lt;Box style={{ flex: 1, padding: '12px 15px', background: '#ECFEFF', borderRadius: 10, display: 'flex', flexDirection: 'column', gap: 4 }}&gt;&#10;            &lt;Text style={{ fontSize: 16, fontWeight: 'bold', color: '#06B6D4', fontFamily: 'Microsoft YaHei' }}&gt;&#10;                ① 读侧探针（共享内存段内真值）&#10;            &lt;/Text&gt;&#10;            &lt;Text style={{ fontSize: 14, color: '#1A1A1A', fontFamily: 'Consolas', lineHeight: 1.7 }}&gt;&#10;                present=1　seq=4&lt;br /&gt;&#10;                p_setpoint=120.500　pcs_onoff=0&lt;br /&gt;&#10;                narrow([-200, 200]) = [0, 0]&#10;            &lt;/Text&gt;&#10;        &lt;/Box&gt;&#10;        &lt;Box style={{ flex: 1.15, padding: '12px 15px', background: '#EFF6FF', borderRadius: 10, display: 'flex', flexDirection: 'column', gap: 4 }}&gt;&#10;            &lt;Text style={{ fontSize: 16, fontWeight: 'bold', color: '#3B82F6', fontFamily: 'Microsoft YaHei' }}&gt;&#10;                ② EMS 进程联调检查项&#10;            &lt;/Text&gt;&#10;            &lt;Text style={{ fontSize: 14, color: '#1A1A1A', fontFamily: 'Consolas', lineHeight: 1.7 }}&gt;&#10;                [PASS] 外部设定 · EXT 停机闭锁收成 [0,0]&lt;br /&gt;&#10;                ext_active=600 拍 / [0,0] 拍 = 600&#10;            &lt;/Text&gt;&#10;        &lt;/Box&gt;&#10;        &lt;Box style={{ flex: 1, padding: '12px 15px', background: '#F1F5F9', borderRadius: 10, display: 'flex', flexDirection: 'column', gap: 4 }}&gt;&#10;            &lt;Text style={{ fontSize: 16, fontWeight: 'bold', color: '#64748B', fontFamily: 'Microsoft YaHei' }}&gt;&#10;                ③ 顺带验到的兜底&#10;            &lt;/Text&gt;&#10;            &lt;Text style={{ fontSize: 14, color: '#1A1A1A', fontFamily: 'Microsoft YaHei', lineHeight: 1.7 }}&gt;&#10;                主站一断开，网关立刻执行清空 —— 快路径失效兜底生效。&#10;                另有 3 个预期内的失败，是反向守卫正确地报告了&quot;这件事没发生&quot;。&#10;            &lt;/Text&gt;&#10;        &lt;/Box&gt;&#10;    &lt;/Box&gt;&#10;    &lt;Box style={{ height: 34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20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27622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五进程闭环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600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拍：调度说「停机」，区间就收成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[0, 0]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09600" y="7524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证据分两处取：一处从共享内存段里读真值，一处看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EMS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进程自己的联调检查项</a:t>
            </a:r>
            <a:endParaRPr/>
          </a:p>
        </p:txBody>
      </p:sp>
      <p:pic>
        <p:nvPicPr>
          <p:cNvPr id="226" name=""/>
          <p:cNvPicPr>
            <a:picLocks noChangeAspect="1"/>
          </p:cNvPicPr>
          <p:nvPr/>
        </p:nvPicPr>
        <p:blipFill>
          <a:blip r:embed="rId1"/>
          <a:srcRect l="45" t="0" r="45" b="0"/>
          <a:stretch>
            <a:fillRect/>
          </a:stretch>
        </p:blipFill>
        <p:spPr>
          <a:xfrm rot="0" flipH="0" flipV="0">
            <a:off x="1333500" y="1066800"/>
            <a:ext cx="9525000" cy="2990850"/>
          </a:xfrm>
          <a:prstGeom prst="rect">
            <a:avLst/>
          </a:prstGeom>
          <a:ln/>
        </p:spPr>
      </p:pic>
      <p:sp>
        <p:nvSpPr>
          <p:cNvPr id="227" name=""/>
          <p:cNvSpPr/>
          <p:nvPr/>
        </p:nvSpPr>
        <p:spPr>
          <a:xfrm rot="0" flipH="0" flipV="0">
            <a:off x="609600" y="4191000"/>
            <a:ext cx="3400425" cy="2152650"/>
          </a:xfrm>
          <a:prstGeom prst="roundRect">
            <a:avLst>
              <a:gd name="adj" fmla="val 4425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52475" y="430530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6B6D4"/>
                </a:solidFill>
                <a:latin typeface="Microsoft YaHei"/>
                <a:ea typeface="Microsoft YaHei"/>
              </a:rPr>
              <a:t>① </a:t>
            </a:r>
            <a:r>
              <a:rPr lang="zh-CN" sz="1200" b="1">
                <a:solidFill>
                  <a:srgbClr val="06B6D4"/>
                </a:solidFill>
                <a:latin typeface="Microsoft YaHei"/>
                <a:ea typeface="Microsoft YaHei"/>
              </a:rPr>
              <a:t>读侧探针（共享内存段内真值）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52475" y="4533900"/>
            <a:ext cx="3114675" cy="8191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present=1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　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seq=4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p_setpoint=120.500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　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pcs_onoff=0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narrow([-200, 200]) = [0, 0]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4143375" y="4191000"/>
            <a:ext cx="3905250" cy="2152650"/>
          </a:xfrm>
          <a:prstGeom prst="roundRect">
            <a:avLst>
              <a:gd name="adj" fmla="val 4425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286250" y="4305300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Microsoft YaHei"/>
                <a:ea typeface="Microsoft YaHei"/>
              </a:rPr>
              <a:t>② EMS </a:t>
            </a: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进程联调检查项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286250" y="4533900"/>
            <a:ext cx="36195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[PASS] 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外部设定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· EXT 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停机闭锁收成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[0,0]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ext_active=600 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拍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/ [0,0] 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拍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= 600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8181975" y="4191000"/>
            <a:ext cx="3400425" cy="2152650"/>
          </a:xfrm>
          <a:prstGeom prst="roundRect">
            <a:avLst>
              <a:gd name="adj" fmla="val 4425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324850" y="430530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③ 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顺带验到的兜底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324850" y="4533900"/>
            <a:ext cx="3114675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主站一断开，网关立刻执行清空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快路径失效兜底生效。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另有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个预期内的失败，是反向守卫正确地报告了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这件事没发生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6429375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068050" y="64293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38" name="" descr="&lt;Slide style={{ width: 1280, height: 720, padding: '20px 64px', background: '#FFFFFF', display: 'flex', flexDirection: 'column' }}&gt;&#10;    &lt;Box style={{ height: 88, display: 'flex', flexDirection: 'column', justifyContent: 'center', gap: 6 }}&gt;&#10;        &lt;Text style={{ fontSize: 36, fontWeight: 'bold', color: '#1A1A1A', fontFamily: 'Microsoft YaHei' }}&gt;&#10;            24h 仿真：关口峰值从 450 kW 压到 400 kW&#10;        &lt;/Text&gt;&#10;        &lt;Text style={{ fontSize: 16, color: '#64748B', fontFamily: 'Microsoft YaHei' }}&gt;&#10;            86400 拍控制、日志每 10 拍落一行共 8640 行；青色阴影 = 储能顶上去的那部分功率&#10;        &lt;/Text&gt;&#10;    &lt;/Box&gt;&#10;    &lt;Box style={{ flex: 1, display: 'flex', flexDirection: 'column', alignItems: 'center', justifyContent: 'center', gap: 10 }}&gt;&#10;        &lt;Image src=&quot;assets/sim_power.png&quot; style={{ width: 940, height: 508 }} /&gt;&#10;    &lt;/Box&gt;&#10;    &lt;Box style={{ height: 40, display: 'flex', flexDirection: 'row', gap: 16, alignItems: 'center' }}&gt;&#10;        &lt;Text style={{ fontSize: 15, color: '#EF4444', fontWeight: 600, fontFamily: 'Microsoft YaHei' }}&gt;&#10;            越限 0 次&#10;        &lt;/Text&gt;&#10;        &lt;Text style={{ fontSize: 15, color: '#64748B', fontFamily: 'Microsoft YaHei' }}&gt;&#10;            灰色基准线不是随手画的水平线，而是按真实公式「负荷 − 光伏」重算出来的 ——&#10;            图里每一条曲线都能追到仿真产物。&#10;        &lt;/Text&gt;&#10;    &lt;/Box&gt;&#10;    &lt;Box style={{ height: 34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21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9600" y="27622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24h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仿真：关口峰值从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450 kW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压到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 400 kW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7524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86400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拍控制、日志每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拍落一行共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8640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行；青色阴影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储能顶上去的那部分功率</a:t>
            </a:r>
            <a:endParaRPr/>
          </a:p>
        </p:txBody>
      </p:sp>
      <p:pic>
        <p:nvPicPr>
          <p:cNvPr id="242" name=""/>
          <p:cNvPicPr>
            <a:picLocks noChangeAspect="1"/>
          </p:cNvPicPr>
          <p:nvPr/>
        </p:nvPicPr>
        <p:blipFill>
          <a:blip r:embed="rId1"/>
          <a:srcRect l="0" t="29" r="0" b="29"/>
          <a:stretch>
            <a:fillRect/>
          </a:stretch>
        </p:blipFill>
        <p:spPr>
          <a:xfrm rot="0" flipH="0" flipV="0">
            <a:off x="1619250" y="1076325"/>
            <a:ext cx="8953500" cy="4838700"/>
          </a:xfrm>
          <a:prstGeom prst="rect">
            <a:avLst/>
          </a:prstGeom>
          <a:ln/>
        </p:spPr>
      </p:pic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09600" y="6067425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F4444"/>
                </a:solidFill>
                <a:latin typeface="Microsoft YaHei"/>
                <a:ea typeface="Microsoft YaHei"/>
              </a:rPr>
              <a:t>越限</a:t>
            </a:r>
            <a:r>
              <a:rPr lang="en-US" sz="1125" b="1">
                <a:solidFill>
                  <a:srgbClr val="EF4444"/>
                </a:solidFill>
                <a:latin typeface="Microsoft YaHei"/>
                <a:ea typeface="Microsoft YaHei"/>
              </a:rPr>
              <a:t> 0 </a:t>
            </a:r>
            <a:r>
              <a:rPr lang="zh-CN" sz="1125" b="1">
                <a:solidFill>
                  <a:srgbClr val="EF4444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371600" y="6067425"/>
            <a:ext cx="7591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灰色基准线不是随手画的水平线，而是按真实公式「负荷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光伏」重算出来的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图里每一条曲线都能追到仿真产物。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6429375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068050" y="64293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47" name="" descr="&lt;Slide style={{ width: 1280, height: 720, padding: '20px 64px', background: '#FFFFFF', display: 'flex', flexDirection: 'column' }}&gt;&#10;    &lt;Box style={{ height: 88, display: 'flex', flexDirection: 'column', justifyContent: 'center', gap: 6 }}&gt;&#10;        &lt;Text style={{ fontSize: 36, fontWeight: 'bold', color: '#1A1A1A', fontFamily: 'Microsoft YaHei' }}&gt;&#10;            24h 仿真：SOC 不出界，电价贵的时段少买电&#10;        &lt;/Text&gt;&#10;        &lt;Text style={{ fontSize: 16, color: '#64748B', fontFamily: 'Microsoft YaHei' }}&gt;&#10;            左边看&quot;安全边界有没有被守住&quot;，右边看&quot;钱是不是花在了便宜的时候&quot;&#10;        &lt;/Text&gt;&#10;    &lt;/Box&gt;&#10;    &lt;Box style={{ flex: 1, display: 'flex', flexDirection: 'row', gap: 24, alignItems: 'center', justifyContent: 'center' }}&gt;&#10;        &lt;Box style={{ width: 552, display: 'flex', flexDirection: 'column', gap: 8 }}&gt;&#10;            &lt;Image src=&quot;assets/sim_soc.png&quot; style={{ width: 552, height: 220 }} /&gt;&#10;            &lt;Text style={{ fontSize: 14, color: '#1A1A1A', fontFamily: 'Microsoft YaHei', lineHeight: 1.6 }}&gt;&#10;                允许区间 [10%, 90%]，实测最低 11.02%、最高 88.02% ——&#10;                区间没有一次被突破，也没有为了保守而不敢用。&#10;            &lt;/Text&gt;&#10;        &lt;/Box&gt;&#10;        &lt;Box style={{ width: 552, display: 'flex', flexDirection: 'column', gap: 8 }}&gt;&#10;            &lt;Image src=&quot;assets/sim_hourly.png&quot; style={{ width: 552, height: 222 }} /&gt;&#10;            &lt;Text style={{ fontSize: 14, color: '#1A1A1A', fontFamily: 'Microsoft YaHei', lineHeight: 1.6 }}&gt;&#10;                谷段电价 0.30 元时多买、峰段 1.20 元时少买；全天购电 5180.8 kWh，&#10;                向电网倒送 0 kWh（不做不可控的倒送）。&#10;            &lt;/Text&gt;&#10;        &lt;/Box&gt;&#10;    &lt;/Box&gt;&#10;    &lt;Box style={{ height: 44, display: 'flex', flexDirection: 'row', gap: 16, alignItems: 'center', justifyContent: 'center' }}&gt;&#10;        &lt;Text style={{ fontSize: 15, color: '#64748B', fontFamily: 'Microsoft YaHei' }}&gt;&#10;            仿真模型是既有资产；本页曲线由 09-20 的验收门禁跑批产出，数据源为真实产物文件，不是手工填的示意。&#10;        &lt;/Text&gt;&#10;    &lt;/Box&gt;&#10;    &lt;Box style={{ height: 34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22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27622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24h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仿真：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SOC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不出界，电价贵的时段少买电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09600" y="7524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左边看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安全边界有没有被守住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，右边看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钱是不是花在了便宜的时候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251" name=""/>
          <p:cNvPicPr>
            <a:picLocks noChangeAspect="1"/>
          </p:cNvPicPr>
          <p:nvPr/>
        </p:nvPicPr>
        <p:blipFill>
          <a:blip r:embed="rId1"/>
          <a:srcRect l="69" t="0" r="69" b="0"/>
          <a:stretch>
            <a:fillRect/>
          </a:stretch>
        </p:blipFill>
        <p:spPr>
          <a:xfrm rot="0" flipH="0" flipV="0">
            <a:off x="723900" y="2133600"/>
            <a:ext cx="5257800" cy="2095500"/>
          </a:xfrm>
          <a:prstGeom prst="rect">
            <a:avLst/>
          </a:prstGeom>
          <a:ln/>
        </p:spPr>
      </p:pic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23900" y="4305300"/>
            <a:ext cx="5257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允许区间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[10%, 90%]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，实测最低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11.02%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、最高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88.02% ——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区间没有一次被突破，也没有为了保守而不敢用。</a:t>
            </a:r>
            <a:endParaRPr/>
          </a:p>
        </p:txBody>
      </p:sp>
      <p:pic>
        <p:nvPicPr>
          <p:cNvPr id="253" name=""/>
          <p:cNvPicPr>
            <a:picLocks noChangeAspect="1"/>
          </p:cNvPicPr>
          <p:nvPr/>
        </p:nvPicPr>
        <p:blipFill>
          <a:blip r:embed="rId2"/>
          <a:srcRect l="113" t="0" r="113" b="0"/>
          <a:stretch>
            <a:fillRect/>
          </a:stretch>
        </p:blipFill>
        <p:spPr>
          <a:xfrm rot="0" flipH="0" flipV="0">
            <a:off x="6210300" y="2124075"/>
            <a:ext cx="5257800" cy="2114550"/>
          </a:xfrm>
          <a:prstGeom prst="rect">
            <a:avLst/>
          </a:prstGeom>
          <a:ln/>
        </p:spPr>
      </p:pic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210300" y="4314825"/>
            <a:ext cx="5257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谷段电价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0.30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元时多买、峰段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1.20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元时少买；全天购电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5180.8 kWh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向电网倒送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0 kWh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（不做不可控的倒送）。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2638425" y="6048375"/>
            <a:ext cx="691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仿真模型是既有资产；本页曲线由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09-20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的验收门禁跑批产出，数据源为真实产物文件，不是手工填的示意。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09600" y="6429375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068050" y="64293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58" name="" descr="&lt;Slide style={{ width: 1280, height: 720, padding: '20px 64px', background: '#FFFFFF', display: 'flex', flexDirection: 'column' }}&gt;&#10;    &lt;Box style={{ height: 88, display: 'flex', flexDirection: 'column', justifyContent: 'center', gap: 6 }}&gt;&#10;        &lt;Text style={{ fontSize: 36, fontWeight: 'bold', color: '#1A1A1A', fontFamily: 'Microsoft YaHei' }}&gt;&#10;            经济性与交付门禁&#10;        &lt;/Text&gt;&#10;        &lt;Text style={{ fontSize: 16, color: '#64748B', fontFamily: 'Microsoft YaHei' }}&gt;&#10;            省钱只是结果；能不能持续交付，要看门禁跑出来的那几行指标&#10;        &lt;/Text&gt;&#10;    &lt;/Box&gt;&#10;    &lt;Box style={{ flex: 1, display: 'flex', flexDirection: 'row', gap: 26, alignItems: 'center' }}&gt;&#10;        &lt;Box style={{ width: 600, display: 'flex', flexDirection: 'column', gap: 8 }}&gt;&#10;            &lt;Image src=&quot;assets/sim_econ.png&quot; style={{ width: 600, height: 229 }} /&gt;&#10;            &lt;Box style={{ display: 'flex', flexDirection: 'row', alignItems: 'baseline', gap: 10 }}&gt;&#10;                &lt;Text style={{ fontSize: 96, fontWeight: 'bold', color: '#EF4444', fontFamily: 'Consolas', lineHeight: 1.0 }}&gt;&#10;                    734&#10;                &lt;/Text&gt;&#10;                &lt;Text style={{ fontSize: 16, color: '#64748B', fontFamily: 'Microsoft YaHei', lineHeight: 1.5 }}&gt;&#10;                    元／日&lt;br /&gt;全天综合成本下降&#10;                &lt;/Text&gt;&#10;            &lt;/Box&gt;&#10;            &lt;Text style={{ fontSize: 14, color: '#64748B', fontFamily: 'Microsoft YaHei', lineHeight: 1.6 }}&gt;&#10;                4356 → 3622 元（−16.9%）；拆开看：度电费省 674、需量费省 60、电池损耗 −162，&#10;                扣掉损耗后净收益 572 元／日。&#10;            &lt;/Text&gt;&#10;        &lt;/Box&gt;&#10;        &lt;Box style={{ flex: 1, display: 'flex', flexDirection: 'column', gap: 12 }}&gt;&#10;            &lt;Box style={{ padding: '12px 15px', background: '#EFF6FF', borderRadius: 10, display: 'flex', flexDirection: 'column', gap: 5 }}&gt;&#10;                &lt;Text style={{ fontSize: 16, fontWeight: 'bold', color: '#3B82F6', fontFamily: 'Microsoft YaHei' }}&gt;跑批性能&lt;/Text&gt;&#10;                &lt;Text style={{ fontSize: 14, color: '#1A1A1A', fontFamily: 'Consolas', lineHeight: 1.7 }}&gt;&#10;                    单拍耗时 均值 9.44 μs / 峰值 326.6 μs&lt;br /&gt;&#10;                    控制周期占用率 0.00944%&lt;br /&gt;&#10;                    24h 墙钟 0.99 s　加速比 87192×&#10;                &lt;/Text&gt;&#10;            &lt;/Box&gt;&#10;            &lt;Box style={{ padding: '12px 15px', background: '#ECFEFF', borderRadius: 10, display: 'flex', flexDirection: 'column', gap: 5 }}&gt;&#10;                &lt;Text style={{ fontSize: 16, fontWeight: 'bold', color: '#06B6D4', fontFamily: 'Microsoft YaHei' }}&gt;一致性与事件&lt;/Text&gt;&#10;                &lt;Text style={{ fontSize: 14, color: '#1A1A1A', fontFamily: 'Consolas', lineHeight: 1.7 }}&gt;&#10;                    跨进程降级 / 越区间：0 / 0&lt;br /&gt;&#10;                    事件记录 / 丢弃：8 / 0&#10;                &lt;/Text&gt;&#10;            &lt;/Box&gt;&#10;            &lt;Box style={{ padding: '12px 15px', background: '#EFF6FF', borderRadius: 10, display: 'flex', flexDirection: 'column', gap: 5 }}&gt;&#10;                &lt;Text style={{ fontSize: 16, fontWeight: 'bold', color: '#3B82F6', fontFamily: 'Microsoft YaHei' }}&gt;交付门禁&lt;/Text&gt;&#10;                &lt;Text style={{ fontSize: 14, color: '#1A1A1A', fontFamily: 'Consolas', lineHeight: 1.7 }}&gt;&#10;                    七维度 55 / 55 项通过　0 个维度未全通过&lt;br /&gt;&#10;                    报告三件套（md / json / html）已重新生成&#10;                &lt;/Text&gt;&#10;            &lt;/Box&gt;&#10;        &lt;/Box&gt;&#10;    &lt;/Box&gt;&#10;    &lt;Box style={{ height: 34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23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09600" y="27622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经济性与交付门禁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7524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省钱只是结果；能不能持续交付，要看门禁跑出来的那几行指标</a:t>
            </a:r>
            <a:endParaRPr/>
          </a:p>
        </p:txBody>
      </p:sp>
      <p:pic>
        <p:nvPicPr>
          <p:cNvPr id="262" name=""/>
          <p:cNvPicPr>
            <a:picLocks noChangeAspect="1"/>
          </p:cNvPicPr>
          <p:nvPr/>
        </p:nvPicPr>
        <p:blipFill>
          <a:blip r:embed="rId1"/>
          <a:srcRect l="57" t="0" r="57" b="0"/>
          <a:stretch>
            <a:fillRect/>
          </a:stretch>
        </p:blipFill>
        <p:spPr>
          <a:xfrm rot="0" flipH="0" flipV="0">
            <a:off x="609600" y="1714500"/>
            <a:ext cx="5715000" cy="2181225"/>
          </a:xfrm>
          <a:prstGeom prst="rect">
            <a:avLst/>
          </a:prstGeom>
          <a:ln/>
        </p:spPr>
      </p:pic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3971925"/>
            <a:ext cx="15144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F4444"/>
                </a:solidFill>
                <a:latin typeface="Consolas"/>
                <a:ea typeface="Consolas"/>
              </a:rPr>
              <a:t>734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2219325" y="3971925"/>
            <a:ext cx="1219200" cy="1104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元／日</a:t>
            </a:r>
            <a:endParaRPr/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全天综合成本下降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5153025"/>
            <a:ext cx="5715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4356 → 3622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元（−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16.9%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）；拆开看：度电费省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674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、需量费省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60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、电池损耗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−162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扣掉损耗后净收益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572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元／日。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572250" y="1914525"/>
            <a:ext cx="5010150" cy="1285875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715125" y="2028825"/>
            <a:ext cx="472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跑批性能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715125" y="2266950"/>
            <a:ext cx="4724400" cy="8191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单拍耗时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均值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9.44 μs / 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峰值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326.6 μs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控制周期占用率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0.00944%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24h 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墙钟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0.99 s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　加速比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87192×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572250" y="3314700"/>
            <a:ext cx="5010150" cy="1019175"/>
          </a:xfrm>
          <a:prstGeom prst="roundRect">
            <a:avLst>
              <a:gd name="adj" fmla="val 9346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715125" y="3429000"/>
            <a:ext cx="472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B6D4"/>
                </a:solidFill>
                <a:latin typeface="Microsoft YaHei"/>
                <a:ea typeface="Microsoft YaHei"/>
              </a:rPr>
              <a:t>一致性与事件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715125" y="3667125"/>
            <a:ext cx="47244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跨进程降级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/ 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越区间：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0 / 0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事件记录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/ 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丢弃：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8 / 0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572250" y="4448175"/>
            <a:ext cx="5010150" cy="1019175"/>
          </a:xfrm>
          <a:prstGeom prst="roundRect">
            <a:avLst>
              <a:gd name="adj" fmla="val 9346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715125" y="4562475"/>
            <a:ext cx="472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交付门禁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715125" y="4800600"/>
            <a:ext cx="47244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七维度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 55 / 55 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项通过　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0 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个维度未全通过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报告三件套（</a:t>
            </a:r>
            <a:r>
              <a:rPr lang="en-US" sz="1050">
                <a:solidFill>
                  <a:srgbClr val="1A1A1A"/>
                </a:solidFill>
                <a:latin typeface="Consolas"/>
                <a:ea typeface="Consolas"/>
              </a:rPr>
              <a:t>md / json / html</a:t>
            </a:r>
            <a:r>
              <a:rPr lang="zh-CN" sz="1050">
                <a:solidFill>
                  <a:srgbClr val="1A1A1A"/>
                </a:solidFill>
                <a:latin typeface="Consolas"/>
                <a:ea typeface="Consolas"/>
              </a:rPr>
              <a:t>）已重新生成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6429375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1068050" y="64293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277" name="" descr="&lt;Slide style={{ width: 1280, height: 720, padding: '20px 64px', background: '#FFFFFF', display: 'flex', flexDirection: 'column' }}&gt;&#10;    &lt;Box style={{ height: 88, display: 'flex', flexDirection: 'column', justifyContent: 'center', gap: 6 }}&gt;&#10;        &lt;Text style={{ fontSize: 36, fontWeight: 'bold', color: '#1A1A1A', fontFamily: 'Microsoft YaHei' }}&gt;&#10;            遗留与风险&#10;        &lt;/Text&gt;&#10;        &lt;Text style={{ fontSize: 16, color: '#64748B', fontFamily: 'Microsoft YaHei' }}&gt;&#10;            未做完的部分和做完的部分一样要交代清楚 —— 否则下一个读文档的人会把它当成现状&#10;        &lt;/Text&gt;&#10;    &lt;/Box&gt;&#10;    &lt;Box style={{ flex: 1, display: 'flex', flexDirection: 'row', gap: 26 }}&gt;&#10;        &lt;Box style={{ flex: 1.35, display: 'flex', flexDirection: 'column', gap: 11, justifyContent: 'center' }}&gt;&#10;            &lt;Box style={{ display: 'flex', flexDirection: 'row', gap: 12, padding: '11px 14px', background: '#FEF2F2', borderRadius: 10, borderLeft: '5px solid #EF4444' }}&gt;&#10;                &lt;Text style={{ width: 52, fontSize: 15, fontWeight: 'bold', color: '#EF4444', fontFamily: 'Microsoft YaHei', lineHeight: 1.5 }}&gt;阻塞&lt;/Text&gt;&#10;                &lt;Text style={{ flex: 1, fontSize: 14, color: '#1A1A1A', fontFamily: 'Microsoft YaHei', lineHeight: 1.6 }}&gt;&#10;                    依赖库的 GPL-3.0 授权：交付前必须处理（替换或取得授权），这是唯一的交付阻塞项。&#10;                &lt;/Text&gt;&#10;            &lt;/Box&gt;&#10;            &lt;Box style={{ display: 'flex', flexDirection: 'row', gap: 12, padding: '11px 14px', background: '#F1F5F9', borderRadius: 10, borderLeft: '5px solid #64748B' }}&gt;&#10;                &lt;Text style={{ width: 52, fontSize: 15, fontWeight: 'bold', color: '#64748B', fontFamily: 'Microsoft YaHei', lineHeight: 1.5 }}&gt;高&lt;/Text&gt;&#10;                &lt;Text style={{ flex: 1, fontSize: 14, color: '#1A1A1A', fontFamily: 'Microsoft YaHei', lineHeight: 1.6 }}&gt;&#10;                    9 个策略目前仍是演示实现：真实算法都做了，但还没有接进调度链。这是与&quot;现场能用&quot;距离最大的一项。&#10;                &lt;/Text&gt;&#10;            &lt;/Box&gt;&#10;            &lt;Box style={{ display: 'flex', flexDirection: 'row', gap: 12, padding: '11px 14px', background: '#F1F5F9', borderRadius: 10, borderLeft: '5px solid #64748B' }}&gt;&#10;                &lt;Text style={{ width: 52, fontSize: 15, fontWeight: 'bold', color: '#64748B', fontFamily: 'Microsoft YaHei', lineHeight: 1.5 }}&gt;高&lt;/Text&gt;&#10;                &lt;Text style={{ flex: 1, fontSize: 14, color: '#1A1A1A', fontFamily: 'Microsoft YaHei', lineHeight: 1.6 }}&gt;&#10;                    现场化参数与数据源：外部设定的失效阈值需要现场取值；BMS 充放限值目前没有真实来源；&#10;                    电表只有常量偏差，缺漂移与一阶时延；累计电量编码未做。&#10;                &lt;/Text&gt;&#10;            &lt;/Box&gt;&#10;            &lt;Box style={{ display: 'flex', flexDirection: 'row', gap: 12, padding: '11px 14px', background: '#F1F5F9', borderRadius: 10, borderLeft: '5px solid #64748B' }}&gt;&#10;                &lt;Text style={{ width: 52, fontSize: 15, fontWeight: 'bold', color: '#64748B', fontFamily: 'Microsoft YaHei', lineHeight: 1.5 }}&gt;高&lt;/Text&gt;&#10;                &lt;Text style={{ flex: 1, fontSize: 14, color: '#1A1A1A', fontFamily: 'Microsoft YaHei', lineHeight: 1.6 }}&gt;&#10;                    刷新根目录的构建日志：本机的命令行被安全策略禁用，跑不了官方构建脚本，&#10;                    需要在能执行脚本的环境重跑一次，把最新的全量口径补进日志。&#10;                &lt;/Text&gt;&#10;            &lt;/Box&gt;&#10;        &lt;/Box&gt;&#10;        &lt;Box style={{ flex: 1, display: 'flex', flexDirection: 'column', gap: 14, justifyContent: 'center', padding: '20px 22px', background: '#EFF6FF', borderRadius: 12 }}&gt;&#10;            &lt;Text style={{ fontSize: 20, fontWeight: 'bold', color: '#1A1A1A', fontFamily: 'Microsoft YaHei', lineHeight: 1.5 }}&gt;&#10;                这两天做完的事，可以用三个数字记住&#10;            &lt;/Text&gt;&#10;            &lt;Box style={{ display: 'flex', flexDirection: 'column', gap: 12, marginTop: 4 }}&gt;&#10;                &lt;Box style={{ display: 'flex', flexDirection: 'row', alignItems: 'baseline', gap: 12 }}&gt;&#10;                    &lt;Text style={{ fontSize: 62, fontWeight: 'bold', color: '#3B82F6', fontFamily: 'Consolas', lineHeight: 1.0 }}&gt;9304&lt;/Text&gt;&#10;                    &lt;Text style={{ fontSize: 15, color: '#64748B', fontFamily: 'Microsoft YaHei', lineHeight: 1.5 }}&gt;&#10;                        条断言，0 失败&lt;br /&gt;（两天净增 1219）&#10;                    &lt;/Text&gt;&#10;                &lt;/Box&gt;&#10;                &lt;Box style={{ display: 'flex', flexDirection: 'row', alignItems: 'baseline', gap: 12 }}&gt;&#10;                    &lt;Text style={{ fontSize: 62, fontWeight: 'bold', color: '#06B6D4', fontFamily: 'Consolas', lineHeight: 1.0 }}&gt;55/55&lt;/Text&gt;&#10;                    &lt;Text style={{ fontSize: 15, color: '#64748B', fontFamily: 'Microsoft YaHei', lineHeight: 1.5 }}&gt;&#10;                        七维度交付门禁&lt;br /&gt;全部通过&#10;                    &lt;/Text&gt;&#10;                &lt;/Box&gt;&#10;                &lt;Box style={{ display: 'flex', flexDirection: 'row', alignItems: 'baseline', gap: 12 }}&gt;&#10;                    &lt;Text style={{ fontSize: 62, fontWeight: 'bold', color: '#EF4444', fontFamily: 'Consolas', lineHeight: 1.0 }}&gt;734&lt;/Text&gt;&#10;                    &lt;Text style={{ fontSize: 15, color: '#64748B', fontFamily: 'Microsoft YaHei', lineHeight: 1.5 }}&gt;&#10;                        元／日 综合成本下降&lt;br /&gt;（越限 0 次）&#10;                    &lt;/Text&gt;&#10;                &lt;/Box&gt;&#10;            &lt;/Box&gt;&#10;            &lt;Text style={{ fontSize: 14, color: '#64748B', fontFamily: 'Microsoft YaHei', lineHeight: 1.6, marginTop: 4 }}&gt;&#10;                更重要的是：这些数字背后每一条都有可复核的判据与产物。&#10;            &lt;/Text&gt;&#10;        &lt;/Box&gt;&#10;    &lt;/Box&gt;&#10;    &lt;Box style={{ height: 34, display: 'flex', flexDirection: 'row', justifyContent: 'space-between', alignItems: 'center' }}&gt;&#10;        &lt;Text style={{ fontSize: 14, color: '#64748B', fontFamily: 'Microsoft YaHei' }}&gt;工商业储能 EMS · 0919-0920 两天交付汇报&lt;/Text&gt;&#10;        &lt;Text style={{ fontSize: 14, color: '#64748B', fontFamily: 'Consolas' }}&gt;24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276225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遗留与风险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09600" y="7524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未做完的部分和做完的部分一样要交代清楚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否则下一个读文档的人会把它当成现状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57225" y="2085975"/>
            <a:ext cx="6162675" cy="723900"/>
          </a:xfrm>
          <a:prstGeom prst="roundRect">
            <a:avLst>
              <a:gd name="adj" fmla="val 13158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657225" y="2085975"/>
            <a:ext cx="6162675" cy="723900"/>
          </a:xfrm>
          <a:custGeom>
            <a:pathLst>
              <a:path w="647" h="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1"/>
                </a:lnTo>
                <a:cubicBezTo>
                  <a:pt x="5" y="73"/>
                  <a:pt x="7" y="75"/>
                  <a:pt x="9" y="76"/>
                </a:cubicBezTo>
                <a:cubicBezTo>
                  <a:pt x="4" y="75"/>
                  <a:pt x="0" y="71"/>
                  <a:pt x="0" y="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90575" y="2190750"/>
            <a:ext cx="4953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EF4444"/>
                </a:solidFill>
                <a:latin typeface="Microsoft YaHei"/>
                <a:ea typeface="Microsoft YaHei"/>
              </a:rPr>
              <a:t>阻塞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400175" y="2190750"/>
            <a:ext cx="5238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依赖库的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GPL-3.0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授权：交付前必须处理（替换或取得授权），这是唯一的交付阻塞项。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57225" y="2914650"/>
            <a:ext cx="6162675" cy="723900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657225" y="2914650"/>
            <a:ext cx="6162675" cy="723900"/>
          </a:xfrm>
          <a:custGeom>
            <a:pathLst>
              <a:path w="647" h="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1"/>
                </a:lnTo>
                <a:cubicBezTo>
                  <a:pt x="5" y="73"/>
                  <a:pt x="7" y="75"/>
                  <a:pt x="9" y="76"/>
                </a:cubicBezTo>
                <a:cubicBezTo>
                  <a:pt x="4" y="75"/>
                  <a:pt x="0" y="71"/>
                  <a:pt x="0" y="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90575" y="3019425"/>
            <a:ext cx="4953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64748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400175" y="3019425"/>
            <a:ext cx="5238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个策略目前仍是演示实现：真实算法都做了，但还没有接进调度链。这是与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现场能用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距离最大的一项。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57225" y="3743325"/>
            <a:ext cx="6162675" cy="723900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657225" y="3743325"/>
            <a:ext cx="6162675" cy="723900"/>
          </a:xfrm>
          <a:custGeom>
            <a:pathLst>
              <a:path w="647" h="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1"/>
                </a:lnTo>
                <a:cubicBezTo>
                  <a:pt x="5" y="73"/>
                  <a:pt x="7" y="75"/>
                  <a:pt x="9" y="76"/>
                </a:cubicBezTo>
                <a:cubicBezTo>
                  <a:pt x="4" y="75"/>
                  <a:pt x="0" y="71"/>
                  <a:pt x="0" y="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90575" y="3848100"/>
            <a:ext cx="4953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64748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400175" y="3848100"/>
            <a:ext cx="5238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现场化参数与数据源：外部设定的失效阈值需要现场取值；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BMS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充放限值目前没有真实来源；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电表只有常量偏差，缺漂移与一阶时延；累计电量编码未做。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57225" y="4572000"/>
            <a:ext cx="6162675" cy="723900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657225" y="4572000"/>
            <a:ext cx="6162675" cy="723900"/>
          </a:xfrm>
          <a:custGeom>
            <a:pathLst>
              <a:path w="647" h="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1"/>
                </a:lnTo>
                <a:cubicBezTo>
                  <a:pt x="5" y="73"/>
                  <a:pt x="7" y="75"/>
                  <a:pt x="9" y="76"/>
                </a:cubicBezTo>
                <a:cubicBezTo>
                  <a:pt x="4" y="75"/>
                  <a:pt x="0" y="71"/>
                  <a:pt x="0" y="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90575" y="4676775"/>
            <a:ext cx="4953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64748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400175" y="4676775"/>
            <a:ext cx="5238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刷新根目录的构建日志：本机的命令行被安全策略禁用，跑不了官方构建脚本，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需要在能执行脚本的环境重跑一次，把最新的全量口径补进日志。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7019925" y="1028700"/>
            <a:ext cx="4562475" cy="5314950"/>
          </a:xfrm>
          <a:prstGeom prst="roundRect">
            <a:avLst>
              <a:gd name="adj" fmla="val 2505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229475" y="2028825"/>
            <a:ext cx="41433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这两天做完的事，可以用三个数字记住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229475" y="2543175"/>
            <a:ext cx="13049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3B82F6"/>
                </a:solidFill>
                <a:latin typeface="Consolas"/>
                <a:ea typeface="Consolas"/>
              </a:rPr>
              <a:t>9304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648700" y="2543175"/>
            <a:ext cx="1238250" cy="714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条断言，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失败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（两天净增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1219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229475" y="3371850"/>
            <a:ext cx="162877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06B6D4"/>
                </a:solidFill>
                <a:latin typeface="Consolas"/>
                <a:ea typeface="Consolas"/>
              </a:rPr>
              <a:t>55/55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972550" y="3371850"/>
            <a:ext cx="1000125" cy="714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七维度交付门禁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全部通过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7229475" y="4200525"/>
            <a:ext cx="98107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EF4444"/>
                </a:solidFill>
                <a:latin typeface="Consolas"/>
                <a:ea typeface="Consolas"/>
              </a:rPr>
              <a:t>734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324850" y="4200525"/>
            <a:ext cx="1333500" cy="714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元／日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综合成本下降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（越限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次）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229475" y="5086350"/>
            <a:ext cx="41433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更重要的是：这些数字背后每一条都有可复核的判据与产物。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09600" y="6429375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EMS · 0919-0920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两天交付汇报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1068050" y="64293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Consolas"/>
                <a:ea typeface="Consolas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2026-09-21T00:17:46Z</dcterms:created>
  <dcterms:modified xsi:type="dcterms:W3CDTF">2026-09-21T00:17:46Z</dcterms:modified>
</cp:coreProperties>
</file>