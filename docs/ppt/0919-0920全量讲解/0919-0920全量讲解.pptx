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4" Type="http://schemas.openxmlformats.org/officeDocument/2006/relationships/slide" Target="slides/slide4.xml" /><Relationship Id="rId16" Type="http://schemas.openxmlformats.org/officeDocument/2006/relationships/slide" Target="slides/slide16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png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Relationship Id="rId2" Type="http://schemas.openxmlformats.org/officeDocument/2006/relationships/image" Target="media/image3.png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5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padding: '20px 64px', background: '#FFFFFF', display: 'flex', flexDirection: 'column', justifyContent: 'center', gap: 20 }}&gt;&#10;    &lt;Text style={{ fontSize: 16, color: '#3B82F6', fontFamily: 'Microsoft YaHei', letterSpacing: 3 }}&gt;&#10;        工商业储能 EMS · 储能协调控制器&#10;    &lt;/Text&gt;&#10;    &lt;Text style={{ fontSize: 64, fontWeight: 'bold', color: '#1A1A1A', fontFamily: 'Microsoft YaHei', lineHeight: 1.2 }}&gt;&#10;        两天工作全量讲解&#10;    &lt;/Text&gt;&#10;    &lt;Text style={{ fontSize: 24, color: '#64748B', fontFamily: 'Microsoft YaHei', lineHeight: 1.6 }}&gt;&#10;        2026-09-19 ~ 09-20 · 设备线 / 调度线 / 内部线 11 项交付，测试基线 8085 → 9304，全部逐项实测复核&#10;    &lt;/Text&gt;&#10;    &lt;Box style={{ display: 'flex', flexDirection: 'row', gap: 28, marginTop: 24 }}&gt;&#10;        &lt;Box style={{ flex: 1, padding: '22px 24px', background: '#EFF6FF', borderRadius: 12, display: 'flex', flexDirection: 'column', gap: 6 }}&gt;&#10;            &lt;Text style={{ fontSize: 92, fontWeight: 'bold', color: '#EF4444', fontFamily: 'Consolas', lineHeight: 1.0 }}&gt;&#10;                +1219&#10;            &lt;/Text&gt;&#10;            &lt;Text style={{ fontSize: 17, color: '#1A1A1A', fontWeight: 600, fontFamily: 'Microsoft YaHei' }}&gt;&#10;                新增测试断言&#10;            &lt;/Text&gt;&#10;            &lt;Text style={{ fontSize: 14, color: '#64748B', fontFamily: 'Microsoft YaHei' }}&gt;&#10;                8085 → 9304，0 失败&#10;            &lt;/Text&gt;&#10;        &lt;/Box&gt;&#10;        &lt;Box style={{ flex: 1, padding: '22px 24px', background: '#EFF6FF', borderRadius: 12, display: 'flex', flexDirection: 'column', gap: 6 }}&gt;&#10;            &lt;Text style={{ fontSize: 92, fontWeight: 'bold', color: '#3B82F6', fontFamily: 'Consolas', lineHeight: 1.0 }}&gt;&#10;                19/19&#10;            &lt;/Text&gt;&#10;            &lt;Text style={{ fontSize: 17, color: '#1A1A1A', fontWeight: 600, fontFamily: 'Microsoft YaHei' }}&gt;&#10;                逐项复核一致&#10;            &lt;/Text&gt;&#10;            &lt;Text style={{ fontSize: 14, color: '#64748B', fontFamily: 'Microsoft YaHei' }}&gt;&#10;                每个测试目标本地实跑，与基线逐位一致&#10;            &lt;/Text&gt;&#10;        &lt;/Box&gt;&#10;        &lt;Box style={{ flex: 1, padding: '22px 24px', background: '#F1F5F9', borderRadius: 12, display: 'flex', flexDirection: 'column', gap: 6 }}&gt;&#10;            &lt;Text style={{ fontSize: 92, fontWeight: 'bold', color: '#1A1A1A', fontFamily: 'Consolas', lineHeight: 1.0 }}&gt;&#10;                55/55&#10;            &lt;/Text&gt;&#10;            &lt;Text style={{ fontSize: 17, color: '#1A1A1A', fontWeight: 600, fontFamily: 'Microsoft YaHei' }}&gt;&#10;                交付门禁通过&#10;            &lt;/Text&gt;&#10;            &lt;Text style={{ fontSize: 14, color: '#64748B', fontFamily: 'Microsoft YaHei' }}&gt;&#10;                七维度验收，退出码 0&#10;            &lt;/Text&gt;&#10;        &lt;/Box&gt;&#10;    &lt;/Box&gt;&#10;    &lt;Text style={{ fontSize: 14, color: '#94A3B8', fontFamily: 'Microsoft YaHei', marginTop: 6 }}&gt;&#10;        基线口径：本机默认 9304（无 pymodbus，跨语言层跳过 7 条）／装后 9382 · 构建 31 步全过&#10;    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10858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3B82F6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200" spc="225">
                <a:solidFill>
                  <a:srgbClr val="3B82F6"/>
                </a:solidFill>
                <a:latin typeface="Microsoft YaHei"/>
                <a:ea typeface="Microsoft YaHei"/>
              </a:rPr>
              <a:t> EMS · </a:t>
            </a:r>
            <a:r>
              <a:rPr lang="zh-CN" sz="1200" spc="225">
                <a:solidFill>
                  <a:srgbClr val="3B82F6"/>
                </a:solidFill>
                <a:latin typeface="Microsoft YaHei"/>
                <a:ea typeface="Microsoft YaHei"/>
              </a:rPr>
              <a:t>储能协调控制器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1466850"/>
            <a:ext cx="10972800" cy="885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1A1A1A"/>
                </a:solidFill>
                <a:latin typeface="Microsoft YaHei"/>
                <a:ea typeface="Microsoft YaHei"/>
              </a:rPr>
              <a:t>两天工作全量讲解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543175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800">
                <a:solidFill>
                  <a:srgbClr val="64748B"/>
                </a:solidFill>
                <a:latin typeface="Microsoft YaHei"/>
                <a:ea typeface="Microsoft YaHei"/>
              </a:rPr>
              <a:t>2026-09-19 ~ 09-20 · </a:t>
            </a: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设备线</a:t>
            </a:r>
            <a:r>
              <a:rPr lang="en-US" sz="18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调度线</a:t>
            </a:r>
            <a:r>
              <a:rPr lang="en-US" sz="18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内部线</a:t>
            </a:r>
            <a:r>
              <a:rPr lang="en-US" sz="1800">
                <a:solidFill>
                  <a:srgbClr val="64748B"/>
                </a:solidFill>
                <a:latin typeface="Microsoft YaHei"/>
                <a:ea typeface="Microsoft YaHei"/>
              </a:rPr>
              <a:t> 11 </a:t>
            </a: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项交付，测试基线</a:t>
            </a:r>
            <a:r>
              <a:rPr lang="en-US" sz="1800">
                <a:solidFill>
                  <a:srgbClr val="64748B"/>
                </a:solidFill>
                <a:latin typeface="Microsoft YaHei"/>
                <a:ea typeface="Microsoft YaHei"/>
              </a:rPr>
              <a:t> 8085 → 9304</a:t>
            </a: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，全部逐项实测复核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409950"/>
            <a:ext cx="3476625" cy="1952625"/>
          </a:xfrm>
          <a:prstGeom prst="roundRect">
            <a:avLst>
              <a:gd name="adj" fmla="val 5854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38200" y="3619500"/>
            <a:ext cx="301942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EF4444"/>
                </a:solidFill>
                <a:latin typeface="Consolas"/>
                <a:ea typeface="Consolas"/>
              </a:rPr>
              <a:t>+1219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38200" y="4733925"/>
            <a:ext cx="3019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新增测试断言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38200" y="4991100"/>
            <a:ext cx="3019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8085 → 9304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失败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4352925" y="3409950"/>
            <a:ext cx="3486150" cy="1952625"/>
          </a:xfrm>
          <a:prstGeom prst="roundRect">
            <a:avLst>
              <a:gd name="adj" fmla="val 5854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4581525" y="3619500"/>
            <a:ext cx="302895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3B82F6"/>
                </a:solidFill>
                <a:latin typeface="Consolas"/>
                <a:ea typeface="Consolas"/>
              </a:rPr>
              <a:t>19/19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4581525" y="4733925"/>
            <a:ext cx="3028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逐项复核一致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581525" y="4991100"/>
            <a:ext cx="3028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每个测试目标本地实跑，与基线逐位一致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8105775" y="3409950"/>
            <a:ext cx="3476625" cy="1952625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334375" y="3619500"/>
            <a:ext cx="301942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1A1A1A"/>
                </a:solidFill>
                <a:latin typeface="Consolas"/>
                <a:ea typeface="Consolas"/>
              </a:rPr>
              <a:t>55/55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334375" y="4733925"/>
            <a:ext cx="3019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交付门禁通过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334375" y="4991100"/>
            <a:ext cx="3019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七维度验收，退出码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56102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基线口径：本机默认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9304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（无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pymodbus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，跨语言层跳过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7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条）／装后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9382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构建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31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步全过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93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两天落点总图：三条线，汇进同一条总线&#10;        &lt;/Text&gt;&#10;        &lt;Text style={{ fontSize: 16, color: '#64748B', fontFamily: 'Microsoft YaHei' }}&gt;&#10;            先看全景——后面每一页，都是这张图上的一条线或一个框&#10;        &lt;/Text&gt;&#10;    &lt;/Box&gt;&#10;    &lt;Box style={{ flex: 1, display: 'flex', flexDirection: 'row', alignItems: 'center', justifyContent: 'center' }}&gt;&#10;        &lt;Image src=&quot;assets/landing_map.png&quot; style={{ width: 1100, height: 525 }} /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两天工作全量讲解&lt;/Text&gt;&#10;        &lt;Text style={{ fontSize: 14, color: '#64748B', fontFamily: 'Consolas' }}&gt;02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两天落点总图：三条线，汇进同一条总线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先看全景——后面每一页，都是这张图上的一条线或一个框</a:t>
            </a:r>
            <a:endParaRPr/>
          </a:p>
        </p:txBody>
      </p:sp>
      <p:pic>
        <p:nvPicPr>
          <p:cNvPr id="197" name=""/>
          <p:cNvPicPr>
            <a:picLocks noChangeAspect="1"/>
          </p:cNvPicPr>
          <p:nvPr/>
        </p:nvPicPr>
        <p:blipFill>
          <a:blip r:embed="rId1"/>
          <a:srcRect l="0" t="28" r="0" b="28"/>
          <a:stretch>
            <a:fillRect/>
          </a:stretch>
        </p:blipFill>
        <p:spPr>
          <a:xfrm rot="0" flipH="0" flipV="0">
            <a:off x="857250" y="1162050"/>
            <a:ext cx="10477500" cy="5000625"/>
          </a:xfrm>
          <a:prstGeom prst="rect">
            <a:avLst/>
          </a:prstGeom>
          <a:ln/>
        </p:spPr>
      </p:pic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两天工作全量讲解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02 / 16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00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做了什么：两天 11 项交付改动&#10;        &lt;/Text&gt;&#10;        &lt;Text style={{ fontSize: 16, color: '#64748B', fontFamily: 'Microsoft YaHei' }}&gt;&#10;            一条主线：让 EMS 从「自己能算」变成「能被调度、能被设备接入，每一步都有证据」&#10;        &lt;/Text&gt;&#10;    &lt;/Box&gt;&#10;    &lt;Box style={{ flex: 1, display: 'flex', flexDirection: 'column', justifyContent: 'center' }}&gt;&#10;        &lt;Box style={{ display: 'flex', flexDirection: 'row', padding: '6px 14px', background: '#F1F5F9', borderRadius: 6 }}&gt;&#10;            &lt;Text style={{ width: 76, fontSize: 14, fontWeight: 'bold', color: '#64748B', fontFamily: 'Microsoft YaHei' }}&gt;日期&lt;/Text&gt;&#10;            &lt;Text style={{ width: 320, fontSize: 14, fontWeight: 'bold', color: '#64748B', fontFamily: 'Microsoft YaHei' }}&gt;交付项&lt;/Text&gt;&#10;            &lt;Text style={{ flex: 1, fontSize: 14, fontWeight: 'bold', color: '#64748B', fontFamily: 'Microsoft YaHei' }}&gt;一句话说明&lt;/Text&gt;&#10;        &lt;/Box&gt;&#10;        &lt;Box style={{ display: 'flex', flexDirection: 'row', padding: '6px 14px', alignItems: 'center' }}&gt;&#10;            &lt;Text style={{ width: 76, fontSize: 14, fontWeight: 'bold', color: '#3B82F6', fontFamily: 'Consolas' }}&gt;09-19&lt;/Text&gt;&#10;            &lt;Text style={{ width: 320, fontSize: 15, fontWeight: 600, color: '#1A1A1A', fontFamily: 'Microsoft YaHei' }}&gt;新建 跨进程系统级联调&lt;/Text&gt;&#10;            &lt;Text style={{ flex: 1, fontSize: 14.5, color: '#64748B', fontFamily: 'Microsoft YaHei' }}&gt;起真进程、跨进程读写同一块共享内存，「模块内自洽」升级成「装到一起还对不对」&lt;/Text&gt;&#10;        &lt;/Box&gt;&#10;        &lt;Box style={{ display: 'flex', flexDirection: 'row', padding: '6px 14px', background: '#F8FAFC', alignItems: 'center' }}&gt;&#10;            &lt;Text style={{ width: 76, fontSize: 14, fontWeight: 'bold', color: '#3B82F6', fontFamily: 'Consolas' }}&gt;09-19&lt;/Text&gt;&#10;            &lt;Text style={{ width: 320, fontSize: 15, fontWeight: 600, color: '#1A1A1A', fontFamily: 'Microsoft YaHei' }}&gt;新建 最终验收（交付门禁）&lt;/Text&gt;&#10;            &lt;Text style={{ flex: 1, fontSize: 14.5, color: '#64748B', fontFamily: 'Microsoft YaHei' }}&gt;七维度 55 项检查，产出正式验收报告（md/json/html），可引用可归档&lt;/Text&gt;&#10;        &lt;/Box&gt;&#10;        &lt;Box style={{ display: 'flex', flexDirection: 'row', padding: '6px 14px', alignItems: 'center' }}&gt;&#10;            &lt;Text style={{ width: 76, fontSize: 14, fontWeight: 'bold', color: '#3B82F6', fontFamily: 'Consolas' }}&gt;09-19&lt;/Text&gt;&#10;            &lt;Text style={{ width: 320, fontSize: 15, fontWeight: 600, color: '#1A1A1A', fontFamily: 'Microsoft YaHei' }}&gt;修 主循环三处真实缺陷&lt;/Text&gt;&#10;            &lt;Text style={{ flex: 1, fontSize: 14.5, color: '#64748B', fontFamily: 'Microsoft YaHei' }}&gt;联调才暴露的问题：单模块自己测永远测不出来&lt;/Text&gt;&#10;        &lt;/Box&gt;&#10;        &lt;Box style={{ display: 'flex', flexDirection: 'row', padding: '6px 14px', background: '#F8FAFC', alignItems: 'center' }}&gt;&#10;            &lt;Text style={{ width: 76, fontSize: 14, fontWeight: 'bold', color: '#3B82F6', fontFamily: 'Consolas' }}&gt;09-19&lt;/Text&gt;&#10;            &lt;Text style={{ width: 320, fontSize: 15, fontWeight: 600, color: '#1A1A1A', fontFamily: 'Microsoft YaHei' }}&gt;修 并发判据缺陷&lt;/Text&gt;&#10;            &lt;Text style={{ flex: 1, fontSize: 14.5, color: '#64748B', fontFamily: 'Microsoft YaHei' }}&gt;原断言测的是「机器闲不闲」不是「代码对不对」，改成四层判据&lt;/Text&gt;&#10;        &lt;/Box&gt;&#10;        &lt;Box style={{ display: 'flex', flexDirection: 'row', padding: '6px 14px', alignItems: 'center' }}&gt;&#10;            &lt;Text style={{ width: 76, fontSize: 14, fontWeight: 'bold', color: '#3B82F6', fontFamily: 'Consolas' }}&gt;09-19&lt;/Text&gt;&#10;            &lt;Text style={{ width: 320, fontSize: 15, fontWeight: 600, color: '#1A1A1A', fontFamily: 'Microsoft YaHei' }}&gt;新建 调度网关（IEC 104 从站）&lt;/Text&gt;&#10;            &lt;Text style={{ flex: 1, fontSize: 14.5, color: '#64748B', fontFamily: 'Microsoft YaHei' }}&gt;对上接调度：真实 TCP、真实报文、真实遥控遥调时序&lt;/Text&gt;&#10;        &lt;/Box&gt;&#10;        &lt;Box style={{ display: 'flex', flexDirection: 'row', padding: '6px 14px', background: '#F8FAFC', alignItems: 'center' }}&gt;&#10;            &lt;Text style={{ width: 76, fontSize: 14, fontWeight: 'bold', color: '#3B82F6', fontFamily: 'Consolas' }}&gt;09-19&lt;/Text&gt;&#10;            &lt;Text style={{ width: 320, fontSize: 15, fontWeight: 600, color: '#1A1A1A', fontFamily: 'Microsoft YaHei' }}&gt;修 两个安全缺口&lt;/Text&gt;&#10;            &lt;Text style={{ flex: 1, fontSize: 14.5, color: '#64748B', fontFamily: 'Microsoft YaHei' }}&gt;BMS 禁充/禁放位接进安全链；关口功率统一为只读电表&lt;/Text&gt;&#10;        &lt;/Box&gt;&#10;        &lt;Box style={{ display: 'flex', flexDirection: 'row', padding: '6px 14px', alignItems: 'center' }}&gt;&#10;            &lt;Text style={{ width: 76, fontSize: 14, fontWeight: 'bold', color: '#06B6D4', fontFamily: 'Consolas' }}&gt;09-20&lt;/Text&gt;&#10;            &lt;Text style={{ width: 320, fontSize: 15, fontWeight: 600, color: '#1A1A1A', fontFamily: 'Microsoft YaHei' }}&gt;新建 设备接入（Modbus TCP）&lt;/Text&gt;&#10;            &lt;Text style={{ flex: 1, fontSize: 14.5, color: '#64748B', fontFamily: 'Microsoft YaHei' }}&gt;对下接 BMS/PCS/电表：三层测试 + 跨语言对账&lt;/Text&gt;&#10;        &lt;/Box&gt;&#10;        &lt;Box style={{ display: 'flex', flexDirection: 'row', padding: '6px 14px', background: '#F8FAFC', alignItems: 'center' }}&gt;&#10;            &lt;Text style={{ width: 76, fontSize: 14, fontWeight: 'bold', color: '#06B6D4', fontFamily: 'Consolas' }}&gt;09-20&lt;/Text&gt;&#10;            &lt;Text style={{ width: 320, fontSize: 15, fontWeight: 600, color: '#1A1A1A', fontFamily: 'Microsoft YaHei' }}&gt;外部设定落点&lt;/Text&gt;&#10;            &lt;Text style={{ flex: 1, fontSize: 14.5, color: '#64748B', fontFamily: 'Microsoft YaHei' }}&gt;点表 32 → 40 点，调度遥调第一次「落得到地方」&lt;/Text&gt;&#10;        &lt;/Box&gt;&#10;        &lt;Box style={{ display: 'flex', flexDirection: 'row', padding: '6px 14px', alignItems: 'center' }}&gt;&#10;            &lt;Text style={{ width: 76, fontSize: 14, fontWeight: 'bold', color: '#06B6D4', fontFamily: 'Consolas' }}&gt;09-20&lt;/Text&gt;&#10;            &lt;Text style={{ width: 320, fontSize: 15, fontWeight: 600, color: '#1A1A1A', fontFamily: 'Microsoft YaHei' }}&gt;落点接进安全链&lt;/Text&gt;&#10;            &lt;Text style={{ flex: 1, fontSize: 14.5, color: '#64748B', fontFamily: 'Microsoft YaHei' }}&gt;外部设定成第 10 条约束；停机/闭锁失联后粘住&lt;/Text&gt;&#10;        &lt;/Box&gt;&#10;        &lt;Box style={{ display: 'flex', flexDirection: 'row', padding: '6px 14px', background: '#F8FAFC', alignItems: 'center' }}&gt;&#10;            &lt;Text style={{ width: 76, fontSize: 14, fontWeight: 'bold', color: '#06B6D4', fontFamily: 'Consolas' }}&gt;09-20&lt;/Text&gt;&#10;            &lt;Text style={{ width: 320, fontSize: 15, fontWeight: 600, color: '#1A1A1A', fontFamily: 'Microsoft YaHei' }}&gt;转发表外置&lt;/Text&gt;&#10;            &lt;Text style={{ flex: 1, fontSize: 14.5, color: '#64748B', fontFamily: 'Microsoft YaHei' }}&gt;CA/IOA 映射改成数据文件，现场改 IOA 不用重编 C++&lt;/Text&gt;&#10;        &lt;/Box&gt;&#10;        &lt;Box style={{ display: 'flex', flexDirection: 'row', padding: '6px 14px', alignItems: 'center' }}&gt;&#10;            &lt;Text style={{ width: 76, fontSize: 14, fontWeight: 'bold', color: '#06B6D4', fontFamily: 'Consolas' }}&gt;09-20&lt;/Text&gt;&#10;            &lt;Text style={{ width: 320, fontSize: 15, fontWeight: 600, color: '#1A1A1A', fontFamily: 'Microsoft YaHei' }}&gt;文案/遗留清单清扫三遍&lt;/Text&gt;&#10;            &lt;Text style={{ flex: 1, fontSize: 14.5, color: '#64748B', fontFamily: 'Microsoft YaHei' }}&gt;扫掉会印进正式产物的过期数字与已关闭的缺口&lt;/Text&gt;&#10;        &lt;/Box&gt;&#10;        &lt;Box style={{ marginTop: 8, padding: '9px 14px', background: '#EFF6FF', borderRadius: 8, borderLeft: '3px solid #3B82F6' }}&gt;&#10;            &lt;Text style={{ fontSize: 13.5, color: '#1A1A1A', fontFamily: 'Microsoft YaHei', lineHeight: 1.6 }}&gt;&#10;                为什么「清扫文案」也算交付：断言错了会变红，&lt;Text style={{ fontSize: 13.5, fontWeight: 600, color: '#1A1A1A', fontFamily: 'Microsoft YaHei' }}&gt;产物里的数字错了永远是绿的&lt;/Text&gt;——这种错会跟着交付物到客户手里。&#10;            &lt;/Text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两天工作全量讲解&lt;/Text&gt;&#10;        &lt;Text style={{ fontSize: 14, color: '#64748B', fontFamily: 'Consolas' }}&gt;03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做了什么：两天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11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项交付改动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一条主线：让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EMS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从「自己能算」变成「能被调度、能被设备接入，每一步都有证据」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09600" y="1704975"/>
            <a:ext cx="10972800" cy="276225"/>
          </a:xfrm>
          <a:prstGeom prst="roundRect">
            <a:avLst>
              <a:gd name="adj" fmla="val 2069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42950" y="176212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4748B"/>
                </a:solidFill>
                <a:latin typeface="Microsoft YaHei"/>
                <a:ea typeface="Microsoft YaHei"/>
              </a:rPr>
              <a:t>日期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466850" y="176212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4748B"/>
                </a:solidFill>
                <a:latin typeface="Microsoft YaHei"/>
                <a:ea typeface="Microsoft YaHei"/>
              </a:rPr>
              <a:t>交付项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4514850" y="1762125"/>
            <a:ext cx="693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4748B"/>
                </a:solidFill>
                <a:latin typeface="Microsoft YaHei"/>
                <a:ea typeface="Microsoft YaHei"/>
              </a:rPr>
              <a:t>一句话说明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42950" y="20478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09-19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466850" y="203835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新建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跨进程系统级联调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514850" y="2038350"/>
            <a:ext cx="693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起真进程、跨进程读写同一块共享内存，「模块内自洽」升级成「装到一起还对不对」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09600" y="2266950"/>
            <a:ext cx="10972800" cy="28575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42950" y="233362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09-19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466850" y="232410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新建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最终验收（交付门禁）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514850" y="2324100"/>
            <a:ext cx="693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七维度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 55 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项检查，产出正式验收报告（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md/json/html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），可引用可归档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42950" y="26193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09-19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466850" y="260985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修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主循环三处真实缺陷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514850" y="2609850"/>
            <a:ext cx="693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联调才暴露的问题：单模块自己测永远测不出来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09600" y="2838450"/>
            <a:ext cx="10972800" cy="28575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42950" y="290512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09-19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466850" y="289560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修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并发判据缺陷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514850" y="2895600"/>
            <a:ext cx="693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原断言测的是「机器闲不闲」不是「代码对不对」，改成四层判据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42950" y="31908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09-19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466850" y="318135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新建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调度网关（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IEC 104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从站）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514850" y="3181350"/>
            <a:ext cx="693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对上接调度：真实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 TCP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、真实报文、真实遥控遥调时序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09600" y="3409950"/>
            <a:ext cx="10972800" cy="28575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42950" y="347662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09-19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466850" y="346710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修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两个安全缺口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514850" y="3467100"/>
            <a:ext cx="693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BMS 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禁充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禁放位接进安全链；关口功率统一为只读电表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42950" y="37623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Consolas"/>
                <a:ea typeface="Consolas"/>
              </a:rPr>
              <a:t>09-20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466850" y="375285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新建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设备接入（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Modbus TCP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514850" y="3752850"/>
            <a:ext cx="693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对下接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 BMS/PCS/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电表：三层测试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跨语言对账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09600" y="3981450"/>
            <a:ext cx="10972800" cy="28575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42950" y="404812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Consolas"/>
                <a:ea typeface="Consolas"/>
              </a:rPr>
              <a:t>09-20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466850" y="403860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外部设定落点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4514850" y="4038600"/>
            <a:ext cx="693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点表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 32 → 40 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点，调度遥调第一次「落得到地方」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42950" y="43338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Consolas"/>
                <a:ea typeface="Consolas"/>
              </a:rPr>
              <a:t>09-20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466850" y="432435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落点接进安全链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514850" y="4324350"/>
            <a:ext cx="693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外部设定成第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 10 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条约束；停机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闭锁失联后粘住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4552950"/>
            <a:ext cx="10972800" cy="28575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42950" y="461962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Consolas"/>
                <a:ea typeface="Consolas"/>
              </a:rPr>
              <a:t>09-20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466850" y="461010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转发表外置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4514850" y="4610100"/>
            <a:ext cx="693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CA/IOA 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映射改成数据文件，现场改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 IOA 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不用重编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 C++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42950" y="49053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Consolas"/>
                <a:ea typeface="Consolas"/>
              </a:rPr>
              <a:t>09-20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466850" y="489585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文案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/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遗留清单清扫三遍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514850" y="4895850"/>
            <a:ext cx="693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扫掉会印进正式产物的过期数字与已关闭的缺口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38175" y="5200650"/>
            <a:ext cx="10972800" cy="41910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638175" y="5200650"/>
            <a:ext cx="10972800" cy="419100"/>
          </a:xfrm>
          <a:custGeom>
            <a:pathLst>
              <a:path w="1152" h="44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9"/>
                </a:lnTo>
                <a:cubicBezTo>
                  <a:pt x="3" y="41"/>
                  <a:pt x="5" y="43"/>
                  <a:pt x="7" y="44"/>
                </a:cubicBezTo>
                <a:cubicBezTo>
                  <a:pt x="3" y="43"/>
                  <a:pt x="0" y="40"/>
                  <a:pt x="0" y="3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71525" y="5286375"/>
            <a:ext cx="10677525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为什么「清扫文案」也算交付：断言错了会变红，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产物里的数字错了永远是绿的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——这种错会跟着交付物到客户手里。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两天工作全量讲解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03 / 16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51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设备线 ①：模拟器与接入架构——模拟了什么&#10;        &lt;/Text&gt;&#10;        &lt;Text style={{ fontSize: 16, color: '#64748B', fontFamily: 'Microsoft YaHei' }}&gt;&#10;            用 Python 从站仿真现场设备（BMS / PCS / 电表 · 32 点寄存器表），主站通路在无真机时全链路可测&#10;        &lt;/Text&gt;&#10;    &lt;/Box&gt;&#10;    &lt;Box style={{ flex: 1, display: 'flex', flexDirection: 'row', alignItems: 'center', justifyContent: 'center' }}&gt;&#10;        &lt;Image src=&quot;assets/modbus_arch.png&quot; style={{ width: 1100, height: 515 }} /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两天工作全量讲解&lt;/Text&gt;&#10;        &lt;Text style={{ fontSize: 14, color: '#64748B', fontFamily: 'Consolas' }}&gt;0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设备线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①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：模拟器与接入架构——模拟了什么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用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Python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从站仿真现场设备（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BMS / PCS /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电表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· 32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点寄存器表），主站通路在无真机时全链路可测</a:t>
            </a:r>
            <a:endParaRPr/>
          </a:p>
        </p:txBody>
      </p:sp>
      <p:pic>
        <p:nvPicPr>
          <p:cNvPr id="255" name=""/>
          <p:cNvPicPr>
            <a:picLocks noChangeAspect="1"/>
          </p:cNvPicPr>
          <p:nvPr/>
        </p:nvPicPr>
        <p:blipFill>
          <a:blip r:embed="rId1"/>
          <a:srcRect l="0" t="4" r="0" b="4"/>
          <a:stretch>
            <a:fillRect/>
          </a:stretch>
        </p:blipFill>
        <p:spPr>
          <a:xfrm rot="0" flipH="0" flipV="0">
            <a:off x="857250" y="1209675"/>
            <a:ext cx="10477500" cy="4905375"/>
          </a:xfrm>
          <a:prstGeom prst="rect">
            <a:avLst/>
          </a:prstGeom>
          <a:ln/>
        </p:spPr>
      </p:pic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两天工作全量讲解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04 / 16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58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设备线 ②：模拟器测试结果详情&#10;        &lt;/Text&gt;&#10;        &lt;Text style={{ fontSize: 16, color: '#64748B', fontFamily: 'Microsoft YaHei' }}&gt;&#10;            三层各管一件事、各自能独立失败——一眼看出是协议错、适配错、还是两边理解不一致&#10;        &lt;/Text&gt;&#10;    &lt;/Box&gt;&#10;    &lt;Box style={{ flex: 1, display: 'flex', flexDirection: 'row', alignItems: 'center', justifyContent: 'center' }}&gt;&#10;        &lt;Image src=&quot;assets/sim_tests.png&quot; style={{ width: 1150, height: 410 }} /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两天工作全量讲解&lt;/Text&gt;&#10;        &lt;Text style={{ fontSize: 14, color: '#64748B', fontFamily: 'Consolas' }}&gt;0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设备线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②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：模拟器测试结果详情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三层各管一件事、各自能独立失败——一眼看出是协议错、适配错、还是两边理解不一致</a:t>
            </a:r>
            <a:endParaRPr/>
          </a:p>
        </p:txBody>
      </p:sp>
      <p:pic>
        <p:nvPicPr>
          <p:cNvPr id="262" name=""/>
          <p:cNvPicPr>
            <a:picLocks noChangeAspect="1"/>
          </p:cNvPicPr>
          <p:nvPr/>
        </p:nvPicPr>
        <p:blipFill>
          <a:blip r:embed="rId1"/>
          <a:srcRect l="10" t="0" r="10" b="0"/>
          <a:stretch>
            <a:fillRect/>
          </a:stretch>
        </p:blipFill>
        <p:spPr>
          <a:xfrm rot="0" flipH="0" flipV="0">
            <a:off x="619125" y="1704975"/>
            <a:ext cx="10953750" cy="3905250"/>
          </a:xfrm>
          <a:prstGeom prst="rect">
            <a:avLst/>
          </a:prstGeom>
          <a:ln/>
        </p:spPr>
      </p:pic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两天工作全量讲解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05 / 16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65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设备线 ③：两个安全缺口——接口在、字段在，但没人读&#10;        &lt;/Text&gt;&#10;        &lt;Text style={{ fontSize: 16, color: '#64748B', fontFamily: 'Microsoft YaHei' }}&gt;&#10;            都是「看起来在跑、实际没生效」那一类：断言不会替你发现「没接的线」&#10;        &lt;/Text&gt;&#10;    &lt;/Box&gt;&#10;    &lt;Box style={{ flex: 1, display: 'flex', flexDirection: 'row', gap: 24, alignItems: 'stretch' }}&gt;&#10;        &lt;Box style={{ flex: 1, padding: '18px 22px', background: '#FEF2F2', borderRadius: 12, border: '1px solid #EF4444', display: 'flex', flexDirection: 'column', gap: 10 }}&gt;&#10;            &lt;Text style={{ fontSize: 19, fontWeight: 'bold', color: '#EF4444', fontFamily: 'Microsoft YaHei' }}&gt;&#10;                缺口一：BMS 禁充/禁放位没接进安全链&#10;            &lt;/Text&gt;&#10;            &lt;Text style={{ fontSize: 14.5, color: '#1A1A1A', fontFamily: 'Microsoft YaHei', lineHeight: 1.6 }}&gt;&#10;                &lt;Text style={{ fontSize: 14.5, fontWeight: 'bold', color: '#1A1A1A', fontFamily: 'Microsoft YaHei' }}&gt;现象：&lt;/Text&gt;BMS 的禁充/禁放保护位一直在总线上，安全引擎的 9 条约束里却没有它——设备侧的保护意图，EMS 侧看不见。&#10;            &lt;/Text&gt;&#10;            &lt;Text style={{ fontSize: 14.5, color: '#1A1A1A', fontFamily: 'Microsoft YaHei', lineHeight: 1.6 }}&gt;&#10;                &lt;Text style={{ fontSize: 14.5, fontWeight: 'bold', color: '#1A1A1A', fontFamily: 'Microsoft YaHei' }}&gt;修法：&lt;/Text&gt;点表末尾追加 2 个状态点（30 → 32），三个适配器的限值接口真读这两个位；新点默认 0 = 允许，冷启动不锁死。&#10;            &lt;/Text&gt;&#10;            &lt;Text style={{ fontSize: 14.5, color: '#3B82F6', fontFamily: 'Microsoft YaHei', lineHeight: 1.6, marginTop: 'auto' }}&gt;&#10;                &lt;Text style={{ fontSize: 14.5, fontWeight: 'bold', color: '#3B82F6', fontFamily: 'Microsoft YaHei' }}&gt;证据：&lt;/Text&gt;断言 8331 → 8523（+22），跨内存 / 跨进程 / 验收三层都有对应断言。&#10;            &lt;/Text&gt;&#10;        &lt;/Box&gt;&#10;        &lt;Box style={{ flex: 1, padding: '18px 22px', background: '#FEF2F2', borderRadius: 12, border: '1px solid #EF4444', display: 'flex', flexDirection: 'column', gap: 10 }}&gt;&#10;            &lt;Text style={{ fontSize: 19, fontWeight: 'bold', color: '#EF4444', fontFamily: 'Microsoft YaHei' }}&gt;&#10;                缺口二：关口功率口径不一致&#10;            &lt;/Text&gt;&#10;            &lt;Text style={{ fontSize: 14.5, color: '#1A1A1A', fontFamily: 'Microsoft YaHei', lineHeight: 1.6 }}&gt;&#10;                &lt;Text style={{ fontSize: 14.5, fontWeight: 'bold', color: '#1A1A1A', fontFamily: 'Microsoft YaHei' }}&gt;现象：&lt;/Text&gt;防逆流和变压器过载都吃关口功率，但三个适配器一个读电表、两个本地三路相减——两源可差 40 kW。&#10;            &lt;/Text&gt;&#10;            &lt;Text style={{ fontSize: 14.5, color: '#1A1A1A', fontFamily: 'Microsoft YaHei', lineHeight: 1.6 }}&gt;&#10;                &lt;Text style={{ fontSize: 14.5, fontWeight: 'bold', color: '#1A1A1A', fontFamily: 'Microsoft YaHei' }}&gt;修法：&lt;/Text&gt;统一为「只读电表点」；模拟器注入 40 kW 电表偏差，让「两源不一致」可被表达、可被断言。&#10;            &lt;/Text&gt;&#10;            &lt;Text style={{ fontSize: 14.5, color: '#3B82F6', fontFamily: 'Microsoft YaHei', lineHeight: 1.6, marginTop: 'auto' }}&gt;&#10;                &lt;Text style={{ fontSize: 14.5, fontWeight: 'bold', color: '#3B82F6', fontFamily: 'Microsoft YaHei' }}&gt;证据：&lt;/Text&gt;断言 8523 → 8547（+24）；跨语言实测电表读数 232 vs 三路相减 230，差值直接可观测。&#10;            &lt;/Text&gt;&#10;        &lt;/Box&gt;&#10;    &lt;/Box&gt;&#10;    &lt;Box style={{ marginTop: 12, padding: '10px 16px', background: '#EFF6FF', borderRadius: 8, borderLeft: '3px solid #3B82F6' }}&gt;&#10;        &lt;Text style={{ fontSize: 14, color: '#1A1A1A', fontFamily: 'Microsoft YaHei', lineHeight: 1.6 }}&gt;&#10;            为什么关口功率必须只读电表：它是防逆流和变压器过载的共同输入，&lt;Text style={{ fontSize: 14, fontWeight: 600, color: '#1A1A1A', fontFamily: 'Microsoft YaHei' }}&gt;口径错就是系统性错&lt;/Text&gt;——本地重算省一次读点，赔上的是整个安全判据的可信度。&#10;        &lt;/Text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两天工作全量讲解&lt;/Text&gt;&#10;        &lt;Text style={{ fontSize: 14, color: '#64748B', fontFamily: 'Consolas' }}&gt;06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设备线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③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：两个安全缺口——接口在、字段在，但没人读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都是「看起来在跑、实际没生效」那一类：断言不会替你发现「没接的线」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09600" y="990600"/>
            <a:ext cx="5372100" cy="4772025"/>
          </a:xfrm>
          <a:prstGeom prst="roundRect">
            <a:avLst>
              <a:gd name="adj" fmla="val 2395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19150" y="1162050"/>
            <a:ext cx="495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F4444"/>
                </a:solidFill>
                <a:latin typeface="Microsoft YaHei"/>
                <a:ea typeface="Microsoft YaHei"/>
              </a:rPr>
              <a:t>缺口一：</a:t>
            </a:r>
            <a:r>
              <a:rPr lang="en-US" sz="1425" b="1">
                <a:solidFill>
                  <a:srgbClr val="EF4444"/>
                </a:solidFill>
                <a:latin typeface="Microsoft YaHei"/>
                <a:ea typeface="Microsoft YaHei"/>
              </a:rPr>
              <a:t>BMS </a:t>
            </a:r>
            <a:r>
              <a:rPr lang="zh-CN" sz="1425" b="1">
                <a:solidFill>
                  <a:srgbClr val="EF4444"/>
                </a:solidFill>
                <a:latin typeface="Microsoft YaHei"/>
                <a:ea typeface="Microsoft YaHei"/>
              </a:rPr>
              <a:t>禁充</a:t>
            </a:r>
            <a:r>
              <a:rPr lang="en-US" sz="1425" b="1">
                <a:solidFill>
                  <a:srgbClr val="EF4444"/>
                </a:solidFill>
                <a:latin typeface="Microsoft YaHei"/>
                <a:ea typeface="Microsoft YaHei"/>
              </a:rPr>
              <a:t>/</a:t>
            </a:r>
            <a:r>
              <a:rPr lang="zh-CN" sz="1425" b="1">
                <a:solidFill>
                  <a:srgbClr val="EF4444"/>
                </a:solidFill>
                <a:latin typeface="Microsoft YaHei"/>
                <a:ea typeface="Microsoft YaHei"/>
              </a:rPr>
              <a:t>禁放位没接进安全链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19150" y="1476375"/>
            <a:ext cx="4953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现象：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BMS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的禁充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/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禁放保护位一直在总线上，安全引擎的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9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条约束里却没有它——设备侧的保护意图，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EMS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侧看不见。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19150" y="2105025"/>
            <a:ext cx="4953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修法：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点表末尾追加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2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个状态点（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30 → 32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），三个适配器的限值接口真读这两个位；新点默认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0 =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允许，冷启动不锁死。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19150" y="5324475"/>
            <a:ext cx="49530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3B82F6"/>
                </a:solidFill>
                <a:latin typeface="Microsoft YaHei"/>
                <a:ea typeface="Microsoft YaHei"/>
              </a:rPr>
              <a:t>证据：</a:t>
            </a:r>
            <a:r>
              <a:rPr lang="zh-CN" sz="1088">
                <a:solidFill>
                  <a:srgbClr val="3B82F6"/>
                </a:solidFill>
                <a:latin typeface="Microsoft YaHei"/>
                <a:ea typeface="Microsoft YaHei"/>
              </a:rPr>
              <a:t>断言</a:t>
            </a:r>
            <a:r>
              <a:rPr lang="en-US" sz="1088">
                <a:solidFill>
                  <a:srgbClr val="3B82F6"/>
                </a:solidFill>
                <a:latin typeface="Microsoft YaHei"/>
                <a:ea typeface="Microsoft YaHei"/>
              </a:rPr>
              <a:t> 8331 → 8523</a:t>
            </a:r>
            <a:r>
              <a:rPr lang="zh-CN" sz="1088">
                <a:solidFill>
                  <a:srgbClr val="3B82F6"/>
                </a:solidFill>
                <a:latin typeface="Microsoft YaHei"/>
                <a:ea typeface="Microsoft YaHei"/>
              </a:rPr>
              <a:t>（</a:t>
            </a:r>
            <a:r>
              <a:rPr lang="en-US" sz="1088">
                <a:solidFill>
                  <a:srgbClr val="3B82F6"/>
                </a:solidFill>
                <a:latin typeface="Microsoft YaHei"/>
                <a:ea typeface="Microsoft YaHei"/>
              </a:rPr>
              <a:t>+22</a:t>
            </a:r>
            <a:r>
              <a:rPr lang="zh-CN" sz="1088">
                <a:solidFill>
                  <a:srgbClr val="3B82F6"/>
                </a:solidFill>
                <a:latin typeface="Microsoft YaHei"/>
                <a:ea typeface="Microsoft YaHei"/>
              </a:rPr>
              <a:t>），跨内存</a:t>
            </a:r>
            <a:r>
              <a:rPr lang="en-US" sz="1088">
                <a:solidFill>
                  <a:srgbClr val="3B82F6"/>
                </a:solidFill>
                <a:latin typeface="Microsoft YaHei"/>
                <a:ea typeface="Microsoft YaHei"/>
              </a:rPr>
              <a:t> / </a:t>
            </a:r>
            <a:r>
              <a:rPr lang="zh-CN" sz="1088">
                <a:solidFill>
                  <a:srgbClr val="3B82F6"/>
                </a:solidFill>
                <a:latin typeface="Microsoft YaHei"/>
                <a:ea typeface="Microsoft YaHei"/>
              </a:rPr>
              <a:t>跨进程</a:t>
            </a:r>
            <a:r>
              <a:rPr lang="en-US" sz="1088">
                <a:solidFill>
                  <a:srgbClr val="3B82F6"/>
                </a:solidFill>
                <a:latin typeface="Microsoft YaHei"/>
                <a:ea typeface="Microsoft YaHei"/>
              </a:rPr>
              <a:t> / </a:t>
            </a:r>
            <a:r>
              <a:rPr lang="zh-CN" sz="1088">
                <a:solidFill>
                  <a:srgbClr val="3B82F6"/>
                </a:solidFill>
                <a:latin typeface="Microsoft YaHei"/>
                <a:ea typeface="Microsoft YaHei"/>
              </a:rPr>
              <a:t>验收三层都有对应断言。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210300" y="990600"/>
            <a:ext cx="5372100" cy="4772025"/>
          </a:xfrm>
          <a:prstGeom prst="roundRect">
            <a:avLst>
              <a:gd name="adj" fmla="val 2395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419850" y="1162050"/>
            <a:ext cx="495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F4444"/>
                </a:solidFill>
                <a:latin typeface="Microsoft YaHei"/>
                <a:ea typeface="Microsoft YaHei"/>
              </a:rPr>
              <a:t>缺口二：关口功率口径不一致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419850" y="1476375"/>
            <a:ext cx="4953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现象：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防逆流和变压器过载都吃关口功率，但三个适配器一个读电表、两个本地三路相减——两源可差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40 kW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419850" y="2105025"/>
            <a:ext cx="4953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修法：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统一为「只读电表点」；模拟器注入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40 kW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电表偏差，让「两源不一致」可被表达、可被断言。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419850" y="5057775"/>
            <a:ext cx="4953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3B82F6"/>
                </a:solidFill>
                <a:latin typeface="Microsoft YaHei"/>
                <a:ea typeface="Microsoft YaHei"/>
              </a:rPr>
              <a:t>证据：</a:t>
            </a:r>
            <a:r>
              <a:rPr lang="zh-CN" sz="1088">
                <a:solidFill>
                  <a:srgbClr val="3B82F6"/>
                </a:solidFill>
                <a:latin typeface="Microsoft YaHei"/>
                <a:ea typeface="Microsoft YaHei"/>
              </a:rPr>
              <a:t>断言</a:t>
            </a:r>
            <a:r>
              <a:rPr lang="en-US" sz="1088">
                <a:solidFill>
                  <a:srgbClr val="3B82F6"/>
                </a:solidFill>
                <a:latin typeface="Microsoft YaHei"/>
                <a:ea typeface="Microsoft YaHei"/>
              </a:rPr>
              <a:t> 8523 → 8547</a:t>
            </a:r>
            <a:r>
              <a:rPr lang="zh-CN" sz="1088">
                <a:solidFill>
                  <a:srgbClr val="3B82F6"/>
                </a:solidFill>
                <a:latin typeface="Microsoft YaHei"/>
                <a:ea typeface="Microsoft YaHei"/>
              </a:rPr>
              <a:t>（</a:t>
            </a:r>
            <a:r>
              <a:rPr lang="en-US" sz="1088">
                <a:solidFill>
                  <a:srgbClr val="3B82F6"/>
                </a:solidFill>
                <a:latin typeface="Microsoft YaHei"/>
                <a:ea typeface="Microsoft YaHei"/>
              </a:rPr>
              <a:t>+24</a:t>
            </a:r>
            <a:r>
              <a:rPr lang="zh-CN" sz="1088">
                <a:solidFill>
                  <a:srgbClr val="3B82F6"/>
                </a:solidFill>
                <a:latin typeface="Microsoft YaHei"/>
                <a:ea typeface="Microsoft YaHei"/>
              </a:rPr>
              <a:t>）；跨语言实测电表读数</a:t>
            </a:r>
            <a:r>
              <a:rPr lang="en-US" sz="1088">
                <a:solidFill>
                  <a:srgbClr val="3B82F6"/>
                </a:solidFill>
                <a:latin typeface="Microsoft YaHei"/>
                <a:ea typeface="Microsoft YaHei"/>
              </a:rPr>
              <a:t> 232 vs </a:t>
            </a:r>
            <a:r>
              <a:rPr lang="zh-CN" sz="1088">
                <a:solidFill>
                  <a:srgbClr val="3B82F6"/>
                </a:solidFill>
                <a:latin typeface="Microsoft YaHei"/>
                <a:ea typeface="Microsoft YaHei"/>
              </a:rPr>
              <a:t>三路相减</a:t>
            </a:r>
            <a:r>
              <a:rPr lang="en-US" sz="1088">
                <a:solidFill>
                  <a:srgbClr val="3B82F6"/>
                </a:solidFill>
                <a:latin typeface="Microsoft YaHei"/>
                <a:ea typeface="Microsoft YaHei"/>
              </a:rPr>
              <a:t> 230</a:t>
            </a:r>
            <a:r>
              <a:rPr lang="zh-CN" sz="1088">
                <a:solidFill>
                  <a:srgbClr val="3B82F6"/>
                </a:solidFill>
                <a:latin typeface="Microsoft YaHei"/>
                <a:ea typeface="Microsoft YaHei"/>
              </a:rPr>
              <a:t>，差值直接可观测。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38175" y="5876925"/>
            <a:ext cx="10972800" cy="447675"/>
          </a:xfrm>
          <a:prstGeom prst="roundRect">
            <a:avLst>
              <a:gd name="adj" fmla="val 17021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638175" y="5876925"/>
            <a:ext cx="10972800" cy="447675"/>
          </a:xfrm>
          <a:custGeom>
            <a:pathLst>
              <a:path w="1152" h="4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2"/>
                </a:lnTo>
                <a:cubicBezTo>
                  <a:pt x="3" y="44"/>
                  <a:pt x="5" y="46"/>
                  <a:pt x="7" y="47"/>
                </a:cubicBezTo>
                <a:cubicBezTo>
                  <a:pt x="3" y="46"/>
                  <a:pt x="0" y="43"/>
                  <a:pt x="0" y="3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90575" y="5972175"/>
            <a:ext cx="106394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为什么关口功率必须只读电表：它是防逆流和变压器过载的共同输入，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口径错就是系统性错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——本地重算省一次读点，赔上的是整个安全判据的可信度。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两天工作全量讲解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06 / 16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84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内部线 ①：一组 8 个点，必须「要么全旧、要么全新」&#10;        &lt;/Text&gt;&#10;        &lt;Text style={{ fontSize: 16, color: '#64748B', fontFamily: 'Microsoft YaHei' }}&gt;&#10;            共享内存只保证单点不撕裂——挡不住「新的上界配旧的下界」&#10;        &lt;/Text&gt;&#10;    &lt;/Box&gt;&#10;    &lt;Box style={{ flex: 1, display: 'flex', flexDirection: 'row', alignItems: 'center', justifyContent: 'center' }}&gt;&#10;        &lt;Image src=&quot;assets/ext_protocol.png&quot; style={{ width: 1000, height: 507 }} /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两天工作全量讲解&lt;/Text&gt;&#10;        &lt;Text style={{ fontSize: 14, color: '#64748B', fontFamily: 'Consolas' }}&gt;07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内部线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①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：一组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8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个点，必须「要么全旧、要么全新」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共享内存只保证单点不撕裂——挡不住「新的上界配旧的下界」</a:t>
            </a:r>
            <a:endParaRPr/>
          </a:p>
        </p:txBody>
      </p:sp>
      <p:pic>
        <p:nvPicPr>
          <p:cNvPr id="288" name=""/>
          <p:cNvPicPr>
            <a:picLocks noChangeAspect="1"/>
          </p:cNvPicPr>
          <p:nvPr/>
        </p:nvPicPr>
        <p:blipFill>
          <a:blip r:embed="rId1"/>
          <a:srcRect l="0" t="2" r="0" b="2"/>
          <a:stretch>
            <a:fillRect/>
          </a:stretch>
        </p:blipFill>
        <p:spPr>
          <a:xfrm rot="0" flipH="0" flipV="0">
            <a:off x="1333500" y="1247775"/>
            <a:ext cx="9525000" cy="4829175"/>
          </a:xfrm>
          <a:prstGeom prst="rect">
            <a:avLst/>
          </a:prstGeom>
          <a:ln/>
        </p:spPr>
      </p:pic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两天工作全量讲解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07 / 16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91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内部线 ②：跨进程联调——三处单进程照不出来的真实缺陷&#10;        &lt;/Text&gt;&#10;        &lt;Text style={{ fontSize: 16, color: '#64748B', fontFamily: 'Microsoft YaHei' }}&gt;&#10;            补通路前先自问：这条路上有几步是测试夹具替我做的？&#10;        &lt;/Text&gt;&#10;    &lt;/Box&gt;&#10;    &lt;Box style={{ flex: 1, display: 'flex', flexDirection: 'row', alignItems: 'center', justifyContent: 'center' }}&gt;&#10;        &lt;Image src=&quot;assets/crossproc.png&quot; style={{ width: 1080, height: 539 }} /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两天工作全量讲解&lt;/Text&gt;&#10;        &lt;Text style={{ fontSize: 14, color: '#64748B', fontFamily: 'Consolas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内部线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②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：跨进程联调——三处单进程照不出来的真实缺陷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补通路前先自问：这条路上有几步是测试夹具替我做的？</a:t>
            </a:r>
            <a:endParaRPr/>
          </a:p>
        </p:txBody>
      </p:sp>
      <p:pic>
        <p:nvPicPr>
          <p:cNvPr id="295" name=""/>
          <p:cNvPicPr>
            <a:picLocks noChangeAspect="1"/>
          </p:cNvPicPr>
          <p:nvPr/>
        </p:nvPicPr>
        <p:blipFill>
          <a:blip r:embed="rId1"/>
          <a:srcRect l="7" t="0" r="7" b="0"/>
          <a:stretch>
            <a:fillRect/>
          </a:stretch>
        </p:blipFill>
        <p:spPr>
          <a:xfrm rot="0" flipH="0" flipV="0">
            <a:off x="952500" y="1095375"/>
            <a:ext cx="10287000" cy="5133975"/>
          </a:xfrm>
          <a:prstGeom prst="rect">
            <a:avLst/>
          </a:prstGeom>
          <a:ln/>
        </p:spPr>
      </p:pic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两天工作全量讲解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08 / 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98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调度线 ①：调度网关（IEC 104 从站）与转发表外置&#10;        &lt;/Text&gt;&#10;        &lt;Text style={{ fontSize: 16, color: '#64748B', fontFamily: 'Microsoft YaHei' }}&gt;&#10;            对上接调度 / 虚拟电厂：真实 TCP、真实报文、真实遥控遥调时序&#10;        &lt;/Text&gt;&#10;    &lt;/Box&gt;&#10;    &lt;Box style={{ flex: 1, display: 'flex', flexDirection: 'row', gap: 24, alignItems: 'stretch' }}&gt;&#10;        &lt;Box style={{ flex: 1, padding: '18px 22px', background: '#EFF6FF', borderRadius: 12, border: '1px solid #3B82F6', display: 'flex', flexDirection: 'column', gap: 9 }}&gt;&#10;            &lt;Text style={{ fontSize: 19, fontWeight: 'bold', color: '#3B82F6', fontFamily: 'Microsoft YaHei' }}&gt;&#10;                调度网关：把调度指令变成总线上的 8 个点&#10;            &lt;/Text&gt;&#10;            &lt;Text style={{ fontSize: 14.5, color: '#1A1A1A', fontFamily: 'Microsoft YaHei', lineHeight: 1.6 }}&gt;&#10;                · 单向写 8 点「外来指令区」；对 EMS 的数据纯只读——网关不可能改量测、改配置&#10;            &lt;/Text&gt;&#10;            &lt;Text style={{ fontSize: 14.5, color: '#1A1A1A', fontFamily: 'Microsoft YaHei', lineHeight: 1.6 }}&gt;&#10;                · 品质标志真实反映设备状态：在线全 GOOD、停止全 NT——主站看到的不撒谎&#10;            &lt;/Text&gt;&#10;            &lt;Text style={{ fontSize: 14.5, color: '#1A1A1A', fontFamily: 'Microsoft YaHei', lineHeight: 1.6 }}&gt;&#10;                · 没验证过的遥控一律否定确认——不假装「已执行」&#10;            &lt;/Text&gt;&#10;            &lt;Text style={{ fontSize: 14.5, color: '#3B82F6', fontFamily: 'Microsoft YaHei', lineHeight: 1.6, marginTop: 'auto', fontWeight: 600 }}&gt;&#10;                结果：协议层 408 + 落点层 121 断言；落点层 121 条「不注入任何东西」专防测试盲区&#10;            &lt;/Text&gt;&#10;        &lt;/Box&gt;&#10;        &lt;Box style={{ flex: 1, padding: '18px 22px', background: '#F1F5F9', borderRadius: 12, border: '1px solid #06B6D4', display: 'flex', flexDirection: 'column', gap: 9 }}&gt;&#10;            &lt;Text style={{ fontSize: 19, fontWeight: 'bold', color: '#06B6D4', fontFamily: 'Microsoft YaHei' }}&gt;&#10;                转发表外置：CA/IOA 映射从代码搬进数据文件&#10;            &lt;/Text&gt;&#10;            &lt;Text style={{ fontSize: 14.5, color: '#1A1A1A', fontFamily: 'Microsoft YaHei', lineHeight: 1.6 }}&gt;&#10;                · 为什么：转发表每个现场不同——让现场为改一个 IOA 去重编 C++，不可接受&#10;            &lt;/Text&gt;&#10;            &lt;Text style={{ fontSize: 14.5, color: '#1A1A1A', fontFamily: 'Microsoft YaHei', lineHeight: 1.6 }}&gt;&#10;                · 怎么做：加载后走与内置表同一套自检，任一条不过整体回退——绝不「加载一半就跑」&#10;            &lt;/Text&gt;&#10;            &lt;Text style={{ fontSize: 14.5, color: '#1A1A1A', fontFamily: 'Microsoft YaHei', lineHeight: 1.6 }}&gt;&#10;                · 互为镜像：随程序提供的样例文件与内置默认表逐字段对账，谁改了一边立刻露馅&#10;            &lt;/Text&gt;&#10;            &lt;Text style={{ fontSize: 14.5, color: '#06B6D4', fontFamily: 'Microsoft YaHei', lineHeight: 1.6, marginTop: 'auto', fontWeight: 600 }}&gt;&#10;                结果：+28 断言；基线 9276 → 9304（本轮最后一步）&#10;            &lt;/Text&gt;&#10;        &lt;/Box&gt;&#10;    &lt;/Box&gt;&#10;    &lt;Box style={{ marginTop: 12, padding: '10px 16px', background: '#FEF2F2', borderRadius: 8, borderLeft: '3px solid #EF4444' }}&gt;&#10;        &lt;Text style={{ fontSize: 14, color: '#1A1A1A', fontFamily: 'Microsoft YaHei', lineHeight: 1.6 }}&gt;&#10;            端到端实测：主站模拟器下发「停机」→ 网关写外来指令区 → EMS 把安全区间收成 [0, 0]，&lt;Text style={{ fontSize: 14, fontWeight: 600, color: '#1A1A1A', fontFamily: 'Microsoft YaHei' }}&gt;600 / 600 拍全部命中&lt;/Text&gt;。&#10;        &lt;/Text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两天工作全量讲解&lt;/Text&gt;&#10;        &lt;Text style={{ fontSize: 14, color: '#64748B', fontFamily: 'Consolas' }}&gt;09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调度线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①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：调度网关（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IEC 104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从站）与转发表外置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对上接调度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虚拟电厂：真实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TCP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、真实报文、真实遥控遥调时序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609600" y="990600"/>
            <a:ext cx="5372100" cy="4772025"/>
          </a:xfrm>
          <a:prstGeom prst="roundRect">
            <a:avLst>
              <a:gd name="adj" fmla="val 239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19150" y="1162050"/>
            <a:ext cx="495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B82F6"/>
                </a:solidFill>
                <a:latin typeface="Microsoft YaHei"/>
                <a:ea typeface="Microsoft YaHei"/>
              </a:rPr>
              <a:t>调度网关：把调度指令变成总线上的</a:t>
            </a:r>
            <a:r>
              <a:rPr lang="en-US" sz="1425" b="1">
                <a:solidFill>
                  <a:srgbClr val="3B82F6"/>
                </a:solidFill>
                <a:latin typeface="Microsoft YaHei"/>
                <a:ea typeface="Microsoft YaHei"/>
              </a:rPr>
              <a:t> 8 </a:t>
            </a:r>
            <a:r>
              <a:rPr lang="zh-CN" sz="1425" b="1">
                <a:solidFill>
                  <a:srgbClr val="3B82F6"/>
                </a:solidFill>
                <a:latin typeface="Microsoft YaHei"/>
                <a:ea typeface="Microsoft YaHei"/>
              </a:rPr>
              <a:t>个点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19150" y="1466850"/>
            <a:ext cx="4953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单向写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8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点「外来指令区」；对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EMS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的数据纯只读——网关不可能改量测、改配置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19150" y="2085975"/>
            <a:ext cx="49530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品质标志真实反映设备状态：在线全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GOOD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、停止全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NT——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主站看到的不撒谎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19150" y="2438400"/>
            <a:ext cx="49530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没验证过的遥控一律否定确认——不假装「已执行」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19150" y="5057775"/>
            <a:ext cx="4953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 b="1">
                <a:solidFill>
                  <a:srgbClr val="3B82F6"/>
                </a:solidFill>
                <a:latin typeface="Microsoft YaHei"/>
                <a:ea typeface="Microsoft YaHei"/>
              </a:rPr>
              <a:t>结果：协议层</a:t>
            </a:r>
            <a:r>
              <a:rPr lang="en-US" sz="1088" b="1">
                <a:solidFill>
                  <a:srgbClr val="3B82F6"/>
                </a:solidFill>
                <a:latin typeface="Microsoft YaHei"/>
                <a:ea typeface="Microsoft YaHei"/>
              </a:rPr>
              <a:t> 408 + </a:t>
            </a:r>
            <a:r>
              <a:rPr lang="zh-CN" sz="1088" b="1">
                <a:solidFill>
                  <a:srgbClr val="3B82F6"/>
                </a:solidFill>
                <a:latin typeface="Microsoft YaHei"/>
                <a:ea typeface="Microsoft YaHei"/>
              </a:rPr>
              <a:t>落点层</a:t>
            </a:r>
            <a:r>
              <a:rPr lang="en-US" sz="1088" b="1">
                <a:solidFill>
                  <a:srgbClr val="3B82F6"/>
                </a:solidFill>
                <a:latin typeface="Microsoft YaHei"/>
                <a:ea typeface="Microsoft YaHei"/>
              </a:rPr>
              <a:t> 121 </a:t>
            </a:r>
            <a:r>
              <a:rPr lang="zh-CN" sz="1088" b="1">
                <a:solidFill>
                  <a:srgbClr val="3B82F6"/>
                </a:solidFill>
                <a:latin typeface="Microsoft YaHei"/>
                <a:ea typeface="Microsoft YaHei"/>
              </a:rPr>
              <a:t>断言；落点层</a:t>
            </a:r>
            <a:r>
              <a:rPr lang="en-US" sz="1088" b="1">
                <a:solidFill>
                  <a:srgbClr val="3B82F6"/>
                </a:solidFill>
                <a:latin typeface="Microsoft YaHei"/>
                <a:ea typeface="Microsoft YaHei"/>
              </a:rPr>
              <a:t> 121 </a:t>
            </a:r>
            <a:r>
              <a:rPr lang="zh-CN" sz="1088" b="1">
                <a:solidFill>
                  <a:srgbClr val="3B82F6"/>
                </a:solidFill>
                <a:latin typeface="Microsoft YaHei"/>
                <a:ea typeface="Microsoft YaHei"/>
              </a:rPr>
              <a:t>条「不注入任何东西」专防测试盲区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210300" y="990600"/>
            <a:ext cx="5372100" cy="4772025"/>
          </a:xfrm>
          <a:prstGeom prst="roundRect">
            <a:avLst>
              <a:gd name="adj" fmla="val 2395"/>
            </a:avLst>
          </a:prstGeom>
          <a:solidFill>
            <a:srgbClr val="F1F5F9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419850" y="1162050"/>
            <a:ext cx="495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B6D4"/>
                </a:solidFill>
                <a:latin typeface="Microsoft YaHei"/>
                <a:ea typeface="Microsoft YaHei"/>
              </a:rPr>
              <a:t>转发表外置：</a:t>
            </a:r>
            <a:r>
              <a:rPr lang="en-US" sz="1425" b="1">
                <a:solidFill>
                  <a:srgbClr val="06B6D4"/>
                </a:solidFill>
                <a:latin typeface="Microsoft YaHei"/>
                <a:ea typeface="Microsoft YaHei"/>
              </a:rPr>
              <a:t>CA/IOA </a:t>
            </a:r>
            <a:r>
              <a:rPr lang="zh-CN" sz="1425" b="1">
                <a:solidFill>
                  <a:srgbClr val="06B6D4"/>
                </a:solidFill>
                <a:latin typeface="Microsoft YaHei"/>
                <a:ea typeface="Microsoft YaHei"/>
              </a:rPr>
              <a:t>映射从代码搬进数据文件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419850" y="1466850"/>
            <a:ext cx="49530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为什么：转发表每个现场不同——让现场为改一个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IOA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去重编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C++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，不可接受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419850" y="1819275"/>
            <a:ext cx="4953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怎么做：加载后走与内置表同一套自检，任一条不过整体回退——绝不「加载一半就跑」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419850" y="2438400"/>
            <a:ext cx="4953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互为镜像：随程序提供的样例文件与内置默认表逐字段对账，谁改了一边立刻露馅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419850" y="5324475"/>
            <a:ext cx="49530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 b="1">
                <a:solidFill>
                  <a:srgbClr val="06B6D4"/>
                </a:solidFill>
                <a:latin typeface="Microsoft YaHei"/>
                <a:ea typeface="Microsoft YaHei"/>
              </a:rPr>
              <a:t>结果：</a:t>
            </a:r>
            <a:r>
              <a:rPr lang="en-US" sz="1088" b="1">
                <a:solidFill>
                  <a:srgbClr val="06B6D4"/>
                </a:solidFill>
                <a:latin typeface="Microsoft YaHei"/>
                <a:ea typeface="Microsoft YaHei"/>
              </a:rPr>
              <a:t>+28 </a:t>
            </a:r>
            <a:r>
              <a:rPr lang="zh-CN" sz="1088" b="1">
                <a:solidFill>
                  <a:srgbClr val="06B6D4"/>
                </a:solidFill>
                <a:latin typeface="Microsoft YaHei"/>
                <a:ea typeface="Microsoft YaHei"/>
              </a:rPr>
              <a:t>断言；基线</a:t>
            </a:r>
            <a:r>
              <a:rPr lang="en-US" sz="1088" b="1">
                <a:solidFill>
                  <a:srgbClr val="06B6D4"/>
                </a:solidFill>
                <a:latin typeface="Microsoft YaHei"/>
                <a:ea typeface="Microsoft YaHei"/>
              </a:rPr>
              <a:t> 9276 → 9304</a:t>
            </a:r>
            <a:r>
              <a:rPr lang="zh-CN" sz="1088" b="1">
                <a:solidFill>
                  <a:srgbClr val="06B6D4"/>
                </a:solidFill>
                <a:latin typeface="Microsoft YaHei"/>
                <a:ea typeface="Microsoft YaHei"/>
              </a:rPr>
              <a:t>（本轮最后一步）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638175" y="5876925"/>
            <a:ext cx="10972800" cy="447675"/>
          </a:xfrm>
          <a:prstGeom prst="roundRect">
            <a:avLst>
              <a:gd name="adj" fmla="val 17021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315" name=""/>
          <p:cNvSpPr/>
          <p:nvPr/>
        </p:nvSpPr>
        <p:spPr>
          <a:xfrm rot="0" flipH="0" flipV="0">
            <a:off x="638175" y="5876925"/>
            <a:ext cx="10972800" cy="447675"/>
          </a:xfrm>
          <a:custGeom>
            <a:pathLst>
              <a:path w="1152" h="4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2"/>
                </a:lnTo>
                <a:cubicBezTo>
                  <a:pt x="3" y="44"/>
                  <a:pt x="5" y="46"/>
                  <a:pt x="7" y="47"/>
                </a:cubicBezTo>
                <a:cubicBezTo>
                  <a:pt x="3" y="46"/>
                  <a:pt x="0" y="43"/>
                  <a:pt x="0" y="3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790575" y="5972175"/>
            <a:ext cx="106394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端到端实测：主站模拟器下发「停机」→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网关写外来指令区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→ EMS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把安全区间收成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[0, 0]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600 / 600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拍全部命中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两天工作全量讲解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09 / 16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9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调度线 ②：外来指令接进安全链——第 10 条约束&#10;        &lt;/Text&gt;&#10;        &lt;Text style={{ fontSize: 16, color: '#64748B', fontFamily: 'Microsoft YaHei' }}&gt;&#10;            位置有讲究：9 条收敛之后、矛盾检查之前；只收紧、不放宽&#10;        &lt;/Text&gt;&#10;    &lt;/Box&gt;&#10;    &lt;Box style={{ flex: 1, display: 'flex', flexDirection: 'row', alignItems: 'center', justifyContent: 'center' }}&gt;&#10;        &lt;Image src=&quot;assets/safety_chain.png&quot; style={{ width: 1100, height: 515 }} /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两天工作全量讲解&lt;/Text&gt;&#10;        &lt;Text style={{ fontSize: 14, color: '#64748B', fontFamily: 'Consolas' }}&gt;10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调度线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②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：外来指令接进安全链——第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10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条约束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位置有讲究：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9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条收敛之后、矛盾检查之前；只收紧、不放宽</a:t>
            </a:r>
            <a:endParaRPr/>
          </a:p>
        </p:txBody>
      </p:sp>
      <p:pic>
        <p:nvPicPr>
          <p:cNvPr id="23" name=""/>
          <p:cNvPicPr>
            <a:picLocks noChangeAspect="1"/>
          </p:cNvPicPr>
          <p:nvPr/>
        </p:nvPicPr>
        <p:blipFill>
          <a:blip r:embed="rId1"/>
          <a:srcRect l="0" t="4" r="0" b="4"/>
          <a:stretch>
            <a:fillRect/>
          </a:stretch>
        </p:blipFill>
        <p:spPr>
          <a:xfrm rot="0" flipH="0" flipV="0">
            <a:off x="857250" y="1209675"/>
            <a:ext cx="10477500" cy="4905375"/>
          </a:xfrm>
          <a:prstGeom prst="rect">
            <a:avLst/>
          </a:prstGeom>
          <a:ln/>
        </p:spPr>
      </p:pic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两天工作全量讲解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6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验路 ①：测试从一层变五层，基线九连涨&#10;        &lt;/Text&gt;&#10;        &lt;Text style={{ fontSize: 16, color: '#64748B', fontFamily: 'Microsoft YaHei' }}&gt;&#10;            每一层专门覆盖上一层覆盖不了的东西&#10;        &lt;/Text&gt;&#10;    &lt;/Box&gt;&#10;    &lt;Box style={{ flex: 1, display: 'flex', flexDirection: 'row', gap: 26, alignItems: 'center' }}&gt;&#10;        &lt;Box style={{ width: 560, display: 'flex', flexDirection: 'column', gap: 12, alignItems: 'center' }}&gt;&#10;            &lt;Image src=&quot;assets/test_pyramid.png&quot; style={{ width: 560, height: 243 }} /&gt;&#10;            &lt;Image src=&quot;assets/baseline.png&quot; style={{ width: 560, height: 239 }} /&gt;&#10;        &lt;/Box&gt;&#10;        &lt;Box style={{ flex: 1, display: 'flex', flexDirection: 'column', gap: 9 }}&gt;&#10;            &lt;Box style={{ display: 'flex', flexDirection: 'row', gap: 10, alignItems: 'flex-start' }}&gt;&#10;                &lt;Text style={{ width: 118, fontSize: 15, fontWeight: 'bold', color: '#3B82F6', fontFamily: 'Microsoft YaHei' }}&gt;① 单元+协议&lt;/Text&gt;&#10;                &lt;Text style={{ flex: 1, fontSize: 14, color: '#64748B', fontFamily: 'Microsoft YaHei', lineHeight: 1.5 }}&gt;9026 条：各模块纯逻辑 + 协议层，秒级出结果&lt;/Text&gt;&#10;            &lt;/Box&gt;&#10;            &lt;Box style={{ display: 'flex', flexDirection: 'row', gap: 10, alignItems: 'flex-start' }}&gt;&#10;                &lt;Text style={{ width: 118, fontSize: 15, fontWeight: 'bold', color: '#3B82F6', fontFamily: 'Microsoft YaHei' }}&gt;② 跨进程&lt;/Text&gt;&#10;                &lt;Text style={{ flex: 1, fontSize: 14, color: '#64748B', fontFamily: 'Microsoft YaHei', lineHeight: 1.5 }}&gt;152 条：真进程×3 读写同一块共享内存——夹具替不了的那段&lt;/Text&gt;&#10;            &lt;/Box&gt;&#10;            &lt;Box style={{ display: 'flex', flexDirection: 'row', gap: 10, alignItems: 'flex-start' }}&gt;&#10;                &lt;Text style={{ width: 118, fontSize: 15, fontWeight: 'bold', color: '#3B82F6', fontFamily: 'Microsoft YaHei' }}&gt;③ 跨内存落点&lt;/Text&gt;&#10;                &lt;Text style={{ flex: 1, fontSize: 14, color: '#64748B', fontFamily: 'Microsoft YaHei', lineHeight: 1.5 }}&gt;121 条：不注入任何东西，真写者、真 API、按名字反查&lt;/Text&gt;&#10;            &lt;/Box&gt;&#10;            &lt;Box style={{ display: 'flex', flexDirection: 'row', gap: 10, alignItems: 'flex-start' }}&gt;&#10;                &lt;Text style={{ width: 118, fontSize: 15, fontWeight: 'bold', color: '#3B82F6', fontFamily: 'Microsoft YaHei' }}&gt;④ 跨语言&lt;/Text&gt;&#10;                &lt;Text style={{ flex: 1, fontSize: 14, color: '#64748B', fontFamily: 'Microsoft YaHei', lineHeight: 1.5 }}&gt;83 条：对第三方 pymodbus 真对端（默认环境跳过 7 条、计 5）&lt;/Text&gt;&#10;            &lt;/Box&gt;&#10;            &lt;Box style={{ display: 'flex', flexDirection: 'row', gap: 10, alignItems: 'flex-start' }}&gt;&#10;                &lt;Text style={{ width: 118, fontSize: 15, fontWeight: 'bold', color: '#06B6D4', fontFamily: 'Microsoft YaHei' }}&gt;⑤ 端到端+验收&lt;/Text&gt;&#10;                &lt;Text style={{ flex: 1, fontSize: 14, color: '#64748B', fontFamily: 'Microsoft YaHei', lineHeight: 1.5 }}&gt;55/55：五进程闭环 600 拍 + 七维度交付门禁&lt;/Text&gt;&#10;            &lt;/Box&gt;&#10;            &lt;Box style={{ marginTop: 6, padding: '11px 14px', background: '#EFF6FF', borderRadius: 8, borderLeft: '3px solid #3B82F6' }}&gt;&#10;                &lt;Text style={{ fontSize: 14, color: '#1A1A1A', fontFamily: 'Microsoft YaHei', lineHeight: 1.6 }}&gt;&#10;                    合计 9382；默认口径 9304（差 78 = 跨语言 83−5）。&lt;Text style={{ fontSize: 14, fontWeight: 600, color: '#1A1A1A', fontFamily: 'Microsoft YaHei' }}&gt;19 个测试目标逐项实跑，与基线逐位一致，9304 加总闭合&lt;/Text&gt;——报告必须写清用哪个口径。&#10;                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两天工作全量讲解&lt;/Text&gt;&#10;        &lt;Text style={{ fontSize: 14, color: '#64748B', fontFamily: 'Consolas' }}&gt;11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验路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①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：测试从一层变五层，基线九连涨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每一层专门覆盖上一层覆盖不了的东西</a:t>
            </a:r>
            <a:endParaRPr/>
          </a:p>
        </p:txBody>
      </p:sp>
      <p:pic>
        <p:nvPicPr>
          <p:cNvPr id="30" name=""/>
          <p:cNvPicPr>
            <a:picLocks noChangeAspect="1"/>
          </p:cNvPicPr>
          <p:nvPr/>
        </p:nvPicPr>
        <p:blipFill>
          <a:blip r:embed="rId1"/>
          <a:srcRect l="0" t="92" r="0" b="92"/>
          <a:stretch>
            <a:fillRect/>
          </a:stretch>
        </p:blipFill>
        <p:spPr>
          <a:xfrm rot="0" flipH="0" flipV="0">
            <a:off x="609600" y="1304925"/>
            <a:ext cx="5334000" cy="2314575"/>
          </a:xfrm>
          <a:prstGeom prst="rect">
            <a:avLst/>
          </a:prstGeom>
          <a:ln/>
        </p:spPr>
      </p:pic>
      <p:pic>
        <p:nvPicPr>
          <p:cNvPr id="31" name=""/>
          <p:cNvPicPr>
            <a:picLocks noChangeAspect="1"/>
          </p:cNvPicPr>
          <p:nvPr/>
        </p:nvPicPr>
        <p:blipFill>
          <a:blip r:embed="rId2"/>
          <a:srcRect l="0" t="83" r="0" b="83"/>
          <a:stretch>
            <a:fillRect/>
          </a:stretch>
        </p:blipFill>
        <p:spPr>
          <a:xfrm rot="0" flipH="0" flipV="0">
            <a:off x="609600" y="3733800"/>
            <a:ext cx="5334000" cy="2276475"/>
          </a:xfrm>
          <a:prstGeom prst="rect">
            <a:avLst/>
          </a:prstGeom>
          <a:ln/>
        </p:spPr>
      </p:pic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191250" y="24384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① 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+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协议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410450" y="243840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9026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条：各模块纯逻辑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协议层，秒级出结果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191250" y="2771775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② 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跨进程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410450" y="2771775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152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条：真进程×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3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读写同一块共享内存——夹具替不了的那段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191250" y="310515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③ 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跨内存落点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410450" y="310515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121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条：不注入任何东西，真写者、真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API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、按名字反查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191250" y="3438525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④ 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跨语言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410450" y="3438525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83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条：对第三方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pymodbus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真对端（默认环境跳过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7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条、计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5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191250" y="37719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6B6D4"/>
                </a:solidFill>
                <a:latin typeface="Microsoft YaHei"/>
                <a:ea typeface="Microsoft YaHei"/>
              </a:rPr>
              <a:t>⑤ </a:t>
            </a:r>
            <a:r>
              <a:rPr lang="zh-CN" sz="1125" b="1">
                <a:solidFill>
                  <a:srgbClr val="06B6D4"/>
                </a:solidFill>
                <a:latin typeface="Microsoft YaHei"/>
                <a:ea typeface="Microsoft YaHei"/>
              </a:rPr>
              <a:t>端到端</a:t>
            </a:r>
            <a:r>
              <a:rPr lang="en-US" sz="1125" b="1">
                <a:solidFill>
                  <a:srgbClr val="06B6D4"/>
                </a:solidFill>
                <a:latin typeface="Microsoft YaHei"/>
                <a:ea typeface="Microsoft YaHei"/>
              </a:rPr>
              <a:t>+</a:t>
            </a:r>
            <a:r>
              <a:rPr lang="zh-CN" sz="1125" b="1">
                <a:solidFill>
                  <a:srgbClr val="06B6D4"/>
                </a:solidFill>
                <a:latin typeface="Microsoft YaHei"/>
                <a:ea typeface="Microsoft YaHei"/>
              </a:rPr>
              <a:t>验收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410450" y="3771900"/>
            <a:ext cx="4171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55/55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：五进程闭环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600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拍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七维度交付门禁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219825" y="4162425"/>
            <a:ext cx="5391150" cy="72390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6219825" y="4162425"/>
            <a:ext cx="5391150" cy="723900"/>
          </a:xfrm>
          <a:custGeom>
            <a:pathLst>
              <a:path w="566" h="7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71"/>
                </a:lnTo>
                <a:cubicBezTo>
                  <a:pt x="3" y="73"/>
                  <a:pt x="5" y="75"/>
                  <a:pt x="7" y="76"/>
                </a:cubicBezTo>
                <a:cubicBezTo>
                  <a:pt x="3" y="75"/>
                  <a:pt x="0" y="72"/>
                  <a:pt x="0" y="6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353175" y="4267200"/>
            <a:ext cx="50958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合计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9382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；默认口径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9304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（差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78 =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跨语言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83−5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）。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19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个测试目标逐项实跑，与基线逐位一致，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9304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加总闭合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——报告必须写清用哪个口径。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两天工作全量讲解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7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验路 ②：判据反证 8 次 · 五进程闭环 600 拍 · 假红 18 条&#10;        &lt;/Text&gt;&#10;        &lt;Text style={{ fontSize: 16, color: '#64748B', fontFamily: 'Microsoft YaHei' }}&gt;&#10;            测试全绿 ≠ 测试有效——每批判据都当场故意改坏一次，确认它真的会红&#10;        &lt;/Text&gt;&#10;    &lt;/Box&gt;&#10;    &lt;Box style={{ flex: 1, display: 'flex', flexDirection: 'row', gap: 24, alignItems: 'center' }}&gt;&#10;        &lt;Box style={{ width: 620, display: 'flex', flexDirection: 'column', gap: 10 }}&gt;&#10;            &lt;Image src=&quot;assets/test_refute.png&quot; style={{ width: 620, height: 217 }} /&gt;&#10;            &lt;Box style={{ padding: '11px 14px', background: '#EFF6FF', borderRadius: 8, borderLeft: '3px solid #3B82F6' }}&gt;&#10;                &lt;Text style={{ fontSize: 13.5, color: '#1A1A1A', fontFamily: 'Microsoft YaHei', lineHeight: 1.6 }}&gt;&#10;                    8 次反证：6 次按预期变红；&lt;Text style={{ fontSize: 13.5, fontWeight: 600, color: '#1A1A1A', fontFamily: 'Microsoft YaHei' }}&gt;2 次推翻我自己的注释判断&lt;/Text&gt;——交换模拟器两张表，构造时就直接拒绝：注释写错了，判据是多余的。&#10;                &lt;/Text&gt;&#10;            &lt;/Box&gt;&#10;        &lt;/Box&gt;&#10;        &lt;Box style={{ flex: 1, display: 'flex', flexDirection: 'column', gap: 10 }}&gt;&#10;            &lt;Image src=&quot;assets/five_proc.png&quot; style={{ width: 500, height: 157 }} /&gt;&#10;            &lt;Box style={{ padding: '10px 14px', background: '#FEF2F2', borderRadius: 8, borderLeft: '3px solid #EF4444' }}&gt;&#10;                &lt;Text style={{ fontSize: 13, color: '#1A1A1A', fontFamily: 'Microsoft YaHei', lineHeight: 1.55 }}&gt;&#10;                    &lt;Text style={{ fontSize: 13, fontWeight: 'bold', color: '#EF4444', fontFamily: 'Microsoft YaHei' }}&gt;600 拍证据：&lt;/Text&gt;探针读段内真值 present=1、设定 120.500、停机位 0 → 收窄 [0,0]；EMS 检查项 600/600 拍全过；主站断开 → 网关立即清空（快路径兜底生效）；另有 3 个 FAIL 属预期内——反向守卫正确报告「没发生」。&#10;                &lt;/Text&gt;&#10;            &lt;/Box&gt;&#10;            &lt;Box style={{ padding: '10px 14px', background: '#F1F5F9', borderRadius: 8, borderLeft: '3px solid #64748B' }}&gt;&#10;                &lt;Text style={{ fontSize: 13, color: '#1A1A1A', fontFamily: 'Microsoft YaHei', lineHeight: 1.55 }}&gt;&#10;                    &lt;Text style={{ fontSize: 13, fontWeight: 'bold', color: '#1A1A1A', fontFamily: 'Microsoft YaHei' }}&gt;假红 18 条：&lt;/Text&gt;从仓库根目录直跑测试：165 过/6 红、126 过/12 红；换到模块目录 → 171/0、144/0。根因是相对路径×工作目录——形态像真实缺陷（写入 7.5 读回 2）。纪律：单独跑测试必须在模块目录下。&#10;                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两天工作全量讲解&lt;/Text&gt;&#10;        &lt;Text style={{ fontSize: 14, color: '#64748B', fontFamily: 'Consolas' }}&gt;12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验路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②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：判据反证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8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次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五进程闭环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600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拍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假红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18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测试全绿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≠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测试有效——每批判据都当场故意改坏一次，确认它真的会红</a:t>
            </a:r>
            <a:endParaRPr/>
          </a:p>
        </p:txBody>
      </p:sp>
      <p:pic>
        <p:nvPicPr>
          <p:cNvPr id="51" name=""/>
          <p:cNvPicPr>
            <a:picLocks noChangeAspect="1"/>
          </p:cNvPicPr>
          <p:nvPr/>
        </p:nvPicPr>
        <p:blipFill>
          <a:blip r:embed="rId1"/>
          <a:srcRect l="0" t="23" r="0" b="23"/>
          <a:stretch>
            <a:fillRect/>
          </a:stretch>
        </p:blipFill>
        <p:spPr>
          <a:xfrm rot="0" flipH="0" flipV="0">
            <a:off x="609600" y="2228850"/>
            <a:ext cx="5905500" cy="2066925"/>
          </a:xfrm>
          <a:prstGeom prst="rect">
            <a:avLst/>
          </a:prstGeom>
          <a:ln/>
        </p:spPr>
      </p:pic>
      <p:sp>
        <p:nvSpPr>
          <p:cNvPr id="52" name=""/>
          <p:cNvSpPr/>
          <p:nvPr/>
        </p:nvSpPr>
        <p:spPr>
          <a:xfrm rot="0" flipH="0" flipV="0">
            <a:off x="638175" y="4391025"/>
            <a:ext cx="5905500" cy="704850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638175" y="4391025"/>
            <a:ext cx="5905500" cy="704850"/>
          </a:xfrm>
          <a:custGeom>
            <a:pathLst>
              <a:path w="620" h="74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9"/>
                </a:lnTo>
                <a:cubicBezTo>
                  <a:pt x="3" y="71"/>
                  <a:pt x="5" y="73"/>
                  <a:pt x="7" y="74"/>
                </a:cubicBezTo>
                <a:cubicBezTo>
                  <a:pt x="3" y="73"/>
                  <a:pt x="0" y="70"/>
                  <a:pt x="0" y="6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71525" y="4495800"/>
            <a:ext cx="5610225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13">
                <a:solidFill>
                  <a:srgbClr val="1A1A1A"/>
                </a:solidFill>
                <a:latin typeface="Microsoft YaHei"/>
                <a:ea typeface="Microsoft YaHei"/>
              </a:rPr>
              <a:t>8 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次反证：</a:t>
            </a:r>
            <a:r>
              <a:rPr lang="en-US" sz="1013">
                <a:solidFill>
                  <a:srgbClr val="1A1A1A"/>
                </a:solidFill>
                <a:latin typeface="Microsoft YaHei"/>
                <a:ea typeface="Microsoft YaHei"/>
              </a:rPr>
              <a:t>6 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次按预期变红；</a:t>
            </a:r>
            <a:r>
              <a:rPr lang="en-US" sz="1013">
                <a:solidFill>
                  <a:srgbClr val="1A1A1A"/>
                </a:solidFill>
                <a:latin typeface="Microsoft YaHei"/>
                <a:ea typeface="Microsoft YaHei"/>
              </a:rPr>
              <a:t>2 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次推翻我自己的注释判断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——交换模拟器两张表，构造时就直接拒绝：注释写错了，判据是多余的。</a:t>
            </a:r>
            <a:endParaRPr/>
          </a:p>
        </p:txBody>
      </p:sp>
      <p:pic>
        <p:nvPicPr>
          <p:cNvPr id="55" name=""/>
          <p:cNvPicPr>
            <a:picLocks noChangeAspect="1"/>
          </p:cNvPicPr>
          <p:nvPr/>
        </p:nvPicPr>
        <p:blipFill>
          <a:blip r:embed="rId2"/>
          <a:srcRect l="45" t="0" r="45" b="0"/>
          <a:stretch>
            <a:fillRect/>
          </a:stretch>
        </p:blipFill>
        <p:spPr>
          <a:xfrm rot="0" flipH="0" flipV="0">
            <a:off x="6743700" y="1933575"/>
            <a:ext cx="4762500" cy="1495425"/>
          </a:xfrm>
          <a:prstGeom prst="rect">
            <a:avLst/>
          </a:prstGeom>
          <a:ln/>
        </p:spPr>
      </p:pic>
      <p:sp>
        <p:nvSpPr>
          <p:cNvPr id="56" name=""/>
          <p:cNvSpPr/>
          <p:nvPr/>
        </p:nvSpPr>
        <p:spPr>
          <a:xfrm rot="0" flipH="0" flipV="0">
            <a:off x="6772275" y="3524250"/>
            <a:ext cx="4838700" cy="885825"/>
          </a:xfrm>
          <a:prstGeom prst="roundRect">
            <a:avLst>
              <a:gd name="adj" fmla="val 8602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772275" y="3524250"/>
            <a:ext cx="4838700" cy="885825"/>
          </a:xfrm>
          <a:custGeom>
            <a:pathLst>
              <a:path w="508" h="93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88"/>
                </a:lnTo>
                <a:cubicBezTo>
                  <a:pt x="3" y="90"/>
                  <a:pt x="5" y="92"/>
                  <a:pt x="7" y="93"/>
                </a:cubicBezTo>
                <a:cubicBezTo>
                  <a:pt x="3" y="92"/>
                  <a:pt x="0" y="89"/>
                  <a:pt x="0" y="8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905625" y="3619500"/>
            <a:ext cx="454342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600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拍证据：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探针读段内真值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present=1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、设定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120.500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、停机位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0 →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收窄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[0,0]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；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EMS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检查项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600/600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拍全过；主站断开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网关立即清空（快路径兜底生效）；另有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3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个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FAIL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属预期内——反向守卫正确报告「没发生」。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772275" y="4505325"/>
            <a:ext cx="4838700" cy="885825"/>
          </a:xfrm>
          <a:prstGeom prst="roundRect">
            <a:avLst>
              <a:gd name="adj" fmla="val 860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6772275" y="4505325"/>
            <a:ext cx="4838700" cy="885825"/>
          </a:xfrm>
          <a:custGeom>
            <a:pathLst>
              <a:path w="508" h="93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88"/>
                </a:lnTo>
                <a:cubicBezTo>
                  <a:pt x="3" y="90"/>
                  <a:pt x="5" y="92"/>
                  <a:pt x="7" y="93"/>
                </a:cubicBezTo>
                <a:cubicBezTo>
                  <a:pt x="3" y="92"/>
                  <a:pt x="0" y="89"/>
                  <a:pt x="0" y="8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905625" y="4600575"/>
            <a:ext cx="454342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假红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18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条：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从仓库根目录直跑测试：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165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过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/6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红、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126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过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/12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红；换到模块目录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→ 171/0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144/0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。根因是相对路径×工作目录——形态像真实缺陷（写入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7.5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读回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2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）。纪律：单独跑测试必须在模块目录下。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两天工作全量讲解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64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诚实交代：测试抓到的三类问题&#10;        &lt;/Text&gt;&#10;        &lt;Text style={{ fontSize: 16, color: '#64748B', fontFamily: 'Microsoft YaHei' }}&gt;&#10;            产品缺陷会变红——「测试自己错」「产物过期」这两类，不变红也不会自愈&#10;        &lt;/Text&gt;&#10;    &lt;/Box&gt;&#10;    &lt;Box style={{ flex: 1, display: 'flex', flexDirection: 'row', gap: 18, alignItems: 'stretch' }}&gt;&#10;        &lt;Box style={{ flex: 1, padding: '14px 18px', background: '#FEF2F2', borderRadius: 12, border: '1px solid #EF4444', display: 'flex', flexDirection: 'column', gap: 7 }}&gt;&#10;            &lt;Text style={{ fontSize: 17, fontWeight: 'bold', color: '#EF4444', fontFamily: 'Microsoft YaHei' }}&gt;① 产品缺陷 6 条（测试拦住了）&lt;/Text&gt;&#10;            &lt;Text style={{ fontSize: 12.5, color: '#1A1A1A', fontFamily: 'Microsoft YaHei', lineHeight: 1.5 }}&gt;· 一组量读到中间态（新上界配旧下界）→ 写前也要递增序号&lt;/Text&gt;&#10;            &lt;Text style={{ fontSize: 12.5, color: '#1A1A1A', fontFamily: 'Microsoft YaHei', lineHeight: 1.5 }}&gt;· 编译缓存只判「存在」不判「更新」→ 同名点表两套内容&lt;/Text&gt;&#10;            &lt;Text style={{ fontSize: 12.5, color: '#1A1A1A', fontFamily: 'Microsoft YaHei', lineHeight: 1.5 }}&gt;· 验收报告标题 32 点、证据行 40 点——检查项自相矛盾&lt;/Text&gt;&#10;            &lt;Text style={{ fontSize: 12.5, color: '#1A1A1A', fontFamily: 'Microsoft YaHei', lineHeight: 1.5 }}&gt;· 跳过了却仍印「三层测试全部通过」&lt;/Text&gt;&#10;            &lt;Text style={{ fontSize: 12.5, color: '#1A1A1A', fontFamily: 'Microsoft YaHei', lineHeight: 1.5 }}&gt;· 心跳永远 T+0s → 换算抽成可断言的纯函数&lt;/Text&gt;&#10;            &lt;Text style={{ fontSize: 12.5, color: '#1A1A1A', fontFamily: 'Microsoft YaHei', lineHeight: 1.5 }}&gt;· 禁充放位 / 关口口径通路级失效（前页两个缺口）&lt;/Text&gt;&#10;        &lt;/Box&gt;&#10;        &lt;Box style={{ flex: 1, padding: '14px 18px', background: '#FEF2F2', borderRadius: 12, border: '1px solid #EF4444', display: 'flex', flexDirection: 'column', gap: 7 }}&gt;&#10;            &lt;Text style={{ fontSize: 17, fontWeight: 'bold', color: '#EF4444', fontFamily: 'Microsoft YaHei' }}&gt;② 测试自己出错 4 条（最值得记）&lt;/Text&gt;&#10;            &lt;Text style={{ fontSize: 12.5, color: '#1A1A1A', fontFamily: 'Microsoft YaHei', lineHeight: 1.5 }}&gt;· 并发判据测「机器闲不闲」→ 改四层判据，刻意不调大重试&lt;/Text&gt;&#10;            &lt;Text style={{ fontSize: 12.5, color: '#1A1A1A', fontFamily: 'Microsoft YaHei', lineHeight: 1.5 }}&gt;· 300 次快照一次都没对账 → 覆盖率守卫（实测 300/300）&lt;/Text&gt;&#10;            &lt;Text style={{ fontSize: 12.5, color: '#1A1A1A', fontFamily: 'Microsoft YaHei', lineHeight: 1.5 }}&gt;· 断言适用范围写错：哨兵值对极端区间并非恒等——不为消红调大魔数&lt;/Text&gt;&#10;            &lt;Text style={{ fontSize: 12.5, color: '#1A1A1A', fontFamily: 'Microsoft YaHei', lineHeight: 1.5 }}&gt;· 遍历把序号/时标点算进载荷 → 实际只覆盖 6 个点&lt;/Text&gt;&#10;            &lt;Text style={{ fontSize: 12.5, color: '#64748B', fontFamily: 'Microsoft YaHei', lineHeight: 1.5, marginTop: 'auto' }}&gt;共同点：判据错了也很安静——所以新增判据必须当场反证一次。&lt;/Text&gt;&#10;        &lt;/Box&gt;&#10;        &lt;Box style={{ flex: 1, padding: '14px 18px', background: '#F1F5F9', borderRadius: 12, border: '1px solid #64748B', display: 'flex', flexDirection: 'column', gap: 7 }}&gt;&#10;            &lt;Text style={{ fontSize: 17, fontWeight: 'bold', color: '#1A1A1A', fontFamily: 'Microsoft YaHei' }}&gt;③ 过期产物 3 处（不会变红）&lt;/Text&gt;&#10;            &lt;Text style={{ fontSize: 12.5, color: '#1A1A1A', fontFamily: 'Microsoft YaHei', lineHeight: 1.5 }}&gt;· 两份正式报告里的过期点数标题 → 改成派生 / 去掉硬数字&lt;/Text&gt;&#10;            &lt;Text style={{ fontSize: 12.5, color: '#1A1A1A', fontFamily: 'Microsoft YaHei', lineHeight: 1.5 }}&gt;· 两份「未做」清单把已交付项仍挂在未做栏&lt;/Text&gt;&#10;            &lt;Text style={{ fontSize: 12.5, color: '#1A1A1A', fontFamily: 'Microsoft YaHei', lineHeight: 1.5 }}&gt;· 全量构建日志停在旧口径 → 待可跑官方脚本的环境刷新&lt;/Text&gt;&#10;            &lt;Text style={{ fontSize: 12.5, color: '#64748B', fontFamily: 'Microsoft YaHei', lineHeight: 1.5, marginTop: 'auto' }}&gt;教训：清扫前必须先分类——同一个「32 点」在项目里就有两种含义，不能全局替换。&lt;/Text&gt;&#10;        &lt;/Box&gt;&#10;    &lt;/Box&gt;&#10;    &lt;Box style={{ marginTop: 12, padding: '9px 16px', background: '#EFF6FF', borderRadius: 8, borderLeft: '3px solid #3B82F6' }}&gt;&#10;        &lt;Text style={{ fontSize: 14, color: '#1A1A1A', fontFamily: 'Microsoft YaHei', lineHeight: 1.6 }}&gt;&#10;            三句话各被实证一次：允许的降级不能用恒零断言 ｜ 没报违规 ≠ 查过之后没违规 ｜ 不修也是一个决定，但必须留证据。&#10;        &lt;/Text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两天工作全量讲解&lt;/Text&gt;&#10;        &lt;Text style={{ fontSize: 14, color: '#64748B', fontFamily: 'Consolas' }}&gt;13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诚实交代：测试抓到的三类问题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产品缺陷会变红——「测试自己错」「产物过期」这两类，不变红也不会自愈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09600" y="990600"/>
            <a:ext cx="3543300" cy="4791075"/>
          </a:xfrm>
          <a:prstGeom prst="roundRect">
            <a:avLst>
              <a:gd name="adj" fmla="val 3226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81050" y="1123950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F4444"/>
                </a:solidFill>
                <a:latin typeface="Microsoft YaHei"/>
                <a:ea typeface="Microsoft YaHei"/>
              </a:rPr>
              <a:t>① </a:t>
            </a:r>
            <a:r>
              <a:rPr lang="zh-CN" sz="1275" b="1">
                <a:solidFill>
                  <a:srgbClr val="EF4444"/>
                </a:solidFill>
                <a:latin typeface="Microsoft YaHei"/>
                <a:ea typeface="Microsoft YaHei"/>
              </a:rPr>
              <a:t>产品缺陷</a:t>
            </a:r>
            <a:r>
              <a:rPr lang="en-US" sz="1275" b="1">
                <a:solidFill>
                  <a:srgbClr val="EF4444"/>
                </a:solidFill>
                <a:latin typeface="Microsoft YaHei"/>
                <a:ea typeface="Microsoft YaHei"/>
              </a:rPr>
              <a:t> 6 </a:t>
            </a:r>
            <a:r>
              <a:rPr lang="zh-CN" sz="1275" b="1">
                <a:solidFill>
                  <a:srgbClr val="EF4444"/>
                </a:solidFill>
                <a:latin typeface="Microsoft YaHei"/>
                <a:ea typeface="Microsoft YaHei"/>
              </a:rPr>
              <a:t>条（测试拦住了）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81050" y="1390650"/>
            <a:ext cx="32004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一组量读到中间态（新上界配旧下界）→</a:t>
            </a: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写前也要递增序号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81050" y="1676400"/>
            <a:ext cx="32004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编译缓存只判「存在」不判「更新」→</a:t>
            </a: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同名点表两套内容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81050" y="1962150"/>
            <a:ext cx="32004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验收报告标题</a:t>
            </a: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 32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点、证据行</a:t>
            </a: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 40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点——检查项自相矛盾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81050" y="2247900"/>
            <a:ext cx="32004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跳过了却仍印「三层测试全部通过」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81050" y="2533650"/>
            <a:ext cx="32004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心跳永远</a:t>
            </a: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 T+0s →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换算抽成可断言的纯函数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81050" y="2819400"/>
            <a:ext cx="32004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禁充放位</a:t>
            </a: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 /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关口口径通路级失效（前页两个缺口）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4324350" y="990600"/>
            <a:ext cx="3543300" cy="4791075"/>
          </a:xfrm>
          <a:prstGeom prst="roundRect">
            <a:avLst>
              <a:gd name="adj" fmla="val 3226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495800" y="1123950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F4444"/>
                </a:solidFill>
                <a:latin typeface="Microsoft YaHei"/>
                <a:ea typeface="Microsoft YaHei"/>
              </a:rPr>
              <a:t>② </a:t>
            </a:r>
            <a:r>
              <a:rPr lang="zh-CN" sz="1275" b="1">
                <a:solidFill>
                  <a:srgbClr val="EF4444"/>
                </a:solidFill>
                <a:latin typeface="Microsoft YaHei"/>
                <a:ea typeface="Microsoft YaHei"/>
              </a:rPr>
              <a:t>测试自己出错</a:t>
            </a:r>
            <a:r>
              <a:rPr lang="en-US" sz="1275" b="1">
                <a:solidFill>
                  <a:srgbClr val="EF4444"/>
                </a:solidFill>
                <a:latin typeface="Microsoft YaHei"/>
                <a:ea typeface="Microsoft YaHei"/>
              </a:rPr>
              <a:t> 4 </a:t>
            </a:r>
            <a:r>
              <a:rPr lang="zh-CN" sz="1275" b="1">
                <a:solidFill>
                  <a:srgbClr val="EF4444"/>
                </a:solidFill>
                <a:latin typeface="Microsoft YaHei"/>
                <a:ea typeface="Microsoft YaHei"/>
              </a:rPr>
              <a:t>条（最值得记）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495800" y="1390650"/>
            <a:ext cx="32004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并发判据测「机器闲不闲」→</a:t>
            </a: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改四层判据，刻意不调大重试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495800" y="1676400"/>
            <a:ext cx="32004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· 300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次快照一次都没对账</a:t>
            </a: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覆盖率守卫（实测</a:t>
            </a: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 300/300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495800" y="1962150"/>
            <a:ext cx="32004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断言适用范围写错：哨兵值对极端区间并非恒等——不为消红调大魔数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495800" y="2457450"/>
            <a:ext cx="32004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遍历把序号</a:t>
            </a: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/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时标点算进载荷</a:t>
            </a: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实际只覆盖</a:t>
            </a: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 6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个点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495800" y="5219700"/>
            <a:ext cx="32004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共同点：判据错了也很安静——所以新增判据必须当场反证一次。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8039100" y="990600"/>
            <a:ext cx="3543300" cy="4791075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210550" y="1123950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1A1A"/>
                </a:solidFill>
                <a:latin typeface="Microsoft YaHei"/>
                <a:ea typeface="Microsoft YaHei"/>
              </a:rPr>
              <a:t>③ </a:t>
            </a: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过期产物</a:t>
            </a:r>
            <a:r>
              <a:rPr lang="en-US" sz="1275" b="1">
                <a:solidFill>
                  <a:srgbClr val="1A1A1A"/>
                </a:solidFill>
                <a:latin typeface="Microsoft YaHei"/>
                <a:ea typeface="Microsoft YaHei"/>
              </a:rPr>
              <a:t> 3 </a:t>
            </a: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处（不会变红）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210550" y="1390650"/>
            <a:ext cx="32004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两份正式报告里的过期点数标题</a:t>
            </a: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改成派生</a:t>
            </a: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 /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去掉硬数字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210550" y="1676400"/>
            <a:ext cx="32004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两份「未做」清单把已交付项仍挂在未做栏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210550" y="1962150"/>
            <a:ext cx="32004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·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全量构建日志停在旧口径</a:t>
            </a:r>
            <a:r>
              <a:rPr lang="en-US" sz="938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lang="zh-CN" sz="938">
                <a:solidFill>
                  <a:srgbClr val="1A1A1A"/>
                </a:solidFill>
                <a:latin typeface="Microsoft YaHei"/>
                <a:ea typeface="Microsoft YaHei"/>
              </a:rPr>
              <a:t>待可跑官方脚本的环境刷新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210550" y="5219700"/>
            <a:ext cx="32004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教训：清扫前必须先分类——同一个「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32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点」在项目里就有两种含义，不能全局替换。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38175" y="5895975"/>
            <a:ext cx="10972800" cy="428625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638175" y="5895975"/>
            <a:ext cx="10972800" cy="428625"/>
          </a:xfrm>
          <a:custGeom>
            <a:pathLst>
              <a:path w="1152" h="4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0"/>
                </a:lnTo>
                <a:cubicBezTo>
                  <a:pt x="3" y="42"/>
                  <a:pt x="5" y="44"/>
                  <a:pt x="7" y="45"/>
                </a:cubicBezTo>
                <a:cubicBezTo>
                  <a:pt x="3" y="44"/>
                  <a:pt x="0" y="41"/>
                  <a:pt x="0" y="3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90575" y="5981700"/>
            <a:ext cx="106394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三句话各被实证一次：允许的降级不能用恒零断言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没报违规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≠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查过之后没违规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不修也是一个决定，但必须留证据。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两天工作全量讲解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94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验路 ③：交付门禁——七维度 55 项全过&#10;        &lt;/Text&gt;&#10;        &lt;Text style={{ fontSize: 16, color: '#64748B', fontFamily: 'Microsoft YaHei' }}&gt;&#10;            验收结论要能给第三方复核：报告是产物（md/json/html），日志只是过程&#10;        &lt;/Text&gt;&#10;    &lt;/Box&gt;&#10;    &lt;Box style={{ flex: 1, display: 'flex', flexDirection: 'row', gap: 30, alignItems: 'center' }}&gt;&#10;        &lt;Box style={{ width: 330, padding: '26px 26px', background: '#EFF6FF', borderRadius: 14, display: 'flex', flexDirection: 'column', gap: 8 }}&gt;&#10;            &lt;Text style={{ fontSize: 96, fontWeight: 'bold', color: '#EF4444', fontFamily: 'Consolas', lineHeight: 1.0 }}&gt;&#10;                55/55&#10;            &lt;/Text&gt;&#10;            &lt;Text style={{ fontSize: 18, color: '#1A1A1A', fontWeight: 600, fontFamily: 'Microsoft YaHei' }}&gt;&#10;                交付门禁通过 · 退出码 0&#10;            &lt;/Text&gt;&#10;            &lt;Text style={{ fontSize: 14, color: '#64748B', fontFamily: 'Microsoft YaHei', lineHeight: 1.6 }}&gt;&#10;                结论行只有一行、但有 55 条检查项撑着；验收器自身另有 114 条自测断言。&#10;            &lt;/Text&gt;&#10;        &lt;/Box&gt;&#10;        &lt;Box style={{ flex: 1, display: 'flex', flexDirection: 'column', gap: 12 }}&gt;&#10;            &lt;Box style={{ display: 'flex', flexDirection: 'row', gap: 12 }}&gt;&#10;                &lt;Box style={{ flex: 1, padding: '14px 12px', background: '#F8FAFC', borderRadius: 10, border: '1px solid #E2E8F0' }}&gt;&#10;                    &lt;Text style={{ fontSize: 15, fontWeight: 'bold', color: '#3B82F6', fontFamily: 'Microsoft YaHei' }}&gt;功能 · 9 项&lt;/Text&gt;&#10;                    &lt;Text style={{ fontSize: 12, color: '#64748B', fontFamily: 'Microsoft YaHei', lineHeight: 1.5, marginTop: 4 }}&gt;全链路闭环 / 状态机七态 / 三适配器等价&lt;/Text&gt;&#10;                &lt;/Box&gt;&#10;                &lt;Box style={{ flex: 1, padding: '14px 12px', background: '#F8FAFC', borderRadius: 10, border: '1px solid #E2E8F0' }}&gt;&#10;                    &lt;Text style={{ fontSize: 15, fontWeight: 'bold', color: '#3B82F6', fontFamily: 'Microsoft YaHei' }}&gt;策略 · 9 项&lt;/Text&gt;&#10;                    &lt;Text style={{ fontSize: 12, color: '#64748B', fontFamily: 'Microsoft YaHei', lineHeight: 1.5, marginTop: 4 }}&gt;策略注册 / 启停 / 组合优先级&lt;/Text&gt;&#10;                &lt;/Box&gt;&#10;                &lt;Box style={{ flex: 1, padding: '14px 12px', background: '#F8FAFC', borderRadius: 10, border: '1px solid #E2E8F0' }}&gt;&#10;                    &lt;Text style={{ fontSize: 15, fontWeight: 'bold', color: '#EF4444', fontFamily: 'Microsoft YaHei' }}&gt;安全 · 11 项&lt;/Text&gt;&#10;                    &lt;Text style={{ fontSize: 12, color: '#64748B', fontFamily: 'Microsoft YaHei', lineHeight: 1.5, marginTop: 4 }}&gt;越界 / 矛盾 / 失效兜底 / 点区边界&lt;/Text&gt;&#10;                &lt;/Box&gt;&#10;                &lt;Box style={{ flex: 1, padding: '14px 12px', background: '#F8FAFC', borderRadius: 10, border: '1px solid #E2E8F0' }}&gt;&#10;                    &lt;Text style={{ fontSize: 15, fontWeight: 'bold', color: '#3B82F6', fontFamily: 'Microsoft YaHei' }}&gt;性能 · 5 项&lt;/Text&gt;&#10;                    &lt;Text style={{ fontSize: 12, color: '#64748B', fontFamily: 'Microsoft YaHei', lineHeight: 1.5, marginTop: 4 }}&gt;节拍与时延量级&lt;/Text&gt;&#10;                &lt;/Box&gt;&#10;            &lt;/Box&gt;&#10;            &lt;Box style={{ display: 'flex', flexDirection: 'row', gap: 12 }}&gt;&#10;                &lt;Box style={{ flex: 1, padding: '14px 12px', background: '#F8FAFC', borderRadius: 10, border: '1px solid #E2E8F0' }}&gt;&#10;                    &lt;Text style={{ fontSize: 15, fontWeight: 'bold', color: '#3B82F6', fontFamily: 'Microsoft YaHei' }}&gt;稳定性 · 7 项&lt;/Text&gt;&#10;                    &lt;Text style={{ fontSize: 12, color: '#64748B', fontFamily: 'Microsoft YaHei', lineHeight: 1.5, marginTop: 4 }}&gt;长跑 / 并发 / 数据源异常&lt;/Text&gt;&#10;                &lt;/Box&gt;&#10;                &lt;Box style={{ flex: 1, padding: '14px 12px', background: '#F8FAFC', borderRadius: 10, border: '1px solid #E2E8F0' }}&gt;&#10;                    &lt;Text style={{ fontSize: 15, fontWeight: 'bold', color: '#3B82F6', fontFamily: 'Microsoft YaHei' }}&gt;多策略协同 · 8 项&lt;/Text&gt;&#10;                    &lt;Text style={{ fontSize: 12, color: '#64748B', fontFamily: 'Microsoft YaHei', lineHeight: 1.5, marginTop: 4 }}&gt;策略切换 / 区间收敛一致性&lt;/Text&gt;&#10;                &lt;/Box&gt;&#10;                &lt;Box style={{ flex: 1, padding: '14px 12px', background: '#F8FAFC', borderRadius: 10, border: '1px solid #E2E8F0' }}&gt;&#10;                    &lt;Text style={{ fontSize: 15, fontWeight: 'bold', color: '#06B6D4', fontFamily: 'Microsoft YaHei' }}&gt;文档 · 6 项&lt;/Text&gt;&#10;                    &lt;Text style={{ fontSize: 12, color: '#64748B', fontFamily: 'Microsoft YaHei', lineHeight: 1.5, marginTop: 4 }}&gt;与实现一致、口径写明&lt;/Text&gt;&#10;                &lt;/Box&gt;&#10;                &lt;Box style={{ flex: 1, padding: '14px 12px', background: '#EFF6FF', borderRadius: 10, border: '1px solid #3B82F6' }}&gt;&#10;                    &lt;Text style={{ fontSize: 15, fontWeight: 'bold', color: '#1A1A1A', fontFamily: 'Microsoft YaHei' }}&gt;合计 · 55 项&lt;/Text&gt;&#10;                    &lt;Text style={{ fontSize: 12, color: '#3B82F6', fontFamily: 'Microsoft YaHei', lineHeight: 1.5, marginTop: 4, fontWeight: 600 }}&gt;9+9+11+5+7+8+6&lt;/Text&gt;&#10;                &lt;/Box&gt;&#10;            &lt;/Box&gt;&#10;            &lt;Box style={{ padding: '10px 14px', background: '#EFF6FF', borderRadius: 8, borderLeft: '3px solid #3B82F6' }}&gt;&#10;                &lt;Text style={{ fontSize: 13.5, color: '#1A1A1A', fontFamily: 'Microsoft YaHei', lineHeight: 1.6 }}&gt;&#10;                    检查项凡涉及点数的从真相源派生、不手抄——点表扩容时，&lt;Text style={{ fontSize: 13.5, fontWeight: 600, color: '#1A1A1A', fontFamily: 'Microsoft YaHei' }}&gt;标题在结构上不可能再过期&lt;/Text&gt;。&#10;                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两天工作全量讲解&lt;/Text&gt;&#10;        &lt;Text style={{ fontSize: 14, color: '#64748B', fontFamily: 'Consolas' }}&gt;1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验路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③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：交付门禁——七维度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55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项全过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验收结论要能给第三方复核：报告是产物（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md/json/html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），日志只是过程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09600" y="2419350"/>
            <a:ext cx="3143250" cy="2476500"/>
          </a:xfrm>
          <a:prstGeom prst="roundRect">
            <a:avLst>
              <a:gd name="adj" fmla="val 5385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57250" y="2667000"/>
            <a:ext cx="26479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EF4444"/>
                </a:solidFill>
                <a:latin typeface="Consolas"/>
                <a:ea typeface="Consolas"/>
              </a:rPr>
              <a:t>55/55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57250" y="3848100"/>
            <a:ext cx="2647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交付门禁通过</a:t>
            </a:r>
            <a:r>
              <a:rPr lang="en-US" sz="135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退出码</a:t>
            </a:r>
            <a:r>
              <a:rPr lang="en-US" sz="1350" b="1">
                <a:solidFill>
                  <a:srgbClr val="1A1A1A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57250" y="4133850"/>
            <a:ext cx="2647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结论行只有一行、但有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55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条检查项撑着；验收器自身另有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114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条自测断言。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4038600" y="2533650"/>
            <a:ext cx="1800225" cy="895350"/>
          </a:xfrm>
          <a:prstGeom prst="roundRect">
            <a:avLst>
              <a:gd name="adj" fmla="val 10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152900" y="266700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功能</a:t>
            </a: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 · 9 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152900" y="2876550"/>
            <a:ext cx="15716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全链路闭环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状态机七态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三适配器等价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5953125" y="2533650"/>
            <a:ext cx="1800225" cy="895350"/>
          </a:xfrm>
          <a:prstGeom prst="roundRect">
            <a:avLst>
              <a:gd name="adj" fmla="val 10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067425" y="266700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策略</a:t>
            </a: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 · 9 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067425" y="2876550"/>
            <a:ext cx="157162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策略注册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启停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组合优先级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7867650" y="2533650"/>
            <a:ext cx="1800225" cy="895350"/>
          </a:xfrm>
          <a:prstGeom prst="roundRect">
            <a:avLst>
              <a:gd name="adj" fmla="val 10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981950" y="266700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F4444"/>
                </a:solidFill>
                <a:latin typeface="Microsoft YaHei"/>
                <a:ea typeface="Microsoft YaHei"/>
              </a:rPr>
              <a:t>安全</a:t>
            </a:r>
            <a:r>
              <a:rPr lang="en-US" sz="1125" b="1">
                <a:solidFill>
                  <a:srgbClr val="EF4444"/>
                </a:solidFill>
                <a:latin typeface="Microsoft YaHei"/>
                <a:ea typeface="Microsoft YaHei"/>
              </a:rPr>
              <a:t> · 11 </a:t>
            </a:r>
            <a:r>
              <a:rPr lang="zh-CN" sz="1125" b="1">
                <a:solidFill>
                  <a:srgbClr val="EF4444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981950" y="2876550"/>
            <a:ext cx="15716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越界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矛盾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失效兜底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点区边界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9782175" y="2533650"/>
            <a:ext cx="1800225" cy="895350"/>
          </a:xfrm>
          <a:prstGeom prst="roundRect">
            <a:avLst>
              <a:gd name="adj" fmla="val 10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9896475" y="266700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性能</a:t>
            </a: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 · 5 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9896475" y="2876550"/>
            <a:ext cx="157162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节拍与时延量级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4038600" y="3543300"/>
            <a:ext cx="1800225" cy="6858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152900" y="36766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稳定性</a:t>
            </a: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 · 7 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152900" y="3886200"/>
            <a:ext cx="157162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长跑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并发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数据源异常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5953125" y="3543300"/>
            <a:ext cx="1800225" cy="6858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67425" y="36766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多策略协同</a:t>
            </a: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 · 8 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67425" y="3886200"/>
            <a:ext cx="157162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策略切换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区间收敛一致性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7867650" y="3543300"/>
            <a:ext cx="1800225" cy="6858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981950" y="36766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Microsoft YaHei"/>
                <a:ea typeface="Microsoft YaHei"/>
              </a:rPr>
              <a:t>文档</a:t>
            </a:r>
            <a:r>
              <a:rPr lang="en-US" sz="1125" b="1">
                <a:solidFill>
                  <a:srgbClr val="06B6D4"/>
                </a:solidFill>
                <a:latin typeface="Microsoft YaHei"/>
                <a:ea typeface="Microsoft YaHei"/>
              </a:rPr>
              <a:t> · 6 </a:t>
            </a:r>
            <a:r>
              <a:rPr lang="zh-CN" sz="1125" b="1">
                <a:solidFill>
                  <a:srgbClr val="06B6D4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981950" y="3886200"/>
            <a:ext cx="157162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与实现一致、口径写明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9782175" y="3543300"/>
            <a:ext cx="1800225" cy="685800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9896475" y="36766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合计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· 55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896475" y="3886200"/>
            <a:ext cx="157162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 b="1">
                <a:solidFill>
                  <a:srgbClr val="3B82F6"/>
                </a:solidFill>
                <a:latin typeface="Microsoft YaHei"/>
                <a:ea typeface="Microsoft YaHei"/>
              </a:rPr>
              <a:t>9+9+11+5+7+8+6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4067175" y="4343400"/>
            <a:ext cx="7543800" cy="438150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4067175" y="4343400"/>
            <a:ext cx="7543800" cy="438150"/>
          </a:xfrm>
          <a:custGeom>
            <a:pathLst>
              <a:path w="792" h="4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1"/>
                </a:lnTo>
                <a:cubicBezTo>
                  <a:pt x="3" y="43"/>
                  <a:pt x="5" y="45"/>
                  <a:pt x="7" y="46"/>
                </a:cubicBezTo>
                <a:cubicBezTo>
                  <a:pt x="3" y="45"/>
                  <a:pt x="0" y="42"/>
                  <a:pt x="0" y="3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4200525" y="4438650"/>
            <a:ext cx="7248525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检查项凡涉及点数的从真相源派生、不手抄——点表扩容时，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标题在结构上不可能再过期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两天工作全量讲解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31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可信层：这套结果为什么可信&#10;        &lt;/Text&gt;&#10;        &lt;Text style={{ fontSize: 16, color: '#64748B', fontFamily: 'Microsoft YaHei' }}&gt;&#10;            可信不是口号，是结构——四条纪律 + 一个口径判据&#10;        &lt;/Text&gt;&#10;    &lt;/Box&gt;&#10;    &lt;Box style={{ flex: 1, display: 'flex', flexDirection: 'column', gap: 14, justifyContent: 'center' }}&gt;&#10;        &lt;Box style={{ display: 'flex', flexDirection: 'row', gap: 16 }}&gt;&#10;            &lt;Box style={{ flex: 1, padding: '16px 20px', background: '#F8FAFC', borderRadius: 12, border: '1px solid #E2E8F0', borderLeft: '4px solid #EF4444' }}&gt;&#10;                &lt;Text style={{ fontSize: 17, fontWeight: 'bold', color: '#1A1A1A', fontFamily: 'Microsoft YaHei' }}&gt;① 静默失败是头号敌人&lt;/Text&gt;&#10;                &lt;Text style={{ fontSize: 13.5, color: '#64748B', fontFamily: 'Microsoft YaHei', lineHeight: 1.6, marginTop: 6 }}&gt;&#10;                    不报错、退出码 0，比报错危险。心跳永远 T+0s、跳过了却印「全部通过」——共同点都是静默。→ 允许跳过必须显式宣布自己跳过了（SKIPPED=n 一路传到最外层结论行）。&#10;                &lt;/Text&gt;&#10;            &lt;/Box&gt;&#10;            &lt;Box style={{ flex: 1, padding: '16px 20px', background: '#F8FAFC', borderRadius: 12, border: '1px solid #E2E8F0', borderLeft: '4px solid #3B82F6' }}&gt;&#10;                &lt;Text style={{ fontSize: 17, fontWeight: 'bold', color: '#1A1A1A', fontFamily: 'Microsoft YaHei' }}&gt;② 只有跨边界才照得出来&lt;/Text&gt;&#10;                &lt;Text style={{ fontSize: 13.5, color: '#64748B', fontFamily: 'Microsoft YaHei', lineHeight: 1.6, marginTop: 6 }}&gt;&#10;                    跨进程 / 跨内存 / 跨语言。补通路前先自问：这条路上有几步是测试夹具替我做的？跨内存边界 + 夹具注入 = 测试盲区——所以必须有一个不注入任何东西的测试。&#10;                &lt;/Text&gt;&#10;            &lt;/Box&gt;&#10;        &lt;/Box&gt;&#10;        &lt;Box style={{ display: 'flex', flexDirection: 'row', gap: 16 }}&gt;&#10;            &lt;Box style={{ flex: 1, padding: '16px 20px', background: '#F8FAFC', borderRadius: 12, border: '1px solid #E2E8F0', borderLeft: '4px solid #3B82F6' }}&gt;&#10;                &lt;Text style={{ fontSize: 17, fontWeight: 'bold', color: '#1A1A1A', fontFamily: 'Microsoft YaHei' }}&gt;③ 判据本身会错，而且错得很安静&lt;/Text&gt;&#10;                &lt;Text style={{ fontSize: 13.5, color: '#64748B', fontFamily: 'Microsoft YaHei', lineHeight: 1.6, marginTop: 6 }}&gt;&#10;                    正确写法和错误写法逐位相等时，任何断言都杀不死旧写法。→ 新增判据当场反证一次（故意改坏、确认会红、再改回来）；覆盖型用例自带覆盖率守卫。&#10;                &lt;/Text&gt;&#10;            &lt;/Box&gt;&#10;            &lt;Box style={{ flex: 1, padding: '16px 20px', background: '#F8FAFC', borderRadius: 12, border: '1px solid #E2E8F0', borderLeft: '4px solid #06B6D4' }}&gt;&#10;                &lt;Text style={{ fontSize: 17, fontWeight: 'bold', color: '#1A1A1A', fontFamily: 'Microsoft YaHei' }}&gt;④ 文案声称的必须与代码一致&lt;/Text&gt;&#10;                &lt;Text style={{ fontSize: 13.5, color: '#64748B', fontFamily: 'Microsoft YaHei', lineHeight: 1.6, marginTop: 6 }}&gt;&#10;                    报告标题说 32、证据行说 40——断言不会红，因为技术上它是对的。→ 会进产物的数字从真相源派生；交付后回头看各模块的「未做」清单。&#10;                &lt;/Text&gt;&#10;            &lt;/Box&gt;&#10;        &lt;/Box&gt;&#10;        &lt;Box style={{ padding: '11px 16px', background: '#EFF6FF', borderRadius: 8, borderLeft: '3px solid #3B82F6' }}&gt;&#10;            &lt;Text style={{ fontSize: 14, color: '#1A1A1A', fontFamily: 'Microsoft YaHei', lineHeight: 1.6 }}&gt;&#10;                口径判据：默认 9304（构建日志 SKIPPED=7）／装 pymodbus 后 9382（SKIPPED=0）——&lt;Text style={{ fontSize: 14, fontWeight: 600, color: '#1A1A1A', fontFamily: 'Microsoft YaHei' }}&gt;每份报告必须写清用哪个口径&lt;/Text&gt;；每个数字都对应一次可复跑复核的实测。&#10;            &lt;/Text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两天工作全量讲解&lt;/Text&gt;&#10;        &lt;Text style={{ fontSize: 14, color: '#64748B', fontFamily: 'Consolas' }}&gt;1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可信层：这套结果为什么可信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可信不是口号，是结构——四条纪律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一个口径判据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47700" y="2114550"/>
            <a:ext cx="5410200" cy="1304925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647700" y="2114550"/>
            <a:ext cx="5410200" cy="1304925"/>
          </a:xfrm>
          <a:custGeom>
            <a:pathLst>
              <a:path w="568" h="13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29"/>
                </a:lnTo>
                <a:cubicBezTo>
                  <a:pt x="4" y="133"/>
                  <a:pt x="7" y="136"/>
                  <a:pt x="10" y="137"/>
                </a:cubicBezTo>
                <a:cubicBezTo>
                  <a:pt x="4" y="136"/>
                  <a:pt x="0" y="131"/>
                  <a:pt x="0" y="12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38200" y="2266950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1A1A"/>
                </a:solidFill>
                <a:latin typeface="Microsoft YaHei"/>
                <a:ea typeface="Microsoft YaHei"/>
              </a:rPr>
              <a:t>① </a:t>
            </a: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静默失败是头号敌人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38200" y="2524125"/>
            <a:ext cx="49911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不报错、退出码</a:t>
            </a:r>
            <a:r>
              <a:rPr lang="en-US" sz="1013">
                <a:solidFill>
                  <a:srgbClr val="64748B"/>
                </a:solidFill>
                <a:latin typeface="Microsoft YaHei"/>
                <a:ea typeface="Microsoft YaHei"/>
              </a:rPr>
              <a:t> 0</a:t>
            </a: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，比报错危险。心跳永远</a:t>
            </a:r>
            <a:r>
              <a:rPr lang="en-US" sz="1013">
                <a:solidFill>
                  <a:srgbClr val="64748B"/>
                </a:solidFill>
                <a:latin typeface="Microsoft YaHei"/>
                <a:ea typeface="Microsoft YaHei"/>
              </a:rPr>
              <a:t> T+0s</a:t>
            </a: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、跳过了却印「全部通过」——共同点都是静默。→</a:t>
            </a:r>
            <a:r>
              <a:rPr lang="en-US" sz="1013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允许跳过必须显式宣布自己跳过了（</a:t>
            </a:r>
            <a:r>
              <a:rPr lang="en-US" sz="1013">
                <a:solidFill>
                  <a:srgbClr val="64748B"/>
                </a:solidFill>
                <a:latin typeface="Microsoft YaHei"/>
                <a:ea typeface="Microsoft YaHei"/>
              </a:rPr>
              <a:t>SKIPPED=n </a:t>
            </a: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一路传到最外层结论行）。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210300" y="2114550"/>
            <a:ext cx="5410200" cy="1304925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6210300" y="2114550"/>
            <a:ext cx="5410200" cy="1304925"/>
          </a:xfrm>
          <a:custGeom>
            <a:pathLst>
              <a:path w="568" h="13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29"/>
                </a:lnTo>
                <a:cubicBezTo>
                  <a:pt x="4" y="133"/>
                  <a:pt x="7" y="136"/>
                  <a:pt x="10" y="137"/>
                </a:cubicBezTo>
                <a:cubicBezTo>
                  <a:pt x="4" y="136"/>
                  <a:pt x="0" y="131"/>
                  <a:pt x="0" y="12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400800" y="2266950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1A1A"/>
                </a:solidFill>
                <a:latin typeface="Microsoft YaHei"/>
                <a:ea typeface="Microsoft YaHei"/>
              </a:rPr>
              <a:t>② </a:t>
            </a: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只有跨边界才照得出来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400800" y="2524125"/>
            <a:ext cx="49911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跨进程</a:t>
            </a:r>
            <a:r>
              <a:rPr lang="en-US" sz="1013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跨内存</a:t>
            </a:r>
            <a:r>
              <a:rPr lang="en-US" sz="1013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跨语言。补通路前先自问：这条路上有几步是测试夹具替我做的？跨内存边界</a:t>
            </a:r>
            <a:r>
              <a:rPr lang="en-US" sz="1013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夹具注入</a:t>
            </a:r>
            <a:r>
              <a:rPr lang="en-US" sz="1013">
                <a:solidFill>
                  <a:srgbClr val="64748B"/>
                </a:solidFill>
                <a:latin typeface="Microsoft YaHei"/>
                <a:ea typeface="Microsoft YaHei"/>
              </a:rPr>
              <a:t> = </a:t>
            </a: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测试盲区——所以必须有一个不注入任何东西的测试。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47700" y="3552825"/>
            <a:ext cx="5410200" cy="1057275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647700" y="3552825"/>
            <a:ext cx="5410200" cy="1057275"/>
          </a:xfrm>
          <a:custGeom>
            <a:pathLst>
              <a:path w="568" h="11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3"/>
                </a:lnTo>
                <a:cubicBezTo>
                  <a:pt x="4" y="107"/>
                  <a:pt x="7" y="110"/>
                  <a:pt x="10" y="111"/>
                </a:cubicBezTo>
                <a:cubicBezTo>
                  <a:pt x="4" y="110"/>
                  <a:pt x="0" y="105"/>
                  <a:pt x="0" y="9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38200" y="3705225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1A1A"/>
                </a:solidFill>
                <a:latin typeface="Microsoft YaHei"/>
                <a:ea typeface="Microsoft YaHei"/>
              </a:rPr>
              <a:t>③ </a:t>
            </a: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判据本身会错，而且错得很安静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38200" y="3962400"/>
            <a:ext cx="49911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正确写法和错误写法逐位相等时，任何断言都杀不死旧写法。→</a:t>
            </a:r>
            <a:r>
              <a:rPr lang="en-US" sz="1013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新增判据当场反证一次（故意改坏、确认会红、再改回来）；覆盖型用例自带覆盖率守卫。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210300" y="3552825"/>
            <a:ext cx="5410200" cy="1057275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6210300" y="3552825"/>
            <a:ext cx="5410200" cy="1057275"/>
          </a:xfrm>
          <a:custGeom>
            <a:pathLst>
              <a:path w="568" h="11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3"/>
                </a:lnTo>
                <a:cubicBezTo>
                  <a:pt x="4" y="107"/>
                  <a:pt x="7" y="110"/>
                  <a:pt x="10" y="111"/>
                </a:cubicBezTo>
                <a:cubicBezTo>
                  <a:pt x="4" y="110"/>
                  <a:pt x="0" y="105"/>
                  <a:pt x="0" y="9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400800" y="3705225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1A1A"/>
                </a:solidFill>
                <a:latin typeface="Microsoft YaHei"/>
                <a:ea typeface="Microsoft YaHei"/>
              </a:rPr>
              <a:t>④ </a:t>
            </a: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文案声称的必须与代码一致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400800" y="3962400"/>
            <a:ext cx="49911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报告标题说</a:t>
            </a:r>
            <a:r>
              <a:rPr lang="en-US" sz="1013">
                <a:solidFill>
                  <a:srgbClr val="64748B"/>
                </a:solidFill>
                <a:latin typeface="Microsoft YaHei"/>
                <a:ea typeface="Microsoft YaHei"/>
              </a:rPr>
              <a:t> 32</a:t>
            </a: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、证据行说</a:t>
            </a:r>
            <a:r>
              <a:rPr lang="en-US" sz="1013">
                <a:solidFill>
                  <a:srgbClr val="64748B"/>
                </a:solidFill>
                <a:latin typeface="Microsoft YaHei"/>
                <a:ea typeface="Microsoft YaHei"/>
              </a:rPr>
              <a:t> 40——</a:t>
            </a: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断言不会红，因为技术上它是对的。→</a:t>
            </a:r>
            <a:r>
              <a:rPr lang="en-US" sz="1013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会进产物的数字从真相源派生；交付后回头看各模块的「未做」清单。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38175" y="4743450"/>
            <a:ext cx="10972800" cy="466725"/>
          </a:xfrm>
          <a:prstGeom prst="roundRect">
            <a:avLst>
              <a:gd name="adj" fmla="val 1632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638175" y="4743450"/>
            <a:ext cx="10972800" cy="466725"/>
          </a:xfrm>
          <a:custGeom>
            <a:pathLst>
              <a:path w="1152" h="49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4"/>
                </a:lnTo>
                <a:cubicBezTo>
                  <a:pt x="3" y="46"/>
                  <a:pt x="5" y="48"/>
                  <a:pt x="7" y="49"/>
                </a:cubicBezTo>
                <a:cubicBezTo>
                  <a:pt x="3" y="48"/>
                  <a:pt x="0" y="45"/>
                  <a:pt x="0" y="4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90575" y="4848225"/>
            <a:ext cx="106394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口径判据：默认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9304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（构建日志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SKIPPED=7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）／装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pymodbus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后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9382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SKIPPED=0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）——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每份报告必须写清用哪个口径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；每个数字都对应一次可复跑复核的实测。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两天工作全量讲解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15 / 16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56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遗留与下一步&#10;        &lt;/Text&gt;&#10;        &lt;Text style={{ fontSize: 16, color: '#64748B', fontFamily: 'Microsoft YaHei' }}&gt;&#10;            不隐藏风险——每一条都写了为什么还留着&#10;        &lt;/Text&gt;&#10;    &lt;/Box&gt;&#10;    &lt;Box style={{ flex: 1, display: 'flex', flexDirection: 'column', justifyContent: 'center', gap: 6 }}&gt;&#10;        &lt;Box style={{ display: 'flex', flexDirection: 'row', alignItems: 'center', gap: 14 }}&gt;&#10;            &lt;Box style={{ width: 64, padding: '4px 0', background: '#FEF2F2', borderRadius: 6, border: '1px solid #EF4444', display: 'flex', justifyContent: 'center' }}&gt;&#10;                &lt;Text style={{ fontSize: 13, fontWeight: 'bold', color: '#EF4444', fontFamily: 'Microsoft YaHei' }}&gt;阻塞&lt;/Text&gt;&#10;            &lt;/Box&gt;&#10;            &lt;Text style={{ width: 300, fontSize: 15, fontWeight: 600, color: '#1A1A1A', fontFamily: 'Microsoft YaHei' }}&gt;依赖库 GPL-3.0 授权&lt;/Text&gt;&#10;            &lt;Text style={{ flex: 1, fontSize: 14, color: '#64748B', fontFamily: 'Microsoft YaHei', lineHeight: 1.5 }}&gt;唯一交付阻塞项：交付前必须替换或取得授权&lt;/Text&gt;&#10;        &lt;/Box&gt;&#10;        &lt;Box style={{ display: 'flex', flexDirection: 'row', alignItems: 'center', gap: 14 }}&gt;&#10;            &lt;Box style={{ width: 64, padding: '4px 0', background: '#FEF2F2', borderRadius: 6, border: '1px solid #FCA5A5', display: 'flex', justifyContent: 'center' }}&gt;&#10;                &lt;Text style={{ fontSize: 13, fontWeight: 'bold', color: '#EF4444', fontFamily: 'Microsoft YaHei' }}&gt;高&lt;/Text&gt;&#10;            &lt;/Box&gt;&#10;            &lt;Text style={{ width: 300, fontSize: 15, fontWeight: 600, color: '#1A1A1A', fontFamily: 'Microsoft YaHei' }}&gt;9 策略仍是演示实现&lt;/Text&gt;&#10;            &lt;Text style={{ flex: 1, fontSize: 14, color: '#64748B', fontFamily: 'Microsoft YaHei', lineHeight: 1.5 }}&gt;真实算法（LP/MILP、安全约束、防逆流/需量/平滑）已做但未接进调度链——离「能用」最远的一项&lt;/Text&gt;&#10;        &lt;/Box&gt;&#10;        &lt;Box style={{ display: 'flex', flexDirection: 'row', alignItems: 'center', gap: 14 }}&gt;&#10;            &lt;Box style={{ width: 64, padding: '4px 0', background: '#FEF2F2', borderRadius: 6, border: '1px solid #FCA5A5', display: 'flex', justifyContent: 'center' }}&gt;&#10;                &lt;Text style={{ fontSize: 13, fontWeight: 'bold', color: '#EF4444', fontFamily: 'Microsoft YaHei' }}&gt;高&lt;/Text&gt;&#10;            &lt;/Box&gt;&#10;            &lt;Text style={{ width: 300, fontSize: 15, fontWeight: 600, color: '#1A1A1A', fontFamily: 'Microsoft YaHei' }}&gt;现场化参数与数据源&lt;/Text&gt;&#10;            &lt;Text style={{ flex: 1, fontSize: 14, color: '#64748B', fontFamily: 'Microsoft YaHei', lineHeight: 1.5 }}&gt;外部设定失效时限现取 30s 需按现场定；BMS 限值无真实来源；电表缺漂移与时延；累计电量编码未做&lt;/Text&gt;&#10;        &lt;/Box&gt;&#10;        &lt;Box style={{ display: 'flex', flexDirection: 'row', alignItems: 'center', gap: 14 }}&gt;&#10;            &lt;Box style={{ width: 64, padding: '4px 0', background: '#FEF2F2', borderRadius: 6, border: '1px solid #FCA5A5', display: 'flex', justifyContent: 'center' }}&gt;&#10;                &lt;Text style={{ fontSize: 13, fontWeight: 'bold', color: '#EF4444', fontFamily: 'Microsoft YaHei' }}&gt;高&lt;/Text&gt;&#10;            &lt;/Box&gt;&#10;            &lt;Text style={{ width: 300, fontSize: 15, fontWeight: 600, color: '#1A1A1A', fontFamily: 'Microsoft YaHei' }}&gt;全量构建日志停在旧口径&lt;/Text&gt;&#10;            &lt;Text style={{ flex: 1, fontSize: 14, color: '#64748B', fontFamily: 'Microsoft YaHei', lineHeight: 1.5 }}&gt;需在可跑官方构建脚本的环境刷新一次，把 9304 / 9382 的官方日志补齐&lt;/Text&gt;&#10;        &lt;/Box&gt;&#10;        &lt;Box style={{ display: 'flex', flexDirection: 'row', alignItems: 'center', gap: 14 }}&gt;&#10;            &lt;Box style={{ width: 64, padding: '4px 0', background: '#EFF6FF', borderRadius: 6, border: '1px solid #93C5FD', display: 'flex', justifyContent: 'center' }}&gt;&#10;                &lt;Text style={{ fontSize: 13, fontWeight: 'bold', color: '#3B82F6', fontFamily: 'Microsoft YaHei' }}&gt;中&lt;/Text&gt;&#10;            &lt;/Box&gt;&#10;            &lt;Text style={{ width: 300, fontSize: 15, fontWeight: 600, color: '#1A1A1A', fontFamily: 'Microsoft YaHei' }}&gt;设备全点表建模&lt;/Text&gt;&#10;            &lt;Text style={{ flex: 1, fontSize: 14, color: '#64748B', fontFamily: 'Microsoft YaHei', lineHeight: 1.5 }}&gt;共享内存里目前只有 EMS 抽象表 40 点，现场设备的完整点表尚未建模&lt;/Text&gt;&#10;        &lt;/Box&gt;&#10;        &lt;Box style={{ display: 'flex', flexDirection: 'row', alignItems: 'center', gap: 14 }}&gt;&#10;            &lt;Box style={{ width: 64, padding: '4px 0', background: '#EFF6FF', borderRadius: 6, border: '1px solid #93C5FD', display: 'flex', justifyContent: 'center' }}&gt;&#10;                &lt;Text style={{ fontSize: 13, fontWeight: 'bold', color: '#3B82F6', fontFamily: 'Microsoft YaHei' }}&gt;中&lt;/Text&gt;&#10;            &lt;/Box&gt;&#10;            &lt;Text style={{ width: 300, fontSize: 15, fontWeight: 600, color: '#1A1A1A', fontFamily: 'Microsoft YaHei' }}&gt;云侧接入 / EMS 当主站 / 指令队列&lt;/Text&gt;&#10;            &lt;Text style={{ flex: 1, fontSize: 14, color: '#64748B', fontFamily: 'Microsoft YaHei', lineHeight: 1.5 }}&gt;机制骨架在，真实链路未接&lt;/Text&gt;&#10;        &lt;/Box&gt;&#10;        &lt;Box style={{ display: 'flex', flexDirection: 'row', alignItems: 'center', gap: 14 }}&gt;&#10;            &lt;Box style={{ width: 64, padding: '4px 0', background: '#F1F5F9', borderRadius: 6, border: '1px solid #CBD5E1', display: 'flex', justifyContent: 'center' }}&gt;&#10;                &lt;Text style={{ fontSize: 13, fontWeight: 'bold', color: '#64748B', fontFamily: 'Microsoft YaHei' }}&gt;低&lt;/Text&gt;&#10;            &lt;/Box&gt;&#10;            &lt;Text style={{ width: 300, fontSize: 15, fontWeight: 600, color: '#1A1A1A', fontFamily: 'Microsoft YaHei' }}&gt;需量控制 1 拍极限环&lt;/Text&gt;&#10;            &lt;Text style={{ flex: 1, fontSize: 14, color: '#64748B', fontFamily: 'Microsoft YaHei', lineHeight: 1.5 }}&gt;刻意不修：会动 7500+ 条断言，当前行为可接受，已留证据与建议修法&lt;/Text&gt;&#10;        &lt;/Box&gt;&#10;        &lt;Box style={{ marginTop: 10, padding: '12px 16px', background: '#EFF6FF', borderRadius: 8, borderLeft: '3px solid #3B82F6' }}&gt;&#10;            &lt;Text style={{ fontSize: 15, color: '#1A1A1A', fontFamily: 'Microsoft YaHei', lineHeight: 1.6 }}&gt;&#10;                两天主线一句话：&lt;Text style={{ fontSize: 15, fontWeight: 600, color: '#1A1A1A', fontFamily: 'Microsoft YaHei' }}&gt;调度能指挥设备了、现场设备接得进来了、每一步都有证据&lt;/Text&gt;——下一段是把演示策略换成真实算法，把证据链从「本机可复核」推进到「现场可运行」。&#10;            &lt;/Text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两天工作全量讲解&lt;/Text&gt;&#10;        &lt;Text style={{ fontSize: 14, color: '#64748B', fontFamily: 'Consolas' }}&gt;16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遗留与下一步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不隐藏风险——每一条都写了为什么还留着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09600" y="2162175"/>
            <a:ext cx="609600" cy="2286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90575" y="22002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F4444"/>
                </a:solidFill>
                <a:latin typeface="Microsoft YaHei"/>
                <a:ea typeface="Microsoft YaHei"/>
              </a:rPr>
              <a:t>阻塞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352550" y="21907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依赖库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GPL-3.0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授权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343400" y="2152650"/>
            <a:ext cx="7239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唯一交付阻塞项：交付前必须替换或取得授权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09600" y="2466975"/>
            <a:ext cx="609600" cy="2286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57250" y="250507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F4444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352550" y="24955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9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策略仍是演示实现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343400" y="2457450"/>
            <a:ext cx="7239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真实算法（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LP/MILP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、安全约束、防逆流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需量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平滑）已做但未接进调度链——离「能用」最远的一项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09600" y="2771775"/>
            <a:ext cx="609600" cy="2286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57250" y="280987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F4444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352550" y="28003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现场化参数与数据源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343400" y="2762250"/>
            <a:ext cx="7239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外部设定失效时限现取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30s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需按现场定；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BMS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限值无真实来源；电表缺漂移与时延；累计电量编码未做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09600" y="3076575"/>
            <a:ext cx="609600" cy="2286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57250" y="311467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F4444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352550" y="31051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全量构建日志停在旧口径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343400" y="3067050"/>
            <a:ext cx="7239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需在可跑官方构建脚本的环境刷新一次，把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9304 / 9382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的官方日志补齐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09600" y="3381375"/>
            <a:ext cx="609600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57250" y="341947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3B82F6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352550" y="34099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设备全点表建模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343400" y="3371850"/>
            <a:ext cx="7239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共享内存里目前只有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抽象表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40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点，现场设备的完整点表尚未建模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09600" y="3686175"/>
            <a:ext cx="609600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57250" y="372427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3B82F6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352550" y="37147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云侧接入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/ EMS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当主站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/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指令队列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343400" y="3676650"/>
            <a:ext cx="7239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机制骨架在，真实链路未接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09600" y="3990975"/>
            <a:ext cx="609600" cy="2286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57250" y="402907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4748B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352550" y="40195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需量控制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1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拍极限环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343400" y="3981450"/>
            <a:ext cx="7239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刻意不修：会动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7500+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条断言，当前行为可接受，已留证据与建议修法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38175" y="4381500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638175" y="4381500"/>
            <a:ext cx="10972800" cy="781050"/>
          </a:xfrm>
          <a:custGeom>
            <a:pathLst>
              <a:path w="1152" h="8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77"/>
                </a:lnTo>
                <a:cubicBezTo>
                  <a:pt x="3" y="79"/>
                  <a:pt x="5" y="81"/>
                  <a:pt x="7" y="82"/>
                </a:cubicBezTo>
                <a:cubicBezTo>
                  <a:pt x="3" y="81"/>
                  <a:pt x="0" y="78"/>
                  <a:pt x="0" y="7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790575" y="4495800"/>
            <a:ext cx="106394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两天主线一句话：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调度能指挥设备了、现场设备接得进来了、每一步都有证据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——下一段是把演示策略换成真实算法，把证据链从「本机可复核」推进到「现场可运行」。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两天工作全量讲解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16 / 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2026-09-21T03:29:58Z</dcterms:created>
  <dcterms:modified xsi:type="dcterms:W3CDTF">2026-09-21T03:29:58Z</dcterms:modified>
</cp:coreProperties>
</file>