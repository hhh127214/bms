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" Type="http://schemas.openxmlformats.org/officeDocument/2006/relationships/slide" Target="slides/slide1.xml" /><Relationship Id="rId14" Type="http://schemas.openxmlformats.org/officeDocument/2006/relationships/viewProps" Target="viewProps.xml" /><Relationship Id="rId11" Type="http://schemas.openxmlformats.org/officeDocument/2006/relationships/notesMaster" Target="notesMasters/notesMaster1.xml" /><Relationship Id="rId12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padding: '20px 64px', background: '#FFFFFF', display: 'flex', flexDirection: 'column', justifyContent: 'center', gap: 20 }}&gt;&#10;    &lt;Text style={{ fontSize: 16, color: '#3B82F6', fontFamily: 'Microsoft YaHei', letterSpacing: 3 }}&gt;&#10;        工商业储能 EMS · 储能协调控制器&#10;    &lt;/Text&gt;&#10;    &lt;Text style={{ fontSize: 64, fontWeight: 'bold', color: '#1A1A1A', fontFamily: 'Microsoft YaHei', lineHeight: 1.2 }}&gt;&#10;        两天工作汇报&#10;    &lt;/Text&gt;&#10;    &lt;Text style={{ fontSize: 24, color: '#64748B', fontFamily: 'Microsoft YaHei', lineHeight: 1.6 }}&gt;&#10;        2026-09-19 ~ 09-20 · 交付 11 项改动，测试基线 8085 → 9304，全部逐项实测复核&#10;    &lt;/Text&gt;&#10;    &lt;Box style={{ display: 'flex', flexDirection: 'row', gap: 28, marginTop: 24 }}&gt;&#10;        &lt;Box style={{ flex: 1, padding: '22px 24px', background: '#EFF6FF', borderRadius: 12, display: 'flex', flexDirection: 'column', gap: 6 }}&gt;&#10;            &lt;Text style={{ fontSize: 92, fontWeight: 'bold', color: '#EF4444', fontFamily: 'Consolas', lineHeight: 1.0 }}&gt;&#10;                +1219&#10;            &lt;/Text&gt;&#10;            &lt;Text style={{ fontSize: 17, color: '#1A1A1A', fontWeight: 600, fontFamily: 'Microsoft YaHei' }}&gt;&#10;                新增测试断言&#10;            &lt;/Text&gt;&#10;            &lt;Text style={{ fontSize: 14, color: '#64748B', fontFamily: 'Microsoft YaHei' }}&gt;&#10;                8085 → 9304，0 失败&#10;            &lt;/Text&gt;&#10;        &lt;/Box&gt;&#10;        &lt;Box style={{ flex: 1, padding: '22px 24px', background: '#EFF6FF', borderRadius: 12, display: 'flex', flexDirection: 'column', gap: 6 }}&gt;&#10;            &lt;Text style={{ fontSize: 92, fontWeight: 'bold', color: '#3B82F6', fontFamily: 'Consolas', lineHeight: 1.0 }}&gt;&#10;                19/19&#10;            &lt;/Text&gt;&#10;            &lt;Text style={{ fontSize: 17, color: '#1A1A1A', fontWeight: 600, fontFamily: 'Microsoft YaHei' }}&gt;&#10;                逐项复核一致&#10;            &lt;/Text&gt;&#10;            &lt;Text style={{ fontSize: 14, color: '#64748B', fontFamily: 'Microsoft YaHei' }}&gt;&#10;                每个测试目标本地实跑，与基线逐位一致&#10;            &lt;/Text&gt;&#10;        &lt;/Box&gt;&#10;        &lt;Box style={{ flex: 1, padding: '22px 24px', background: '#F1F5F9', borderRadius: 12, display: 'flex', flexDirection: 'column', gap: 6 }}&gt;&#10;            &lt;Text style={{ fontSize: 92, fontWeight: 'bold', color: '#1A1A1A', fontFamily: 'Consolas', lineHeight: 1.0 }}&gt;&#10;                55/55&#10;            &lt;/Text&gt;&#10;            &lt;Text style={{ fontSize: 17, color: '#1A1A1A', fontWeight: 600, fontFamily: 'Microsoft YaHei' }}&gt;&#10;                交付门禁通过&#10;            &lt;/Text&gt;&#10;            &lt;Text style={{ fontSize: 14, color: '#64748B', fontFamily: 'Microsoft YaHei' }}&gt;&#10;                七维度验收，退出码 0&#10;            &lt;/Text&gt;&#10;        &lt;/Box&gt;&#10;    &lt;/Box&gt;&#10;    &lt;Text style={{ fontSize: 14, color: '#94A3B8', fontFamily: 'Microsoft YaHei', marginTop: 6 }}&gt;&#10;        基线口径：本机默认 9304（无 pymodbus，跨语言层 SKIP 7 条）／装后 9382 · 构建 31 步全过&#10;  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10858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3B82F6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200" spc="225">
                <a:solidFill>
                  <a:srgbClr val="3B82F6"/>
                </a:solidFill>
                <a:latin typeface="Microsoft YaHei"/>
                <a:ea typeface="Microsoft YaHei"/>
              </a:rPr>
              <a:t> EMS · </a:t>
            </a:r>
            <a:r>
              <a:rPr lang="zh-CN" sz="1200" spc="225">
                <a:solidFill>
                  <a:srgbClr val="3B82F6"/>
                </a:solidFill>
                <a:latin typeface="Microsoft YaHei"/>
                <a:ea typeface="Microsoft YaHei"/>
              </a:rPr>
              <a:t>储能协调控制器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1466850"/>
            <a:ext cx="10972800" cy="885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1A1A1A"/>
                </a:solidFill>
                <a:latin typeface="Microsoft YaHei"/>
                <a:ea typeface="Microsoft YaHei"/>
              </a:rPr>
              <a:t>两天工作汇报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543175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800">
                <a:solidFill>
                  <a:srgbClr val="64748B"/>
                </a:solidFill>
                <a:latin typeface="Microsoft YaHei"/>
                <a:ea typeface="Microsoft YaHei"/>
              </a:rPr>
              <a:t>2026-09-19 ~ 09-20 · </a:t>
            </a: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交付</a:t>
            </a:r>
            <a:r>
              <a:rPr lang="en-US" sz="1800">
                <a:solidFill>
                  <a:srgbClr val="64748B"/>
                </a:solidFill>
                <a:latin typeface="Microsoft YaHei"/>
                <a:ea typeface="Microsoft YaHei"/>
              </a:rPr>
              <a:t> 11 </a:t>
            </a: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项改动，测试基线</a:t>
            </a:r>
            <a:r>
              <a:rPr lang="en-US" sz="1800">
                <a:solidFill>
                  <a:srgbClr val="64748B"/>
                </a:solidFill>
                <a:latin typeface="Microsoft YaHei"/>
                <a:ea typeface="Microsoft YaHei"/>
              </a:rPr>
              <a:t> 8085 → 9304</a:t>
            </a: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，全部逐项实测复核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409950"/>
            <a:ext cx="3476625" cy="1952625"/>
          </a:xfrm>
          <a:prstGeom prst="roundRect">
            <a:avLst>
              <a:gd name="adj" fmla="val 585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38200" y="3619500"/>
            <a:ext cx="30194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EF4444"/>
                </a:solidFill>
                <a:latin typeface="Consolas"/>
                <a:ea typeface="Consolas"/>
              </a:rPr>
              <a:t>+1219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38200" y="4733925"/>
            <a:ext cx="3019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新增测试断言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38200" y="4991100"/>
            <a:ext cx="3019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8085 → 9304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失败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4352925" y="3409950"/>
            <a:ext cx="3486150" cy="1952625"/>
          </a:xfrm>
          <a:prstGeom prst="roundRect">
            <a:avLst>
              <a:gd name="adj" fmla="val 585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4581525" y="3619500"/>
            <a:ext cx="302895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3B82F6"/>
                </a:solidFill>
                <a:latin typeface="Consolas"/>
                <a:ea typeface="Consolas"/>
              </a:rPr>
              <a:t>19/19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4581525" y="4733925"/>
            <a:ext cx="3028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逐项复核一致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581525" y="4991100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每个测试目标本地实跑，与基线逐位一致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8105775" y="3409950"/>
            <a:ext cx="3476625" cy="1952625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334375" y="3619500"/>
            <a:ext cx="30194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1A1A1A"/>
                </a:solidFill>
                <a:latin typeface="Consolas"/>
                <a:ea typeface="Consolas"/>
              </a:rPr>
              <a:t>55/55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334375" y="4733925"/>
            <a:ext cx="3019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交付门禁通过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334375" y="4991100"/>
            <a:ext cx="3019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七维度验收，退出码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56102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基线口径：本机默认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9304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（无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pymodbus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，跨语言层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SKIP 7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条）／装后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9382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构建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31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步全过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0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做了什么：两天 11 项交付改动&#10;        &lt;/Text&gt;&#10;        &lt;Text style={{ fontSize: 16, color: '#64748B', fontFamily: 'Microsoft YaHei' }}&gt;&#10;            一条主线：让 EMS 从「自己能算」变成「能被调度、能被设备接入，每一步都有证据」&#10;        &lt;/Text&gt;&#10;    &lt;/Box&gt;&#10;    &lt;Box style={{ flex: 1, display: 'flex', flexDirection: 'column', justifyContent: 'center' }}&gt;&#10;        &lt;Box style={{ display: 'flex', flexDirection: 'row', padding: '7px 14px', background: '#F1F5F9', borderRadius: 6 }}&gt;&#10;            &lt;Text style={{ width: 76, fontSize: 14, fontWeight: 'bold', color: '#64748B', fontFamily: 'Microsoft YaHei' }}&gt;日期&lt;/Text&gt;&#10;            &lt;Text style={{ width: 330, fontSize: 14, fontWeight: 'bold', color: '#64748B', fontFamily: 'Microsoft YaHei' }}&gt;交付项&lt;/Text&gt;&#10;            &lt;Text style={{ flex: 1, fontSize: 14, fontWeight: 'bold', color: '#64748B', fontFamily: 'Microsoft YaHei' }}&gt;一句话说明&lt;/Text&gt;&#10;        &lt;/Box&gt;&#10;        &lt;Box style={{ display: 'flex', flexDirection: 'row', padding: '7px 14px', alignItems: 'center' }}&gt;&#10;            &lt;Text style={{ width: 76, fontSize: 14, fontWeight: 'bold', color: '#3B82F6', fontFamily: 'Consolas' }}&gt;09-19&lt;/Text&gt;&#10;            &lt;Text style={{ width: 330, fontSize: 15, fontWeight: 600, color: '#1A1A1A', fontFamily: 'Microsoft YaHei' }}&gt;新建 11/ 系统级联调&lt;/Text&gt;&#10;            &lt;Text style={{ flex: 1, fontSize: 15, color: '#64748B', fontFamily: 'Microsoft YaHei' }}&gt;起 3 个真进程，跨进程读写同一块共享内存&lt;/Text&gt;&#10;        &lt;/Box&gt;&#10;        &lt;Box style={{ display: 'flex', flexDirection: 'row', padding: '7px 14px', background: '#F8FAFC', alignItems: 'center' }}&gt;&#10;            &lt;Text style={{ width: 76, fontSize: 14, fontWeight: 'bold', color: '#3B82F6', fontFamily: 'Consolas' }}&gt;09-19&lt;/Text&gt;&#10;            &lt;Text style={{ width: 330, fontSize: 15, fontWeight: 600, color: '#1A1A1A', fontFamily: 'Microsoft YaHei' }}&gt;新建 12/ 最终验收&lt;/Text&gt;&#10;            &lt;Text style={{ flex: 1, fontSize: 15, color: '#64748B', fontFamily: 'Microsoft YaHei' }}&gt;七维度 55 项检查，产出正式验收报告（md/json/html）&lt;/Text&gt;&#10;        &lt;/Box&gt;&#10;        &lt;Box style={{ display: 'flex', flexDirection: 'row', padding: '7px 14px', alignItems: 'center' }}&gt;&#10;            &lt;Text style={{ width: 76, fontSize: 14, fontWeight: 'bold', color: '#3B82F6', fontFamily: 'Consolas' }}&gt;09-19&lt;/Text&gt;&#10;            &lt;Text style={{ width: 330, fontSize: 15, fontWeight: 600, color: '#1A1A1A', fontFamily: 'Microsoft YaHei' }}&gt;修 07/ 三处真实缺陷&lt;/Text&gt;&#10;            &lt;Text style={{ flex: 1, fontSize: 15, color: '#64748B', fontFamily: 'Microsoft YaHei' }}&gt;联调才暴露的问题，单模块自己测永远测不出来&lt;/Text&gt;&#10;        &lt;/Box&gt;&#10;        &lt;Box style={{ display: 'flex', flexDirection: 'row', padding: '7px 14px', background: '#F8FAFC', alignItems: 'center' }}&gt;&#10;            &lt;Text style={{ width: 76, fontSize: 14, fontWeight: 'bold', color: '#3B82F6', fontFamily: 'Consolas' }}&gt;09-19&lt;/Text&gt;&#10;            &lt;Text style={{ width: 330, fontSize: 15, fontWeight: 600, color: '#1A1A1A', fontFamily: 'Microsoft YaHei' }}&gt;修判据缺陷 T47&lt;/Text&gt;&#10;            &lt;Text style={{ flex: 1, fontSize: 15, color: '#64748B', fontFamily: 'Microsoft YaHei' }}&gt;原断言测的是「机器闲不闲」不是「代码对不对」，改四层判据&lt;/Text&gt;&#10;        &lt;/Box&gt;&#10;        &lt;Box style={{ display: 'flex', flexDirection: 'row', padding: '7px 14px', alignItems: 'center' }}&gt;&#10;            &lt;Text style={{ width: 76, fontSize: 14, fontWeight: 'bold', color: '#3B82F6', fontFamily: 'Consolas' }}&gt;09-19&lt;/Text&gt;&#10;            &lt;Text style={{ width: 330, fontSize: 15, fontWeight: 600, color: '#1A1A1A', fontFamily: 'Microsoft YaHei' }}&gt;新建 P3/ IEC104 从站网关&lt;/Text&gt;&#10;            &lt;Text style={{ flex: 1, fontSize: 15, color: '#64748B', fontFamily: 'Microsoft YaHei' }}&gt;对上接调度：真实 TCP、真实报文、真实遥控遥调时序&lt;/Text&gt;&#10;        &lt;/Box&gt;&#10;        &lt;Box style={{ display: 'flex', flexDirection: 'row', padding: '7px 14px', background: '#F8FAFC', alignItems: 'center' }}&gt;&#10;            &lt;Text style={{ width: 76, fontSize: 14, fontWeight: 'bold', color: '#3B82F6', fontFamily: 'Consolas' }}&gt;09-19&lt;/Text&gt;&#10;            &lt;Text style={{ width: 330, fontSize: 15, fontWeight: 600, color: '#1A1A1A', fontFamily: 'Microsoft YaHei' }}&gt;A1 + A2 缺口修复&lt;/Text&gt;&#10;            &lt;Text style={{ flex: 1, fontSize: 15, color: '#64748B', fontFamily: 'Microsoft YaHei' }}&gt;BMS 禁充/禁放位接进安全链；关口功率统一为只读电表&lt;/Text&gt;&#10;        &lt;/Box&gt;&#10;        &lt;Box style={{ display: 'flex', flexDirection: 'row', padding: '7px 14px', alignItems: 'center' }}&gt;&#10;            &lt;Text style={{ width: 76, fontSize: 14, fontWeight: 'bold', color: '#06B6D4', fontFamily: 'Consolas' }}&gt;09-20&lt;/Text&gt;&#10;            &lt;Text style={{ width: 330, fontSize: 15, fontWeight: 600, color: '#1A1A1A', fontFamily: 'Microsoft YaHei' }}&gt;新建 13/ Modbus 设备接入&lt;/Text&gt;&#10;            &lt;Text style={{ flex: 1, fontSize: 15, color: '#64748B', fontFamily: 'Microsoft YaHei' }}&gt;对下接 BMS/PCS/电表：三层测试 + 跨语言对账&lt;/Text&gt;&#10;        &lt;/Box&gt;&#10;        &lt;Box style={{ display: 'flex', flexDirection: 'row', padding: '7px 14px', background: '#F8FAFC', alignItems: 'center' }}&gt;&#10;            &lt;Text style={{ width: 76, fontSize: 14, fontWeight: 'bold', color: '#06B6D4', fontFamily: 'Consolas' }}&gt;09-20&lt;/Text&gt;&#10;            &lt;Text style={{ width: 330, fontSize: 15, fontWeight: 600, color: '#1A1A1A', fontFamily: 'Microsoft YaHei' }}&gt;A3.1 EXT 点区&lt;/Text&gt;&#10;            &lt;Text style={{ flex: 1, fontSize: 15, color: '#64748B', fontFamily: 'Microsoft YaHei' }}&gt;点表 32 → 40 点，调度遥调第一次「落得到地方」&lt;/Text&gt;&#10;        &lt;/Box&gt;&#10;        &lt;Box style={{ display: 'flex', flexDirection: 'row', padding: '7px 14px', alignItems: 'center' }}&gt;&#10;            &lt;Text style={{ width: 76, fontSize: 14, fontWeight: 'bold', color: '#06B6D4', fontFamily: 'Consolas' }}&gt;09-20&lt;/Text&gt;&#10;            &lt;Text style={{ width: 330, fontSize: 15, fontWeight: 600, color: '#1A1A1A', fontFamily: 'Microsoft YaHei' }}&gt;A3.2 接进安全链&lt;/Text&gt;&#10;            &lt;Text style={{ flex: 1, fontSize: 15, color: '#64748B', fontFamily: 'Microsoft YaHei' }}&gt;外部设定成第 10 条约束；停机/闭锁 stale 后粘住&lt;/Text&gt;&#10;        &lt;/Box&gt;&#10;        &lt;Box style={{ display: 'flex', flexDirection: 'row', padding: '7px 14px', background: '#F8FAFC', alignItems: 'center' }}&gt;&#10;            &lt;Text style={{ width: 76, fontSize: 14, fontWeight: 'bold', color: '#06B6D4', fontFamily: 'Consolas' }}&gt;09-20&lt;/Text&gt;&#10;            &lt;Text style={{ width: 330, fontSize: 15, fontWeight: 600, color: '#1A1A1A', fontFamily: 'Microsoft YaHei' }}&gt;转发表外置 CSV&lt;/Text&gt;&#10;            &lt;Text style={{ flex: 1, fontSize: 15, color: '#64748B', fontFamily: 'Microsoft YaHei' }}&gt;CA/IOA 映射改成数据文件，现场改 IOA 不用重编 C++&lt;/Text&gt;&#10;        &lt;/Box&gt;&#10;        &lt;Box style={{ display: 'flex', flexDirection: 'row', padding: '7px 14px', alignItems: 'center' }}&gt;&#10;            &lt;Text style={{ width: 76, fontSize: 14, fontWeight: 'bold', color: '#06B6D4', fontFamily: 'Consolas' }}&gt;09-20&lt;/Text&gt;&#10;            &lt;Text style={{ width: 330, fontSize: 15, fontWeight: 600, color: '#1A1A1A', fontFamily: 'Microsoft YaHei' }}&gt;文案/遗留清单清扫三遍&lt;/Text&gt;&#10;            &lt;Text style={{ flex: 1, fontSize: 15, color: '#64748B', fontFamily: 'Microsoft YaHei' }}&gt;扫掉会印进正式产物的过期数字与已关闭的缺口&lt;/Text&gt;&#10;        &lt;/Box&gt;&#10;        &lt;Box style={{ marginTop: 10, padding: '10px 14px', background: '#EFF6FF', borderRadius: 8, borderLeft: '3px solid #3B82F6' }}&gt;&#10;            &lt;Text style={{ fontSize: 14, color: '#1A1A1A', fontFamily: 'Microsoft YaHei', lineHeight: 1.6 }}&gt;&#10;                为什么「清扫文案」也算交付：断言错了会变红，&lt;Text style={{ fontSize: 14, fontWeight: 600, color: '#1A1A1A', fontFamily: 'Microsoft YaHei' }}&gt;产物里的数字错了永远是绿的&lt;/Text&gt;——这种错会跟着交付物到客户手里。&#10;            &lt;/Text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工作汇报&lt;/Text&gt;&#10;        &lt;Text style={{ fontSize: 14, color: '#64748B', fontFamily: 'Consolas' }}&gt;02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做了什么：两天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11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项交付改动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一条主线：让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EMS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从「自己能算」变成「能被调度、能被设备接入，每一步都有证据」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09600" y="1562100"/>
            <a:ext cx="10972800" cy="295275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42950" y="16287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4748B"/>
                </a:solidFill>
                <a:latin typeface="Microsoft YaHei"/>
                <a:ea typeface="Microsoft YaHei"/>
              </a:rPr>
              <a:t>日期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466850" y="162877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4748B"/>
                </a:solidFill>
                <a:latin typeface="Microsoft YaHei"/>
                <a:ea typeface="Microsoft YaHei"/>
              </a:rPr>
              <a:t>交付项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610100" y="1628775"/>
            <a:ext cx="683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4748B"/>
                </a:solidFill>
                <a:latin typeface="Microsoft YaHei"/>
                <a:ea typeface="Microsoft YaHei"/>
              </a:rPr>
              <a:t>一句话说明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42950" y="19335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09-19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466850" y="19240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新建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11/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系统级联调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610100" y="1924050"/>
            <a:ext cx="683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起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3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个真进程，跨进程读写同一块共享内存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09600" y="2162175"/>
            <a:ext cx="10972800" cy="304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42950" y="22383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09-19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466850" y="22288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新建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12/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最终验收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610100" y="2228850"/>
            <a:ext cx="683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七维度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55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项检查，产出正式验收报告（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md/json/html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42950" y="25431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09-19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66850" y="25336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修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07/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三处真实缺陷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610100" y="2533650"/>
            <a:ext cx="683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联调才暴露的问题，单模块自己测永远测不出来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2771775"/>
            <a:ext cx="10972800" cy="304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42950" y="28479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09-19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466850" y="28384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修判据缺陷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T47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610100" y="2838450"/>
            <a:ext cx="683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原断言测的是「机器闲不闲」不是「代码对不对」，改四层判据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42950" y="31527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09-19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466850" y="31432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新建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P3/ IEC104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从站网关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610100" y="3143250"/>
            <a:ext cx="683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对上接调度：真实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TCP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、真实报文、真实遥控遥调时序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09600" y="3381375"/>
            <a:ext cx="10972800" cy="304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42950" y="34575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B82F6"/>
                </a:solidFill>
                <a:latin typeface="Consolas"/>
                <a:ea typeface="Consolas"/>
              </a:rPr>
              <a:t>09-19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466850" y="34480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A1 + A2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缺口修复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610100" y="3448050"/>
            <a:ext cx="683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BMS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禁充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禁放位接进安全链；关口功率统一为只读电表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42950" y="37623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Consolas"/>
                <a:ea typeface="Consolas"/>
              </a:rPr>
              <a:t>09-20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466850" y="37528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新建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13/ Modbus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设备接入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610100" y="3752850"/>
            <a:ext cx="683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对下接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BMS/PCS/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电表：三层测试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跨语言对账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3990975"/>
            <a:ext cx="10972800" cy="304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42950" y="40671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Consolas"/>
                <a:ea typeface="Consolas"/>
              </a:rPr>
              <a:t>09-20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466850" y="40576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A3.1 EXT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点区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610100" y="4057650"/>
            <a:ext cx="683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点表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32 → 40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点，调度遥调第一次「落得到地方」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42950" y="43719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Consolas"/>
                <a:ea typeface="Consolas"/>
              </a:rPr>
              <a:t>09-20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466850" y="43624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A3.2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接进安全链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610100" y="4362450"/>
            <a:ext cx="683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外部设定成第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条约束；停机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闭锁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stale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后粘住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09600" y="4600575"/>
            <a:ext cx="10972800" cy="304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42950" y="46767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Consolas"/>
                <a:ea typeface="Consolas"/>
              </a:rPr>
              <a:t>09-20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466850" y="46672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转发表外置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CSV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610100" y="4667250"/>
            <a:ext cx="683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CA/IOA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映射改成数据文件，现场改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IOA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不用重编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C++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42950" y="49815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Consolas"/>
                <a:ea typeface="Consolas"/>
              </a:rPr>
              <a:t>09-20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466850" y="497205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文案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遗留清单清扫三遍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610100" y="4972050"/>
            <a:ext cx="6838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扫掉会印进正式产物的过期数字与已关闭的缺口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38175" y="5305425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38175" y="5305425"/>
            <a:ext cx="10972800" cy="447675"/>
          </a:xfrm>
          <a:custGeom>
            <a:pathLst>
              <a:path w="1152" h="4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2"/>
                </a:lnTo>
                <a:cubicBezTo>
                  <a:pt x="3" y="44"/>
                  <a:pt x="5" y="46"/>
                  <a:pt x="7" y="47"/>
                </a:cubicBezTo>
                <a:cubicBezTo>
                  <a:pt x="3" y="46"/>
                  <a:pt x="0" y="43"/>
                  <a:pt x="0" y="3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71525" y="5400675"/>
            <a:ext cx="106775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为什么「清扫文案」也算交付：断言错了会变红，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产物里的数字错了永远是绿的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——这种错会跟着交付物到客户手里。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工作汇报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81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怎么设置的 ①：测试从一层变五层&#10;        &lt;/Text&gt;&#10;        &lt;Text style={{ fontSize: 16, color: '#64748B', fontFamily: 'Microsoft YaHei' }}&gt;&#10;            每一层专门补上一层照不到的地方——这是这两天最重要的结构性变化&#10;        &lt;/Text&gt;&#10;    &lt;/Box&gt;&#10;    &lt;Box style={{ flex: 1, display: 'flex', flexDirection: 'row', gap: 28, alignItems: 'center' }}&gt;&#10;        &lt;Box style={{ width: 620, display: 'flex', flexDirection: 'column', gap: 8, alignItems: 'center' }}&gt;&#10;            &lt;Image src=&quot;assets/test_pyramid.png&quot; style={{ width: 620, height: 270 }} /&gt;&#10;            &lt;Text style={{ fontSize: 13, color: '#94A3B8', fontFamily: 'Microsoft YaHei', lineHeight: 1.5 }}&gt;&#10;                数字 = 各层断言条数（默认口径）&#10;            &lt;/Text&gt;&#10;        &lt;/Box&gt;&#10;        &lt;Box style={{ flex: 1, display: 'flex', flexDirection: 'column', gap: 9 }}&gt;&#10;            &lt;Box style={{ display: 'flex', flexDirection: 'row', gap: 10, alignItems: 'flex-start' }}&gt;&#10;                &lt;Text style={{ width: 88, fontSize: 15, fontWeight: 'bold', color: '#3B82F6', fontFamily: 'Microsoft YaHei' }}&gt;① 单元&lt;/Text&gt;&#10;                &lt;Text style={{ flex: 1, fontSize: 14, color: '#64748B', fontFamily: 'Microsoft YaHei', lineHeight: 1.5 }}&gt;~7900 条：每个模块自己的逻辑，秒级出结果&lt;/Text&gt;&#10;            &lt;/Box&gt;&#10;            &lt;Box style={{ display: 'flex', flexDirection: 'row', gap: 10, alignItems: 'flex-start' }}&gt;&#10;                &lt;Text style={{ width: 88, fontSize: 15, fontWeight: 'bold', color: '#3B82F6', fontFamily: 'Microsoft YaHei' }}&gt;② 跨进程&lt;/Text&gt;&#10;                &lt;Text style={{ flex: 1, fontSize: 14, color: '#64748B', fontFamily: 'Microsoft YaHei', lineHeight: 1.5 }}&gt;152 条：起真进程读写同一块共享内存——夹具替不了的那段&lt;/Text&gt;&#10;            &lt;/Box&gt;&#10;            &lt;Box style={{ display: 'flex', flexDirection: 'row', gap: 10, alignItems: 'flex-start' }}&gt;&#10;                &lt;Text style={{ width: 88, fontSize: 15, fontWeight: 'bold', color: '#3B82F6', fontFamily: 'Microsoft YaHei' }}&gt;③ 跨内存&lt;/Text&gt;&#10;                &lt;Text style={{ flex: 1, fontSize: 14, color: '#64748B', fontFamily: 'Microsoft YaHei', lineHeight: 1.5 }}&gt;121 条：不注入任何东西，写走真写者、读走真 API&lt;/Text&gt;&#10;            &lt;/Box&gt;&#10;            &lt;Box style={{ display: 'flex', flexDirection: 'row', gap: 10, alignItems: 'flex-start' }}&gt;&#10;                &lt;Text style={{ width: 88, fontSize: 15, fontWeight: 'bold', color: '#3B82F6', fontFamily: 'Microsoft YaHei' }}&gt;④ 跨语言&lt;/Text&gt;&#10;                &lt;Text style={{ flex: 1, fontSize: 14, color: '#64748B', fontFamily: 'Microsoft YaHei', lineHeight: 1.5 }}&gt;83 条：C++ 对第三方 pymodbus 真对端——自己写两端，双方同时理解错也能「对得上」&lt;/Text&gt;&#10;            &lt;/Box&gt;&#10;            &lt;Box style={{ display: 'flex', flexDirection: 'row', gap: 10, alignItems: 'flex-start' }}&gt;&#10;                &lt;Text style={{ width: 88, fontSize: 15, fontWeight: 'bold', color: '#3B82F6', fontFamily: 'Microsoft YaHei' }}&gt;⑤ 端到端&lt;/Text&gt;&#10;                &lt;Text style={{ flex: 1, fontSize: 14, color: '#64748B', fontFamily: 'Microsoft YaHei', lineHeight: 1.5 }}&gt;55/55：五进程闭环实测 + 七维度交付门禁&lt;/Text&gt;&#10;            &lt;/Box&gt;&#10;            &lt;Box style={{ marginTop: 6, padding: '11px 14px', background: '#EFF6FF', borderRadius: 8, borderLeft: '3px solid #3B82F6' }}&gt;&#10;                &lt;Text style={{ fontSize: 14, color: '#1A1A1A', fontFamily: 'Microsoft YaHei', lineHeight: 1.6 }}&gt;&#10;                    为什么 ③ 必须「不注入任何东西」：跨内存边界 + 夹具注入 = 测试盲区——断言全绿，真实链路却是断的。这个亏吃过，所以专设一层。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工作汇报&lt;/Text&gt;&#10;        &lt;Text style={{ fontSize: 14, color: '#64748B', fontFamily: 'Consolas' }}&gt;03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怎么设置的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①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：测试从一层变五层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每一层专门补上一层照不到的地方——这是这两天最重要的结构性变化</a:t>
            </a:r>
            <a:endParaRPr/>
          </a:p>
        </p:txBody>
      </p:sp>
      <p:pic>
        <p:nvPicPr>
          <p:cNvPr id="85" name=""/>
          <p:cNvPicPr>
            <a:picLocks noChangeAspect="1"/>
          </p:cNvPicPr>
          <p:nvPr/>
        </p:nvPicPr>
        <p:blipFill>
          <a:blip r:embed="rId1"/>
          <a:srcRect l="86" t="0" r="86" b="0"/>
          <a:stretch>
            <a:fillRect/>
          </a:stretch>
        </p:blipFill>
        <p:spPr>
          <a:xfrm rot="0" flipH="0" flipV="0">
            <a:off x="609600" y="2219325"/>
            <a:ext cx="5905500" cy="2571750"/>
          </a:xfrm>
          <a:prstGeom prst="rect">
            <a:avLst/>
          </a:prstGeom>
          <a:ln/>
        </p:spPr>
      </p:pic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609850" y="486727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数字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=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各层断言条数（默认口径）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781800" y="2314575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①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单元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715250" y="2314575"/>
            <a:ext cx="3867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~7900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条：每个模块自己的逻辑，秒级出结果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781800" y="2647950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②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跨进程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715250" y="2647950"/>
            <a:ext cx="3867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152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条：起真进程读写同一块共享内存——夹具替不了的那段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781800" y="2981325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③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跨内存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715250" y="2981325"/>
            <a:ext cx="3867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121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条：不注入任何东西，写走真写者、读走真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781800" y="3314700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④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跨语言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715250" y="3314700"/>
            <a:ext cx="38671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83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对第三方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pymodbus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真对端——自己写两端，双方同时理解错也能「对得上」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781800" y="3886200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⑤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端到端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715250" y="3886200"/>
            <a:ext cx="3867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55/55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：五进程闭环实测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七维度交付门禁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810375" y="4276725"/>
            <a:ext cx="4800600" cy="72390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6810375" y="4276725"/>
            <a:ext cx="4800600" cy="723900"/>
          </a:xfrm>
          <a:custGeom>
            <a:pathLst>
              <a:path w="504" h="7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71"/>
                </a:lnTo>
                <a:cubicBezTo>
                  <a:pt x="3" y="73"/>
                  <a:pt x="5" y="75"/>
                  <a:pt x="7" y="76"/>
                </a:cubicBezTo>
                <a:cubicBezTo>
                  <a:pt x="3" y="75"/>
                  <a:pt x="0" y="72"/>
                  <a:pt x="0" y="6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943725" y="4381500"/>
            <a:ext cx="4505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为什么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③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必须「不注入任何东西」：跨内存边界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夹具注入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=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测试盲区——断言全绿，真实链路却是断的。这个亏吃过，所以专设一层。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工作汇报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02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怎么设置的 ②：口径、门禁、改动纪律&#10;        &lt;/Text&gt;&#10;        &lt;Text style={{ fontSize: 16, color: '#64748B', fontFamily: 'Microsoft YaHei' }}&gt;&#10;            先把「怎么算对」钉死，再开始改代码&#10;        &lt;/Text&gt;&#10;    &lt;/Box&gt;&#10;    &lt;Box style={{ flex: 1, display: 'flex', flexDirection: 'row', gap: 24, alignItems: 'stretch' }}&gt;&#10;        &lt;Box style={{ flex: 1, background: '#F8FAFC', borderRadius: 12, padding: '20px 22px', display: 'flex', flexDirection: 'column', gap: 10, borderTop: '4px solid #3B82F6' }}&gt;&#10;            &lt;Text style={{ fontSize: 22, fontWeight: 'bold', color: '#1A1A1A', fontFamily: 'Microsoft YaHei' }}&gt;基线双口径&lt;/Text&gt;&#10;            &lt;Text style={{ fontSize: 15, color: '#64748B', fontFamily: 'Microsoft YaHei', lineHeight: 1.7 }}&gt;&#10;                本机默认 &lt;Text style={{ fontSize: 15, fontWeight: 'bold', color: '#1A1A1A', fontFamily: 'Consolas' }}&gt;9304&lt;/Text&gt;：跨语言层缺 Python 依赖，7 条显式跳过。&#10;                装上后 &lt;Text style={{ fontSize: 15, fontWeight: 'bold', color: '#1A1A1A', fontFamily: 'Consolas' }}&gt;9382&lt;/Text&gt;：7 条跳过变实跑。&#10;            &lt;/Text&gt;&#10;            &lt;Text style={{ fontSize: 15, color: '#64748B', fontFamily: 'Microsoft YaHei', lineHeight: 1.7 }}&gt;&#10;                判据看构建日志：SKIPPED=0 是 9382，SKIPPED=7 是 9304。&#10;            &lt;/Text&gt;&#10;            &lt;Box style={{ marginTop: 'auto', padding: '9px 12px', background: '#EFF6FF', borderRadius: 8 }}&gt;&#10;                &lt;Text style={{ fontSize: 14, fontWeight: 600, color: '#1A1A1A', fontFamily: 'Microsoft YaHei', lineHeight: 1.5 }}&gt;&#10;                    任何报告必须写清用的是哪个口径&#10;                &lt;/Text&gt;&#10;            &lt;/Box&gt;&#10;        &lt;/Box&gt;&#10;        &lt;Box style={{ flex: 1, background: '#F8FAFC', borderRadius: 12, padding: '20px 22px', display: 'flex', flexDirection: 'column', gap: 10, borderTop: '4px solid #3B82F6' }}&gt;&#10;            &lt;Text style={{ fontSize: 22, fontWeight: 'bold', color: '#1A1A1A', fontFamily: 'Microsoft YaHei' }}&gt;55 项交付门禁&lt;/Text&gt;&#10;            &lt;Text style={{ fontSize: 15, color: '#64748B', fontFamily: 'Microsoft YaHei', lineHeight: 1.7 }}&gt;&#10;                12/ 验收器跑七维度 &lt;Text style={{ fontSize: 15, fontWeight: 'bold', color: '#1A1A1A', fontFamily: 'Consolas' }}&gt;55&lt;/Text&gt; 项检查：功能 9 / 策略 9 / 安全 11 / 性能 5 / 稳定性 7 / 协同 8 / 文档 6。&#10;            &lt;/Text&gt;&#10;            &lt;Text style={{ fontSize: 15, color: '#64748B', fontFamily: 'Microsoft YaHei', lineHeight: 1.7 }}&gt;&#10;                产出正式验收报告（md/json/html），不是只印几行日志——产物要能被第三方逐条复核。&#10;            &lt;/Text&gt;&#10;            &lt;Box style={{ marginTop: 'auto', padding: '9px 12px', background: '#EFF6FF', borderRadius: 8 }}&gt;&#10;                &lt;Text style={{ fontSize: 14, fontWeight: 600, color: '#1A1A1A', fontFamily: 'Microsoft YaHei', lineHeight: 1.5 }}&gt;&#10;                    本次验收 55/55 通过，退出码 0&#10;                &lt;/Text&gt;&#10;            &lt;/Box&gt;&#10;        &lt;/Box&gt;&#10;        &lt;Box style={{ flex: 1, background: '#F8FAFC', borderRadius: 12, padding: '20px 22px', display: 'flex', flexDirection: 'column', gap: 10, borderTop: '4px solid #3B82F6' }}&gt;&#10;            &lt;Text style={{ fontSize: 22, fontWeight: 'bold', color: '#1A1A1A', fontFamily: 'Microsoft YaHei' }}&gt;追加式改动&lt;/Text&gt;&#10;            &lt;Text style={{ fontSize: 15, color: '#64748B', fontFamily: 'Microsoft YaHei', lineHeight: 1.7 }}&gt;&#10;                点表只能追加在末尾——索引就是运行时坐标，中间插入等于全系统错位。新增参数默认行为不变。&#10;            &lt;/Text&gt;&#10;            &lt;Text style={{ fontSize: 15, color: '#64748B', fontFamily: 'Microsoft YaHei', lineHeight: 1.7 }}&gt;&#10;                环境缺失时允许跳过，但必须显式宣布（总是印 SKIPPED=n），并传到最外层结论行；会进产物的数字从真相源派生，不手抄。&#10;            &lt;/Text&gt;&#10;            &lt;Box style={{ marginTop: 'auto', padding: '9px 12px', background: '#EFF6FF', borderRadius: 8 }}&gt;&#10;                &lt;Text style={{ fontSize: 14, fontWeight: 600, color: '#1A1A1A', fontFamily: 'Microsoft YaHei', lineHeight: 1.5 }}&gt;&#10;                    「其余文件逐位不变」也是要验证的东西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工作汇报&lt;/Text&gt;&#10;        &lt;Text style={{ fontSize: 14, color: '#64748B', fontFamily: 'Consolas' }}&gt;04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怎么设置的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②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：口径、门禁、改动纪律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先把「怎么算对」钉死，再开始改代码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09600" y="1028700"/>
            <a:ext cx="3505200" cy="5334000"/>
          </a:xfrm>
          <a:prstGeom prst="roundRect">
            <a:avLst>
              <a:gd name="adj" fmla="val 3261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609600" y="1028700"/>
            <a:ext cx="3505200" cy="5334000"/>
          </a:xfrm>
          <a:custGeom>
            <a:pathLst>
              <a:path w="368" h="560">
                <a:moveTo>
                  <a:pt x="357" y="0"/>
                </a:moveTo>
                <a:cubicBezTo>
                  <a:pt x="362" y="0"/>
                  <a:pt x="367" y="4"/>
                  <a:pt x="368" y="10"/>
                </a:cubicBezTo>
                <a:cubicBezTo>
                  <a:pt x="367" y="6"/>
                  <a:pt x="364" y="4"/>
                  <a:pt x="360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19150" y="121920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Microsoft YaHei"/>
                <a:ea typeface="Microsoft YaHei"/>
              </a:rPr>
              <a:t>基线双口径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19150" y="1571625"/>
            <a:ext cx="3086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本机默认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9304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：跨语言层缺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Python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依赖，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7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条显式跳过。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装上后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9382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7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条跳过变实跑。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19150" y="2257425"/>
            <a:ext cx="3086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判据看构建日志：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SKIPPED=0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9382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SKIPPED=7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9304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819150" y="5715000"/>
            <a:ext cx="3086100" cy="41910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33450" y="580072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任何报告必须写清用的是哪个口径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4343400" y="1028700"/>
            <a:ext cx="3505200" cy="5334000"/>
          </a:xfrm>
          <a:prstGeom prst="roundRect">
            <a:avLst>
              <a:gd name="adj" fmla="val 3261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4343400" y="1028700"/>
            <a:ext cx="3505200" cy="5334000"/>
          </a:xfrm>
          <a:custGeom>
            <a:pathLst>
              <a:path w="368" h="560">
                <a:moveTo>
                  <a:pt x="357" y="0"/>
                </a:moveTo>
                <a:cubicBezTo>
                  <a:pt x="362" y="0"/>
                  <a:pt x="367" y="4"/>
                  <a:pt x="368" y="10"/>
                </a:cubicBezTo>
                <a:cubicBezTo>
                  <a:pt x="367" y="6"/>
                  <a:pt x="364" y="4"/>
                  <a:pt x="360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552950" y="121920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1A1A"/>
                </a:solidFill>
                <a:latin typeface="Microsoft YaHei"/>
                <a:ea typeface="Microsoft YaHei"/>
              </a:rPr>
              <a:t>55 </a:t>
            </a:r>
            <a:r>
              <a:rPr lang="zh-CN" sz="1650" b="1">
                <a:solidFill>
                  <a:srgbClr val="1A1A1A"/>
                </a:solidFill>
                <a:latin typeface="Microsoft YaHei"/>
                <a:ea typeface="Microsoft YaHei"/>
              </a:rPr>
              <a:t>项交付门禁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552950" y="1571625"/>
            <a:ext cx="30861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12/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验收器跑七维度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55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项检查：功能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9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策略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9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安全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11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性能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5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稳定性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7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协同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8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文档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6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552950" y="2543175"/>
            <a:ext cx="3086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产出正式验收报告（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md/json/html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），不是只印几行日志——产物要能被第三方逐条复核。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4552950" y="5715000"/>
            <a:ext cx="3086100" cy="41910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667250" y="580072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本次验收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 55/55 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通过，退出码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8077200" y="1028700"/>
            <a:ext cx="3505200" cy="5334000"/>
          </a:xfrm>
          <a:prstGeom prst="roundRect">
            <a:avLst>
              <a:gd name="adj" fmla="val 3261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8077200" y="1028700"/>
            <a:ext cx="3505200" cy="5334000"/>
          </a:xfrm>
          <a:custGeom>
            <a:pathLst>
              <a:path w="368" h="560">
                <a:moveTo>
                  <a:pt x="357" y="0"/>
                </a:moveTo>
                <a:cubicBezTo>
                  <a:pt x="362" y="0"/>
                  <a:pt x="367" y="4"/>
                  <a:pt x="368" y="10"/>
                </a:cubicBezTo>
                <a:cubicBezTo>
                  <a:pt x="367" y="6"/>
                  <a:pt x="364" y="4"/>
                  <a:pt x="360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286750" y="121920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Microsoft YaHei"/>
                <a:ea typeface="Microsoft YaHei"/>
              </a:rPr>
              <a:t>追加式改动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286750" y="1571625"/>
            <a:ext cx="30861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点表只能追加在末尾——索引就是运行时坐标，中间插入等于全系统错位。新增参数默认行为不变。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286750" y="2543175"/>
            <a:ext cx="30861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环境缺失时允许跳过，但必须显式宣布（总是印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SKIPPED=n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），并传到最外层结论行；会进产物的数字从真相源派生，不手抄。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8286750" y="5715000"/>
            <a:ext cx="3086100" cy="41910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401050" y="580072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「其余文件逐位不变」也是要验证的东西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工作汇报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29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怎么做的 ①：8 次「故意改坏」&#10;        &lt;/Text&gt;&#10;        &lt;Text style={{ fontSize: 16, color: '#64748B', fontFamily: 'Microsoft YaHei' }}&gt;&#10;            测试全绿不等于测试有效——每加一批判据，当场把实现故意改坏，确认它真的会红，再改回来&#10;        &lt;/Text&gt;&#10;    &lt;/Box&gt;&#10;    &lt;Box style={{ flex: 1, display: 'flex', flexDirection: 'column', justifyContent: 'center', gap: 14 }}&gt;&#10;        &lt;Image src=&quot;assets/test_refute.png&quot; style={{ width: 1152, height: 403 }} /&gt;&#10;        &lt;Box style={{ display: 'flex', flexDirection: 'row', gap: 24 }}&gt;&#10;            &lt;Box style={{ flex: 1, padding: '12px 16px', background: '#F8FAFC', borderRadius: 8, borderLeft: '3px solid #3B82F6' }}&gt;&#10;                &lt;Text style={{ fontSize: 15, fontWeight: 'bold', color: '#1A1A1A', fontFamily: 'Microsoft YaHei', lineHeight: 1.5 }}&gt;&#10;                    6 次如预期变红&#10;                &lt;/Text&gt;&#10;                &lt;Text style={{ fontSize: 14, color: '#64748B', fontFamily: 'Microsoft YaHei', lineHeight: 1.6 }}&gt;&#10;                    红的正是该抓的形态：序号写序挪后一拍，读到「新下界配旧序号」；去掉「序号必须为偶数」，抓到半更新快照；Python 侧去掉电表偏差，3 条红并定位到具体行。&#10;                &lt;/Text&gt;&#10;            &lt;/Box&gt;&#10;            &lt;Box style={{ flex: 1, padding: '12px 16px', background: '#F8FAFC', borderRadius: 8, borderLeft: '3px solid #64748B' }}&gt;&#10;                &lt;Text style={{ fontSize: 15, fontWeight: 'bold', color: '#1A1A1A', fontFamily: 'Microsoft YaHei', lineHeight: 1.5 }}&gt;&#10;                    2 次没变红——证明我的注释写错了&#10;                &lt;/Text&gt;&#10;                &lt;Text style={{ fontSize: 14, color: '#64748B', fontFamily: 'Microsoft YaHei', lineHeight: 1.6 }}&gt;&#10;                    原以为「两端表顺序写反只能靠对账抓」，实测模拟器构造时就拒绝——注释是错的，判据是多余的。注释声称的行为必须与代码实际行为一致。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工作汇报&lt;/Text&gt;&#10;        &lt;Text style={{ fontSize: 14, color: '#64748B', fontFamily: 'Consolas' }}&gt;05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怎么做的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①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8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次「故意改坏」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测试全绿不等于测试有效——每加一批判据，当场把实现故意改坏，确认它真的会红，再改回来</a:t>
            </a:r>
            <a:endParaRPr/>
          </a:p>
        </p:txBody>
      </p:sp>
      <p:pic>
        <p:nvPicPr>
          <p:cNvPr id="133" name=""/>
          <p:cNvPicPr>
            <a:picLocks noChangeAspect="1"/>
          </p:cNvPicPr>
          <p:nvPr/>
        </p:nvPicPr>
        <p:blipFill>
          <a:blip r:embed="rId1"/>
          <a:srcRect l="0" t="47" r="0" b="47"/>
          <a:stretch>
            <a:fillRect/>
          </a:stretch>
        </p:blipFill>
        <p:spPr>
          <a:xfrm rot="0" flipH="0" flipV="0">
            <a:off x="609600" y="1171575"/>
            <a:ext cx="10972800" cy="3838575"/>
          </a:xfrm>
          <a:prstGeom prst="rect">
            <a:avLst/>
          </a:prstGeom>
          <a:ln/>
        </p:spPr>
      </p:pic>
      <p:sp>
        <p:nvSpPr>
          <p:cNvPr id="134" name=""/>
          <p:cNvSpPr/>
          <p:nvPr/>
        </p:nvSpPr>
        <p:spPr>
          <a:xfrm rot="0" flipH="0" flipV="0">
            <a:off x="638175" y="5143500"/>
            <a:ext cx="5372100" cy="100012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638175" y="5143500"/>
            <a:ext cx="5372100" cy="1000125"/>
          </a:xfrm>
          <a:custGeom>
            <a:pathLst>
              <a:path w="564" h="10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0"/>
                </a:lnTo>
                <a:cubicBezTo>
                  <a:pt x="3" y="102"/>
                  <a:pt x="5" y="104"/>
                  <a:pt x="7" y="105"/>
                </a:cubicBezTo>
                <a:cubicBezTo>
                  <a:pt x="3" y="104"/>
                  <a:pt x="0" y="101"/>
                  <a:pt x="0" y="9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90575" y="5257800"/>
            <a:ext cx="50387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6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次如预期变红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90575" y="5514975"/>
            <a:ext cx="50387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红的正是该抓的形态：序号写序挪后一拍，读到「新下界配旧序号」；去掉「序号必须为偶数」，抓到半更新快照；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Python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侧去掉电表偏差，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3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条红并定位到具体行。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238875" y="5143500"/>
            <a:ext cx="5372100" cy="100012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6238875" y="5143500"/>
            <a:ext cx="5372100" cy="1000125"/>
          </a:xfrm>
          <a:custGeom>
            <a:pathLst>
              <a:path w="564" h="10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0"/>
                </a:lnTo>
                <a:cubicBezTo>
                  <a:pt x="3" y="102"/>
                  <a:pt x="5" y="104"/>
                  <a:pt x="7" y="105"/>
                </a:cubicBezTo>
                <a:cubicBezTo>
                  <a:pt x="3" y="104"/>
                  <a:pt x="0" y="101"/>
                  <a:pt x="0" y="9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391275" y="5257800"/>
            <a:ext cx="50387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2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次没变红——证明我的注释写错了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391275" y="5514975"/>
            <a:ext cx="50387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原以为「两端表顺序写反只能靠对账抓」，实测模拟器构造时就拒绝——注释是错的，判据是多余的。注释声称的行为必须与代码实际行为一致。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工作汇报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44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怎么做的 ②：逐项复核 + 端到端实测&#10;        &lt;/Text&gt;&#10;        &lt;Text style={{ fontSize: 16, color: '#64748B', fontFamily: 'Microsoft YaHei' }}&gt;&#10;            数字不是抄文档的——19 个测试目标逐个本地实跑；链路不是「应该通了」——五个真进程跑 600 拍&#10;        &lt;/Text&gt;&#10;    &lt;/Box&gt;&#10;    &lt;Box style={{ flex: 1, display: 'flex', flexDirection: 'column', justifyContent: 'center', gap: 14 }}&gt;&#10;        &lt;Box style={{ display: 'flex', flexDirection: 'column', alignItems: 'center', gap: 6 }}&gt;&#10;            &lt;Image src=&quot;assets/five_proc.png&quot; style={{ width: 1000, height: 314 }} /&gt;&#10;            &lt;Text style={{ fontSize: 13, color: '#94A3B8', fontFamily: 'Microsoft YaHei' }}&gt;&#10;                端到端链路：主站模拟器 → IEC104 网关 → 共享内存 → EMS 侧安全链 → 设备侧&#10;            &lt;/Text&gt;&#10;        &lt;/Box&gt;&#10;        &lt;Box style={{ display: 'flex', flexDirection: 'row', gap: 24 }}&gt;&#10;            &lt;Box style={{ flex: 1, padding: '12px 16px', background: '#F8FAFC', borderRadius: 8, borderLeft: '3px solid #3B82F6' }}&gt;&#10;                &lt;Text style={{ fontSize: 15, fontWeight: 'bold', color: '#1A1A1A', fontFamily: 'Microsoft YaHei', lineHeight: 1.5 }}&gt;&#10;                    逐项复核 19/19，加总闭合&#10;                &lt;/Text&gt;&#10;                &lt;Text style={{ fontSize: 14, color: '#64748B', fontFamily: 'Microsoft YaHei', lineHeight: 1.6 }}&gt;&#10;                    每个测试目标本地实跑，与基线逐位一致。复核中抓到新现象：从仓库根目录跑测试会「假红」——产物走相对路径，工作目录变了地址就变了。纪律：必须在模块目录下跑。&#10;                &lt;/Text&gt;&#10;            &lt;/Box&gt;&#10;            &lt;Box style={{ flex: 1, padding: '12px 16px', background: '#F8FAFC', borderRadius: 8, borderLeft: '3px solid #06B6D4' }}&gt;&#10;                &lt;Text style={{ fontSize: 15, fontWeight: 'bold', color: '#1A1A1A', fontFamily: 'Microsoft YaHei', lineHeight: 1.5 }}&gt;&#10;                    600 拍闭环：指令真落点、真生效&#10;                &lt;/Text&gt;&#10;                &lt;Text style={{ fontSize: 14, color: '#64748B', fontFamily: 'Microsoft YaHei', lineHeight: 1.6 }}&gt;&#10;                    调度遥调 120.5 kW 真实落到 EXT 区（探针 p_setpoint=120.500）；主站发停机后安全链把出力收成 [0,0]，600/600 拍全生效；主站断开，网关立刻清空设定——失效兜底真起作用。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工作汇报&lt;/Text&gt;&#10;        &lt;Text style={{ fontSize: 14, color: '#64748B', fontFamily: 'Consolas' }}&gt;06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怎么做的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②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：逐项复核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端到端实测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数字不是抄文档的——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19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个测试目标逐个本地实跑；链路不是「应该通了」——五个真进程跑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600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拍</a:t>
            </a:r>
            <a:endParaRPr/>
          </a:p>
        </p:txBody>
      </p:sp>
      <p:pic>
        <p:nvPicPr>
          <p:cNvPr id="148" name=""/>
          <p:cNvPicPr>
            <a:picLocks noChangeAspect="1"/>
          </p:cNvPicPr>
          <p:nvPr/>
        </p:nvPicPr>
        <p:blipFill>
          <a:blip r:embed="rId1"/>
          <a:srcRect l="45" t="0" r="45" b="0"/>
          <a:stretch>
            <a:fillRect/>
          </a:stretch>
        </p:blipFill>
        <p:spPr>
          <a:xfrm rot="0" flipH="0" flipV="0">
            <a:off x="1333500" y="1362075"/>
            <a:ext cx="9525000" cy="2990850"/>
          </a:xfrm>
          <a:prstGeom prst="rect">
            <a:avLst/>
          </a:prstGeom>
          <a:ln/>
        </p:spPr>
      </p:pic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3848100" y="4410075"/>
            <a:ext cx="4505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端到端链路：主站模拟器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→ IEC104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网关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共享内存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→ EMS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侧安全链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设备侧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38175" y="4695825"/>
            <a:ext cx="5372100" cy="125730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638175" y="4695825"/>
            <a:ext cx="5372100" cy="1257300"/>
          </a:xfrm>
          <a:custGeom>
            <a:pathLst>
              <a:path w="564" h="13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27"/>
                </a:lnTo>
                <a:cubicBezTo>
                  <a:pt x="3" y="129"/>
                  <a:pt x="5" y="131"/>
                  <a:pt x="7" y="132"/>
                </a:cubicBezTo>
                <a:cubicBezTo>
                  <a:pt x="3" y="131"/>
                  <a:pt x="0" y="128"/>
                  <a:pt x="0" y="12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90575" y="4810125"/>
            <a:ext cx="50387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逐项复核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19/19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，加总闭合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90575" y="5067300"/>
            <a:ext cx="50387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每个测试目标本地实跑，与基线逐位一致。复核中抓到新现象：从仓库根目录跑测试会「假红」——产物走相对路径，工作目录变了地址就变了。纪律：必须在模块目录下跑。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238875" y="4695825"/>
            <a:ext cx="5372100" cy="125730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238875" y="4695825"/>
            <a:ext cx="5372100" cy="1257300"/>
          </a:xfrm>
          <a:custGeom>
            <a:pathLst>
              <a:path w="564" h="13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27"/>
                </a:lnTo>
                <a:cubicBezTo>
                  <a:pt x="3" y="129"/>
                  <a:pt x="5" y="131"/>
                  <a:pt x="7" y="132"/>
                </a:cubicBezTo>
                <a:cubicBezTo>
                  <a:pt x="3" y="131"/>
                  <a:pt x="0" y="128"/>
                  <a:pt x="0" y="12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391275" y="4810125"/>
            <a:ext cx="50387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600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拍闭环：指令真落点、真生效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391275" y="5067300"/>
            <a:ext cx="50387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调度遥调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120.5 kW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真实落到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EXT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区（探针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p_setpoint=120.500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）；主站发停机后安全链把出力收成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[0,0]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600/600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拍全生效；主站断开，网关立刻清空设定——失效兜底真起作用。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工作汇报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60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结果 ①：断言基线 8085 → 9304，0 失败&#10;        &lt;/Text&gt;&#10;        &lt;Text style={{ fontSize: 16, color: '#64748B', fontFamily: 'Microsoft YaHei' }}&gt;&#10;            两天净增 +1219 条——演进链上每一跳都能指到一项具体工作&#10;        &lt;/Text&gt;&#10;    &lt;/Box&gt;&#10;    &lt;Box style={{ flex: 1, display: 'flex', flexDirection: 'row', gap: 30, alignItems: 'center' }}&gt;&#10;        &lt;Box style={{ width: 330, display: 'flex', flexDirection: 'column', gap: 10 }}&gt;&#10;            &lt;Text style={{ fontSize: 15, color: '#64748B', fontFamily: 'Microsoft YaHei' }}&gt;全量断言（本机默认口径）&lt;/Text&gt;&#10;            &lt;Text style={{ fontSize: 118, fontWeight: 'bold', color: '#EF4444', fontFamily: 'Consolas', lineHeight: 1.0 }}&gt;&#10;                9304&#10;            &lt;/Text&gt;&#10;            &lt;Box style={{ display: 'flex', flexDirection: 'row', alignItems: 'baseline', gap: 8 }}&gt;&#10;                &lt;Text style={{ fontSize: 34, fontWeight: 'bold', color: '#06B6D4', fontFamily: 'Consolas' }}&gt;+1219&lt;/Text&gt;&#10;                &lt;Text style={{ fontSize: 15, color: '#64748B', fontFamily: 'Microsoft YaHei' }}&gt;较 09-19 起点 8085&lt;/Text&gt;&#10;            &lt;/Box&gt;&#10;            &lt;Box style={{ marginTop: 8, padding: '12px 14px', background: '#EFF6FF', borderRadius: 8, borderLeft: '3px solid #3B82F6' }}&gt;&#10;                &lt;Text style={{ fontSize: 15, color: '#1A1A1A', fontWeight: 600, fontFamily: 'Microsoft YaHei', lineHeight: 1.6 }}&gt;&#10;                    数字涨不是目的——&lt;br /&gt;&#10;                    「能被自动验证的行为变多」才是。&#10;                &lt;/Text&gt;&#10;            &lt;/Box&gt;&#10;        &lt;/Box&gt;&#10;        &lt;Box style={{ flex: 1, display: 'flex', flexDirection: 'column', gap: 10, alignItems: 'center' }}&gt;&#10;            &lt;Image src=&quot;assets/test_baseline.png&quot; style={{ width: 760, height: 325 }} /&gt;&#10;            &lt;Text style={{ fontSize: 13, color: '#94A3B8', fontFamily: 'Microsoft YaHei', lineHeight: 1.6 }}&gt;&#10;                演进链：8085 → 8331（+11/+12）→ 8498（T47）→ 8523/8547（A1/A2）→ 8906/8984（13/）→ 9245/9323（A3.1）→ 9276/9354（A3.2）→ 9304/9382（转发表 CSV）。&#10;                左值 = 默认口径（SKIPPED=7），右值 = 装 pymodbus 后（SKIPPED=0）。&#10;            &lt;/Text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工作汇报&lt;/Text&gt;&#10;        &lt;Text style={{ fontSize: 14, color: '#64748B', fontFamily: 'Consolas' }}&gt;07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结果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①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：断言基线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8085 → 9304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，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0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失败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两天净增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+1219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条——演进链上每一跳都能指到一项具体工作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213360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全量断言（本机默认口径）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3143250" cy="1352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850" b="1">
                <a:solidFill>
                  <a:srgbClr val="EF4444"/>
                </a:solidFill>
                <a:latin typeface="Consolas"/>
                <a:ea typeface="Consolas"/>
              </a:rPr>
              <a:t>9304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3848100"/>
            <a:ext cx="895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6B6D4"/>
                </a:solidFill>
                <a:latin typeface="Consolas"/>
                <a:ea typeface="Consolas"/>
              </a:rPr>
              <a:t>+1219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581150" y="384810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较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09-19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起点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8085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38175" y="4410075"/>
            <a:ext cx="3143250" cy="781050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638175" y="4410075"/>
            <a:ext cx="3143250" cy="781050"/>
          </a:xfrm>
          <a:custGeom>
            <a:pathLst>
              <a:path w="330" h="8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77"/>
                </a:lnTo>
                <a:cubicBezTo>
                  <a:pt x="3" y="79"/>
                  <a:pt x="5" y="81"/>
                  <a:pt x="7" y="82"/>
                </a:cubicBezTo>
                <a:cubicBezTo>
                  <a:pt x="3" y="81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71525" y="4524375"/>
            <a:ext cx="2847975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数字涨不是目的——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「能被自动验证的行为变多」才是。</a:t>
            </a:r>
            <a:endParaRPr/>
          </a:p>
        </p:txBody>
      </p:sp>
      <p:pic>
        <p:nvPicPr>
          <p:cNvPr id="171" name=""/>
          <p:cNvPicPr>
            <a:picLocks noChangeAspect="1"/>
          </p:cNvPicPr>
          <p:nvPr/>
        </p:nvPicPr>
        <p:blipFill>
          <a:blip r:embed="rId1"/>
          <a:srcRect l="15" t="0" r="15" b="0"/>
          <a:stretch>
            <a:fillRect/>
          </a:stretch>
        </p:blipFill>
        <p:spPr>
          <a:xfrm rot="0" flipH="0" flipV="0">
            <a:off x="4191000" y="1828800"/>
            <a:ext cx="7239000" cy="3095625"/>
          </a:xfrm>
          <a:prstGeom prst="rect">
            <a:avLst/>
          </a:prstGeom>
          <a:ln/>
        </p:spPr>
      </p:pic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038600" y="5019675"/>
            <a:ext cx="75438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演进链：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8085 → 8331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+11/+12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）→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8498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T47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）→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8523/8547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A1/A2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）→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8906/8984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13/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）→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9245/9323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A3.1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）→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9276/9354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A3.2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）→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9304/9382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（转发表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CSV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）。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左值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=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默认口径（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SKIPPED=7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），右值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=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装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pymodbus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后（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SKIPPED=0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工作汇报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75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结果 ②：测试抓到三类问题&#10;        &lt;/Text&gt;&#10;        &lt;Text style={{ fontSize: 16, color: '#64748B', fontFamily: 'Microsoft YaHei' }}&gt;&#10;            最值得记的是第二类——测试自己也会出错，而且错得很安静&#10;        &lt;/Text&gt;&#10;    &lt;/Box&gt;&#10;    &lt;Box style={{ flex: 1, display: 'flex', flexDirection: 'column', gap: 14, justifyContent: 'center' }}&gt;&#10;        &lt;Box style={{ display: 'flex', flexDirection: 'row', gap: 22, alignItems: 'stretch' }}&gt;&#10;            &lt;Box style={{ flex: 1, background: '#F8FAFC', borderRadius: 12, padding: '16px 18px', display: 'flex', flexDirection: 'column', gap: 8, borderTop: '4px solid #EF4444' }}&gt;&#10;                &lt;Text style={{ fontSize: 20, fontWeight: 'bold', color: '#1A1A1A', fontFamily: 'Microsoft YaHei' }}&gt;① 产品缺陷&lt;/Text&gt;&#10;                &lt;Text style={{ fontSize: 14, color: '#64748B', fontFamily: 'Microsoft YaHei', lineHeight: 1.65 }}&gt;&#10;                    · 发布协议缺「写之前也递增序号」——一次写 6 个点的清空操作才暴露&lt;br /&gt;&#10;                    · 同名点表两套内容：缓存只判存在、不判源文件更新，编译期一个字都不说&lt;br /&gt;&#10;                    · SKIP 了却印「三层测试全部通过」——把「没验」写成「验过」&lt;br /&gt;&#10;                    · 心跳行永远印 T+0s：换算单位写错&lt;br /&gt;&#10;                    · 禁充/禁放位通路级失效：看着在跑、实际没生效&#10;                &lt;/Text&gt;&#10;                &lt;Text style={{ marginTop: 'auto', fontSize: 13, color: '#94A3B8', fontFamily: 'Microsoft YaHei', lineHeight: 1.5 }}&gt;&#10;                    另有 13/ 内 6 个、P3/ 内 6 个静默出错类缺陷，详见 CHANGES.md&#10;                &lt;/Text&gt;&#10;            &lt;/Box&gt;&#10;            &lt;Box style={{ flex: 1, background: '#F8FAFC', borderRadius: 12, padding: '16px 18px', display: 'flex', flexDirection: 'column', gap: 8, borderTop: '4px solid #3B82F6' }}&gt;&#10;                &lt;Text style={{ fontSize: 20, fontWeight: 'bold', color: '#1A1A1A', fontFamily: 'Microsoft YaHei' }}&gt;② 测试自己出错&lt;/Text&gt;&#10;                &lt;Text style={{ fontSize: 14, color: '#64748B', fontFamily: 'Microsoft YaHei', lineHeight: 1.65 }}&gt;&#10;                    · T47 断言测的是「机器闲不闲」不是「代码对不对」——全量构建下红了一次，单跑恒绿&lt;br /&gt;&#10;                    · 从仓库根目录跑测试「假红」：165/6、126/12；换到模块目录立刻 171/0、144/0&lt;br /&gt;&#10;                    · 「假红」和「假绿」一样危险，只是方向相反&#10;                &lt;/Text&gt;&#10;                &lt;Text style={{ marginTop: 'auto', fontSize: 13, fontWeight: 600, color: '#1A1A1A', fontFamily: 'Microsoft YaHei', lineHeight: 1.5 }}&gt;&#10;                    对策：新增判据当场反证一次；失败先怀疑工作目录，再怀疑代码&#10;                &lt;/Text&gt;&#10;            &lt;/Box&gt;&#10;            &lt;Box style={{ flex: 1, background: '#F8FAFC', borderRadius: 12, padding: '16px 18px', display: 'flex', flexDirection: 'column', gap: 8, borderTop: '4px solid #3B82F6' }}&gt;&#10;                &lt;Text style={{ fontSize: 20, fontWeight: 'bold', color: '#1A1A1A', fontFamily: 'Microsoft YaHei' }}&gt;③ 过期产物&lt;/Text&gt;&#10;                &lt;Text style={{ fontSize: 14, color: '#64748B', fontFamily: 'Microsoft YaHei', lineHeight: 1.65 }}&gt;&#10;                    · 验收报告标题「32 点表自检」，证据行已是 40——一条检查项自己和自己矛盾&lt;br /&gt;&#10;                    · 已交付的缺口仍挂在「未做」栏&lt;br /&gt;&#10;                    · 根目录构建日志停在旧口径&lt;br /&gt;&#10;                    · 这种错断言抓不到——技术上它是对的，错的是文案&#10;                &lt;/Text&gt;&#10;                &lt;Text style={{ marginTop: 'auto', fontSize: 13, fontWeight: 600, color: '#1A1A1A', fontFamily: 'Microsoft YaHei', lineHeight: 1.5 }}&gt;&#10;                    对策：进产物的数字从真相源派生，让它结构上不可能过期&#10;                &lt;/Text&gt;&#10;            &lt;/Box&gt;&#10;        &lt;/Box&gt;&#10;        &lt;Box style={{ padding: '11px 16px', background: '#EFF6FF', borderRadius: 8, borderLeft: '3px solid #3B82F6' }}&gt;&#10;            &lt;Text style={{ fontSize: 15, color: '#1A1A1A', fontFamily: 'Microsoft YaHei', lineHeight: 1.6 }}&gt;&#10;                三类问题的共同点：&lt;Text style={{ fontSize: 15, fontWeight: 'bold', color: '#1A1A1A', fontFamily: 'Microsoft YaHei' }}&gt;不报错、退出码 0&lt;/Text&gt;。所以「没报违规」≠「查过之后没违规」——每一类都靠主动复核才浮出水面。&#10;            &lt;/Text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工作汇报&lt;/Text&gt;&#10;        &lt;Text style={{ fontSize: 14, color: '#64748B', fontFamily: 'Consolas' }}&gt;08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结果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②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：测试抓到三类问题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最值得记的是第二类——测试自己也会出错，而且错得很安静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09600" y="1743075"/>
            <a:ext cx="3514725" cy="3286125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609600" y="1743075"/>
            <a:ext cx="3514725" cy="3286125"/>
          </a:xfrm>
          <a:custGeom>
            <a:pathLst>
              <a:path w="369" h="345">
                <a:moveTo>
                  <a:pt x="358" y="0"/>
                </a:moveTo>
                <a:cubicBezTo>
                  <a:pt x="363" y="0"/>
                  <a:pt x="368" y="4"/>
                  <a:pt x="369" y="10"/>
                </a:cubicBezTo>
                <a:cubicBezTo>
                  <a:pt x="368" y="6"/>
                  <a:pt x="365" y="4"/>
                  <a:pt x="361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7" y="0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81050" y="1895475"/>
            <a:ext cx="3171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1A1A"/>
                </a:solidFill>
                <a:latin typeface="Microsoft YaHei"/>
                <a:ea typeface="Microsoft YaHei"/>
              </a:rPr>
              <a:t>① </a:t>
            </a: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产品缺陷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81050" y="2200275"/>
            <a:ext cx="3171825" cy="2114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发布协议缺「写之前也递增序号」——一次写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6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个点的清空操作才暴露</a:t>
            </a:r>
            <a:endParaRPr/>
          </a:p>
          <a:p>
            <a:pPr>
              <a:lnSpc>
                <a:spcPct val="165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同名点表两套内容：缓存只判存在、不判源文件更新，编译期一个字都不说</a:t>
            </a:r>
            <a:endParaRPr/>
          </a:p>
          <a:p>
            <a:pPr>
              <a:lnSpc>
                <a:spcPct val="165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· SKIP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了却印「三层测试全部通过」——把「没验」写成「验过」</a:t>
            </a:r>
            <a:endParaRPr/>
          </a:p>
          <a:p>
            <a:pPr>
              <a:lnSpc>
                <a:spcPct val="165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心跳行永远印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T+0s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：换算单位写错</a:t>
            </a:r>
            <a:endParaRPr/>
          </a:p>
          <a:p>
            <a:pPr>
              <a:lnSpc>
                <a:spcPct val="165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禁充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禁放位通路级失效：看着在跑、实际没生效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81050" y="4391025"/>
            <a:ext cx="31718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另有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13/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内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6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个、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P3/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内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6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个静默出错类缺陷，详见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CHANGES.md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4333875" y="1743075"/>
            <a:ext cx="3524250" cy="3286125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4333875" y="1743075"/>
            <a:ext cx="3524250" cy="3286125"/>
          </a:xfrm>
          <a:custGeom>
            <a:pathLst>
              <a:path w="370" h="345">
                <a:moveTo>
                  <a:pt x="359" y="0"/>
                </a:moveTo>
                <a:cubicBezTo>
                  <a:pt x="364" y="0"/>
                  <a:pt x="369" y="4"/>
                  <a:pt x="370" y="10"/>
                </a:cubicBezTo>
                <a:cubicBezTo>
                  <a:pt x="369" y="6"/>
                  <a:pt x="366" y="4"/>
                  <a:pt x="36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505325" y="1895475"/>
            <a:ext cx="3181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1A1A"/>
                </a:solidFill>
                <a:latin typeface="Microsoft YaHei"/>
                <a:ea typeface="Microsoft YaHei"/>
              </a:rPr>
              <a:t>② </a:t>
            </a: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测试自己出错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505325" y="2200275"/>
            <a:ext cx="3181350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· T47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断言测的是「机器闲不闲」不是「代码对不对」——全量构建下红了一次，单跑恒绿</a:t>
            </a:r>
            <a:endParaRPr/>
          </a:p>
          <a:p>
            <a:pPr>
              <a:lnSpc>
                <a:spcPct val="165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从仓库根目录跑测试「假红」：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165/6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126/12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；换到模块目录立刻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171/0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144/0</a:t>
            </a:r>
            <a:endParaRPr/>
          </a:p>
          <a:p>
            <a:pPr>
              <a:lnSpc>
                <a:spcPct val="165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「假红」和「假绿」一样危险，只是方向相反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505325" y="4391025"/>
            <a:ext cx="31813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对策：新增判据当场反证一次；失败先怀疑工作目录，再怀疑代码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8067675" y="1743075"/>
            <a:ext cx="3514725" cy="3286125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8067675" y="1743075"/>
            <a:ext cx="3514725" cy="3286125"/>
          </a:xfrm>
          <a:custGeom>
            <a:pathLst>
              <a:path w="369" h="345">
                <a:moveTo>
                  <a:pt x="358" y="0"/>
                </a:moveTo>
                <a:cubicBezTo>
                  <a:pt x="363" y="0"/>
                  <a:pt x="368" y="4"/>
                  <a:pt x="369" y="10"/>
                </a:cubicBezTo>
                <a:cubicBezTo>
                  <a:pt x="368" y="6"/>
                  <a:pt x="365" y="4"/>
                  <a:pt x="361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7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239125" y="1895475"/>
            <a:ext cx="3171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1A1A"/>
                </a:solidFill>
                <a:latin typeface="Microsoft YaHei"/>
                <a:ea typeface="Microsoft YaHei"/>
              </a:rPr>
              <a:t>③ </a:t>
            </a: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过期产物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239125" y="2200275"/>
            <a:ext cx="3171825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验收报告标题「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32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点表自检」，证据行已是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40——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一条检查项自己和自己矛盾</a:t>
            </a:r>
            <a:endParaRPr/>
          </a:p>
          <a:p>
            <a:pPr>
              <a:lnSpc>
                <a:spcPct val="165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已交付的缺口仍挂在「未做」栏</a:t>
            </a:r>
            <a:endParaRPr/>
          </a:p>
          <a:p>
            <a:pPr>
              <a:lnSpc>
                <a:spcPct val="165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根目录构建日志停在旧口径</a:t>
            </a:r>
            <a:endParaRPr/>
          </a:p>
          <a:p>
            <a:pPr>
              <a:lnSpc>
                <a:spcPct val="165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这种错断言抓不到——技术上它是对的，错的是文案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239125" y="4391025"/>
            <a:ext cx="31718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对策：进产物的数字从真相源派生，让它结构上不可能过期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38175" y="5124450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638175" y="5124450"/>
            <a:ext cx="10972800" cy="485775"/>
          </a:xfrm>
          <a:custGeom>
            <a:pathLst>
              <a:path w="1152" h="51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6"/>
                </a:lnTo>
                <a:cubicBezTo>
                  <a:pt x="3" y="48"/>
                  <a:pt x="5" y="50"/>
                  <a:pt x="7" y="51"/>
                </a:cubicBezTo>
                <a:cubicBezTo>
                  <a:pt x="3" y="50"/>
                  <a:pt x="0" y="47"/>
                  <a:pt x="0" y="4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90575" y="5229225"/>
            <a:ext cx="106394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三类问题的共同点：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不报错、退出码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> 0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。所以「没报违规」≠「查过之后没违规」——每一类都靠主动复核才浮出水面。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工作汇报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9" name="" descr="&lt;Slide style={{ width: 1280, height: 720, padding: '20px 64px', background: '#FFFFFF', display: 'flex', flexDirection: 'column' }}&gt;&#10;    &lt;Box style={{ height: 84, display: 'flex', flexDirection: 'column', justifyContent: 'center', gap: 6 }}&gt;&#10;        &lt;Text style={{ fontSize: 36, fontWeight: 'bold', color: '#1A1A1A', fontFamily: 'Microsoft YaHei' }}&gt;&#10;            遗留与风险&#10;        &lt;/Text&gt;&#10;        &lt;Text style={{ fontSize: 16, color: '#64748B', fontFamily: 'Microsoft YaHei' }}&gt;&#10;            唯一的交付阻塞项是 GPL-3.0 授权；与「能用」距离最大的是 9 策略还没接真实算法&#10;        &lt;/Text&gt;&#10;    &lt;/Box&gt;&#10;    &lt;Box style={{ flex: 1, display: 'flex', flexDirection: 'column', gap: 9, justifyContent: 'center' }}&gt;&#10;        &lt;Box style={{ display: 'flex', flexDirection: 'row', alignItems: 'center', gap: 14, padding: '10px 16px', background: '#FEF2F2', borderRadius: 8 }}&gt;&#10;            &lt;Box style={{ width: 62, padding: '4px 0', background: '#EF4444', borderRadius: 6, display: 'flex', justifyContent: 'center' }}&gt;&#10;                &lt;Text style={{ fontSize: 14, fontWeight: 'bold', color: '#FFFFFF', fontFamily: 'Microsoft YaHei' }}&gt;阻塞&lt;/Text&gt;&#10;            &lt;/Box&gt;&#10;            &lt;Text style={{ width: 252, fontSize: 16, fontWeight: 'bold', color: '#1A1A1A', fontFamily: 'Microsoft YaHei' }}&gt;依赖库 GPL-3.0 授权&lt;/Text&gt;&#10;            &lt;Text style={{ flex: 1, fontSize: 14, color: '#64748B', fontFamily: 'Microsoft YaHei', lineHeight: 1.5 }}&gt;交付前必须处理（替换或取得授权）——唯一的交付阻塞项&lt;/Text&gt;&#10;        &lt;/Box&gt;&#10;        &lt;Box style={{ display: 'flex', flexDirection: 'row', alignItems: 'center', gap: 14, padding: '10px 16px', background: '#F8FAFC', borderRadius: 8 }}&gt;&#10;            &lt;Box style={{ width: 62, padding: '4px 0', background: '#F1F5F9', borderRadius: 6, display: 'flex', justifyContent: 'center' }}&gt;&#10;                &lt;Text style={{ fontSize: 14, fontWeight: 'bold', color: '#EF4444', fontFamily: 'Microsoft YaHei' }}&gt;高&lt;/Text&gt;&#10;            &lt;/Box&gt;&#10;            &lt;Text style={{ width: 252, fontSize: 16, fontWeight: 'bold', color: '#1A1A1A', fontFamily: 'Microsoft YaHei' }}&gt;9 策略仍是演示实现&lt;/Text&gt;&#10;            &lt;Text style={{ flex: 1, fontSize: 14, color: '#64748B', fontFamily: 'Microsoft YaHei', lineHeight: 1.5 }}&gt;真实算法（LP/MILP、安全约束、防逆流/需量/平滑）都做了，但没接进调度链——与「能用」距离最大的一项&lt;/Text&gt;&#10;        &lt;/Box&gt;&#10;        &lt;Box style={{ display: 'flex', flexDirection: 'row', alignItems: 'center', gap: 14, padding: '10px 16px', background: '#F8FAFC', borderRadius: 8 }}&gt;&#10;            &lt;Box style={{ width: 62, padding: '4px 0', background: '#F1F5F9', borderRadius: 6, display: 'flex', justifyContent: 'center' }}&gt;&#10;                &lt;Text style={{ fontSize: 14, fontWeight: 'bold', color: '#EF4444', fontFamily: 'Microsoft YaHei' }}&gt;高&lt;/Text&gt;&#10;            &lt;/Box&gt;&#10;            &lt;Text style={{ width: 252, fontSize: 16, fontWeight: 'bold', color: '#1A1A1A', fontFamily: 'Microsoft YaHei' }}&gt;现场化参数与数据源&lt;/Text&gt;&#10;            &lt;Text style={{ flex: 1, fontSize: 14, color: '#64748B', fontFamily: 'Microsoft YaHei', lineHeight: 1.5 }}&gt;stale_s 硬编码 30s，要按现场网关心跳定；BMS 充放限值无真实来源；电表缺漂移与时延；累计电量（BCR）未做&lt;/Text&gt;&#10;        &lt;/Box&gt;&#10;        &lt;Box style={{ display: 'flex', flexDirection: 'row', alignItems: 'center', gap: 14, padding: '10px 16px', background: '#F8FAFC', borderRadius: 8 }}&gt;&#10;            &lt;Box style={{ width: 62, padding: '4px 0', background: '#F1F5F9', borderRadius: 6, display: 'flex', justifyContent: 'center' }}&gt;&#10;                &lt;Text style={{ fontSize: 14, fontWeight: 'bold', color: '#EF4444', fontFamily: 'Microsoft YaHei' }}&gt;高&lt;/Text&gt;&#10;            &lt;/Box&gt;&#10;            &lt;Text style={{ width: 252, fontSize: 16, fontWeight: 'bold', color: '#1A1A1A', fontFamily: 'Microsoft YaHei' }}&gt;刷新根目录构建日志&lt;/Text&gt;&#10;            &lt;Text style={{ flex: 1, fontSize: 14, color: '#64748B', fontFamily: 'Microsoft YaHei', lineHeight: 1.5 }}&gt;本机跑不了 .bat（安全策略），日志停在 09-20 旧口径——需在能跑 scripts\build_all.bat 的环境重跑一次，把 9304/9382 官方日志补齐&lt;/Text&gt;&#10;        &lt;/Box&gt;&#10;        &lt;Box style={{ display: 'flex', flexDirection: 'row', alignItems: 'center', gap: 14, padding: '10px 16px', background: '#F8FAFC', borderRadius: 8 }}&gt;&#10;            &lt;Box style={{ width: 62, padding: '4px 0', background: '#F1F5F9', borderRadius: 6, display: 'flex', justifyContent: 'center' }}&gt;&#10;                &lt;Text style={{ fontSize: 14, fontWeight: 'bold', color: '#3B82F6', fontFamily: 'Microsoft YaHei' }}&gt;中&lt;/Text&gt;&#10;            &lt;/Box&gt;&#10;            &lt;Text style={{ width: 252, fontSize: 16, fontWeight: 'bold', color: '#1A1A1A', fontFamily: 'Microsoft YaHei' }}&gt;设备全点表（B2）&lt;/Text&gt;&#10;            &lt;Text style={{ flex: 1, fontSize: 14, color: '#64748B', fontFamily: 'Microsoft YaHei', lineHeight: 1.5 }}&gt;段里目前只有 EMS 抽象表，现场设备完整点表未建模——下一项按优先级要做的&lt;/Text&gt;&#10;        &lt;/Box&gt;&#10;        &lt;Box style={{ display: 'flex', flexDirection: 'row', alignItems: 'center', gap: 14, padding: '10px 16px', background: '#F8FAFC', borderRadius: 8 }}&gt;&#10;            &lt;Box style={{ width: 62, padding: '4px 0', background: '#F1F5F9', borderRadius: 6, display: 'flex', justifyContent: 'center' }}&gt;&#10;                &lt;Text style={{ fontSize: 14, fontWeight: 'bold', color: '#3B82F6', fontFamily: 'Microsoft YaHei' }}&gt;中&lt;/Text&gt;&#10;            &lt;/Box&gt;&#10;            &lt;Text style={{ width: 252, fontSize: 16, fontWeight: 'bold', color: '#1A1A1A', fontFamily: 'Microsoft YaHei' }}&gt;云侧 / 主站 / 环形队列&lt;/Text&gt;&#10;            &lt;Text style={{ flex: 1, fontSize: 14, color: '#64748B', fontFamily: 'Microsoft YaHei', lineHeight: 1.5 }}&gt;B6/B7/B8：机制骨架在，真实链路未接&lt;/Text&gt;&#10;        &lt;/Box&gt;&#10;        &lt;Box style={{ display: 'flex', flexDirection: 'row', alignItems: 'center', gap: 14, padding: '10px 16px', background: '#F8FAFC', borderRadius: 8 }}&gt;&#10;            &lt;Box style={{ width: 62, padding: '4px 0', background: '#F1F5F9', borderRadius: 6, display: 'flex', justifyContent: 'center' }}&gt;&#10;                &lt;Text style={{ fontSize: 14, fontWeight: 'bold', color: '#64748B', fontFamily: 'Microsoft YaHei' }}&gt;低&lt;/Text&gt;&#10;            &lt;/Box&gt;&#10;            &lt;Text style={{ width: 252, fontSize: 16, fontWeight: 'bold', color: '#1A1A1A', fontFamily: 'Microsoft YaHei' }}&gt;07/ L2 需量 1 拍极限环&lt;/Text&gt;&#10;            &lt;Text style={{ flex: 1, fontSize: 14, color: '#64748B', fontFamily: 'Microsoft YaHei', lineHeight: 1.5 }}&gt;刻意不修：修它动 7500+ 断言，当前行为可接受——「不修」也是一个决定，已留证据与建议修法&lt;/Text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工作汇报&lt;/Text&gt;&#10;        &lt;Text style={{ fontSize: 14, color: '#64748B', fontFamily: 'Consolas' }}&gt;09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2571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遗留与风险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唯一的交付阻塞项是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GPL-3.0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授权；与「能用」距离最大的是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策略还没接真实算法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09600" y="1752600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762000" y="1857375"/>
            <a:ext cx="590550" cy="238125"/>
          </a:xfrm>
          <a:prstGeom prst="roundRect">
            <a:avLst>
              <a:gd name="adj" fmla="val 24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923925" y="18954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阻塞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485900" y="1876425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依赖库</a:t>
            </a: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 GPL-3.0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授权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019550" y="1847850"/>
            <a:ext cx="7410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交付前必须处理（替换或取得授权）——唯一的交付阻塞项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09600" y="2276475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762000" y="2381250"/>
            <a:ext cx="590550" cy="238125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90600" y="24193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F4444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485900" y="2400300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策略仍是演示实现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019550" y="2371725"/>
            <a:ext cx="7410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真实算法（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LP/MILP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、安全约束、防逆流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需量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平滑）都做了，但没接进调度链——与「能用」距离最大的一项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2800350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762000" y="2905125"/>
            <a:ext cx="590550" cy="238125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990600" y="29432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F4444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485900" y="2924175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现场化参数与数据源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019550" y="2895600"/>
            <a:ext cx="7410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stale_s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硬编码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30s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，要按现场网关心跳定；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BMS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充放限值无真实来源；电表缺漂移与时延；累计电量（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BCR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）未做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09600" y="3324225"/>
            <a:ext cx="10972800" cy="676275"/>
          </a:xfrm>
          <a:prstGeom prst="roundRect">
            <a:avLst>
              <a:gd name="adj" fmla="val 1126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762000" y="3543300"/>
            <a:ext cx="590550" cy="238125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90600" y="35814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F4444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485900" y="3571875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刷新根目录构建日志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019550" y="3419475"/>
            <a:ext cx="74104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本机跑不了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.bat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（安全策略），日志停在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09-20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旧口径——需在能跑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scripts\build_all.bat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的环境重跑一次，把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9304/9382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官方日志补齐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4086225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762000" y="4191000"/>
            <a:ext cx="590550" cy="238125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990600" y="42291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B82F6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485900" y="4210050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设备全点表（</a:t>
            </a: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B2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019550" y="4181475"/>
            <a:ext cx="7410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段里目前只有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抽象表，现场设备完整点表未建模——下一项按优先级要做的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09600" y="4610100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762000" y="4714875"/>
            <a:ext cx="590550" cy="238125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990600" y="47529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B82F6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485900" y="4733925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云侧</a:t>
            </a: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 /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主站</a:t>
            </a: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 /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环形队列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019550" y="4705350"/>
            <a:ext cx="7410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B6/B7/B8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：机制骨架在，真实链路未接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09600" y="5133975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762000" y="5238750"/>
            <a:ext cx="590550" cy="238125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90600" y="52768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4748B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485900" y="5257800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07/ L2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需量</a:t>
            </a: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 1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拍极限环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019550" y="5229225"/>
            <a:ext cx="7410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刻意不修：修它动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7500+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断言，当前行为可接受——「不修」也是一个决定，已留证据与建议修法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工作汇报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9" name="" descr="&lt;Slide style={{ width: 1280, height: 720, padding: '20px 64px', background: '#FFFFFF', display: 'flex', flexDirection: 'column', justifyContent: 'center', alignItems: 'center', gap: 26 }}&gt;&#10;    &lt;Text style={{ fontSize: 16, color: '#3B82F6', fontFamily: 'Microsoft YaHei', letterSpacing: 3, textAlign: 'center' }}&gt;&#10;        两天工作汇报 · 2026-09-19 ~ 09-20&#10;    &lt;/Text&gt;&#10;    &lt;Text style={{ fontSize: 40, fontWeight: 'bold', color: '#1A1A1A', fontFamily: 'Microsoft YaHei', lineHeight: 1.4, textAlign: 'center' }}&gt;&#10;        让 EMS 从「自己能算」，&lt;br /&gt;变成「能被调度、能被设备接入，每一步都有证据」&#10;    &lt;/Text&gt;&#10;    &lt;Box style={{ display: 'flex', flexDirection: 'row', gap: 56, marginTop: 18 }}&gt;&#10;        &lt;Box style={{ display: 'flex', flexDirection: 'column', alignItems: 'center', gap: 6 }}&gt;&#10;            &lt;Text style={{ fontSize: 96, fontWeight: 'bold', color: '#EF4444', fontFamily: 'Consolas', lineHeight: 1.0 }}&gt;&#10;                9304&#10;            &lt;/Text&gt;&#10;            &lt;Text style={{ fontSize: 16, color: '#64748B', fontFamily: 'Microsoft YaHei' }}&gt;&#10;                断言基线（默认口径）&#10;            &lt;/Text&gt;&#10;        &lt;/Box&gt;&#10;        &lt;Box style={{ display: 'flex', flexDirection: 'column', alignItems: 'center', gap: 6 }}&gt;&#10;            &lt;Text style={{ fontSize: 96, fontWeight: 'bold', color: '#3B82F6', fontFamily: 'Consolas', lineHeight: 1.0 }}&gt;&#10;                55/55&#10;            &lt;/Text&gt;&#10;            &lt;Text style={{ fontSize: 16, color: '#64748B', fontFamily: 'Microsoft YaHei' }}&gt;&#10;                交付门禁通过&#10;            &lt;/Text&gt;&#10;        &lt;/Box&gt;&#10;        &lt;Box style={{ display: 'flex', flexDirection: 'column', alignItems: 'center', gap: 6 }}&gt;&#10;            &lt;Text style={{ fontSize: 96, fontWeight: 'bold', color: '#1A1A1A', fontFamily: 'Consolas', lineHeight: 1.0 }}&gt;&#10;                0&#10;            &lt;/Text&gt;&#10;            &lt;Text style={{ fontSize: 16, color: '#64748B', fontFamily: 'Microsoft YaHei' }}&gt;&#10;                失败断言&#10;            &lt;/Text&gt;&#10;        &lt;/Box&gt;&#10;    &lt;/Box&gt;&#10;    &lt;Text style={{ fontSize: 14, color: '#94A3B8', fontFamily: 'Microsoft YaHei', marginTop: 14, textAlign: 'center' }}&gt;&#10;        数字口径以 README.md 基线块为准（默认 9304 ／装 pymodbus 后 9382）· 证据索引见 CHANGES.md §25~§33&#10;  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448175" y="1409700"/>
            <a:ext cx="329565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spc="225">
                <a:solidFill>
                  <a:srgbClr val="3B82F6"/>
                </a:solidFill>
                <a:latin typeface="Microsoft YaHei"/>
                <a:ea typeface="Microsoft YaHei"/>
              </a:rPr>
              <a:t>两天工作汇报</a:t>
            </a:r>
            <a:r>
              <a:rPr lang="en-US" sz="1200" spc="225">
                <a:solidFill>
                  <a:srgbClr val="3B82F6"/>
                </a:solidFill>
                <a:latin typeface="Microsoft YaHei"/>
                <a:ea typeface="Microsoft YaHei"/>
              </a:rPr>
              <a:t> · 2026-09-19 ~ 09-20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714500" y="1847850"/>
            <a:ext cx="8763000" cy="12858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3000" b="1">
                <a:solidFill>
                  <a:srgbClr val="1A1A1A"/>
                </a:solidFill>
                <a:latin typeface="Microsoft YaHei"/>
                <a:ea typeface="Microsoft YaHei"/>
              </a:rPr>
              <a:t>让</a:t>
            </a:r>
            <a:r>
              <a:rPr lang="en-US" sz="3000" b="1">
                <a:solidFill>
                  <a:srgbClr val="1A1A1A"/>
                </a:solidFill>
                <a:latin typeface="Microsoft YaHei"/>
                <a:ea typeface="Microsoft YaHei"/>
              </a:rPr>
              <a:t> EMS </a:t>
            </a:r>
            <a:r>
              <a:rPr lang="zh-CN" sz="3000" b="1">
                <a:solidFill>
                  <a:srgbClr val="1A1A1A"/>
                </a:solidFill>
                <a:latin typeface="Microsoft YaHei"/>
                <a:ea typeface="Microsoft YaHei"/>
              </a:rPr>
              <a:t>从「自己能算」，</a:t>
            </a:r>
            <a:endParaRPr/>
          </a:p>
          <a:p>
            <a:pPr algn="ctr">
              <a:lnSpc>
                <a:spcPct val="140000"/>
              </a:lnSpc>
            </a:pPr>
            <a:r>
              <a:rPr lang="zh-CN" sz="3000" b="1">
                <a:solidFill>
                  <a:srgbClr val="1A1A1A"/>
                </a:solidFill>
                <a:latin typeface="Microsoft YaHei"/>
                <a:ea typeface="Microsoft YaHei"/>
              </a:rPr>
              <a:t>变成「能被调度、能被设备接入，每一步都有证据」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2990850" y="3552825"/>
            <a:ext cx="20193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F4444"/>
                </a:solidFill>
                <a:latin typeface="Consolas"/>
                <a:ea typeface="Consolas"/>
              </a:rPr>
              <a:t>9304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3238500" y="4714875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断言基线（默认口径）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543550" y="3552825"/>
            <a:ext cx="25146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3B82F6"/>
                </a:solidFill>
                <a:latin typeface="Consolas"/>
                <a:ea typeface="Consolas"/>
              </a:rPr>
              <a:t>55/55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343650" y="47148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交付门禁通过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648700" y="3552825"/>
            <a:ext cx="50482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1A1A1A"/>
                </a:solidFill>
                <a:latin typeface="Consolas"/>
                <a:ea typeface="Consolas"/>
              </a:rPr>
              <a:t>0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91550" y="47148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失败断言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647950" y="5286375"/>
            <a:ext cx="69056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数字口径以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README.md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基线块为准（默认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9304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／装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pymodbus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后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9382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）·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证据索引见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CHANGES.md §25~§33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2026-09-21T01:25:18Z</dcterms:created>
  <dcterms:modified xsi:type="dcterms:W3CDTF">2026-09-21T01:25:18Z</dcterms:modified>
</cp:coreProperties>
</file>