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4.sv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&gt;&#10;&#10;    {/* 主体白底 */}&#10;    &lt;Box style={{&#10;        width: '100%',&#10;        height: '100%',&#10;        background: '#FFFFFF',&#10;        position: 'relative',&#10;        flexDirection: 'column',&#10;        padding: 0,&#10;    }}&gt;&#10;&#10;        {/* 蓝色梯形主视觉，左下大色块 */}&#10;        &lt;Box style={{&#10;            position: 'absolute',&#10;            bottom: 0,&#10;            left: 0,&#10;            width: 720,&#10;            height: 480,&#10;            background: 'linear-gradient(135deg, #3B82F6 0%, #06B6D4 100%)',&#10;            opacity: 0.95,&#10;            clipPath: 'polygon(0 35%, 100% 0, 100% 100%, 0 100%)',&#10;        }} /&gt;&#10;&#10;        {/* 右下：阶段标签 v1.0 */}&#10;        &lt;Box style={{&#10;            position: 'absolute',&#10;            top: 36,&#10;            right: 48,&#10;            padding: '10px 24px',&#10;            borderRadius: 24,&#10;            border: '1.5px solid #3B82F6',&#10;            background: 'rgba(59,130,246,0.06)',&#10;        }}&gt;&#10;            &lt;Text style={{&#10;                fontSize: 16,&#10;                color: '#3B82F6',&#10;                fontWeight: 'bold',&#10;                letterSpacing: 1.5,&#10;            }}&gt;&#10;                阶段 1/3 · 算法协商底座&#10;            &lt;/Text&gt;&#10;        &lt;/Box&gt;&#10;&#10;        {/* 主标题 */}&#10;        &lt;Box style={{&#10;            position: 'absolute',&#10;            top: 120,&#10;            left: 60,&#10;            width: 680,&#10;        }}&gt;&#10;            &lt;Text style={{&#10;                fontSize: 60,&#10;                fontWeight: 'bold',&#10;                color: '#1A1A1A',&#10;                lineHeight: 1.1,&#10;                letterSpacing: -1,&#10;            }}&gt;&#10;                工商业储能&#10;            &lt;/Text&gt;&#10;&#10;            &lt;Text style={{&#10;                fontSize: 60,&#10;                fontWeight: 'bold',&#10;                color: '#3B82F6',&#10;                lineHeight: 1.1,&#10;                letterSpacing: -1,&#10;                marginTop: 4,&#10;            }}&gt;&#10;                能量管理系统 · 第一阶段&#10;            &lt;/Text&gt;&#10;&#10;            &lt;Box style={{ marginTop: 24, width: 80, height: 4, background: '#3B82F6' }} /&gt;&#10;&#10;            &lt;Text style={{&#10;                fontSize: 22,&#10;                color: '#1A1A1A',&#10;                lineHeight: 1.5,&#10;                marginTop: 28,&#10;                maxWidth: 620,&#10;            }}&gt;&#10;                让 9 个业务意志用同一种语言说话、并在同一张调度台前面排队表决&#10;                &lt;br /&gt;&#10;                &lt;Text style={{ color: '#3B82F6', fontWeight: 'bold' }}&gt;前 4 周交付的不是代码，是这套协商底座&lt;/Text&gt;&#10;            &lt;/Text&gt;&#10;        &lt;/Box&gt;&#10;&#10;        {/* 左下大数字三联 */}&#10;        &lt;Box style={{&#10;            position: 'absolute',&#10;            bottom: 56,&#10;            left: 60,&#10;            flexDirection: 'row',&#10;            gap: 36,&#10;        }}&gt;&#10;            &lt;Box&gt;&#10;                &lt;Text style={{ fontSize: 64, fontWeight: 'bold', color: '#FFFFFF', fontFamily: 'JetBrains Mono, monospace', lineHeight: 1 }}&gt;&#10;                    9&#10;                &lt;/Text&gt;&#10;                &lt;Text style={{ fontSize: 16, color: '#E0F2FE', marginTop: 8, letterSpacing: 1 }}&gt;&#10;                    个业务意志需要协商&#10;                &lt;/Text&gt;&#10;            &lt;/Box&gt;&#10;            &lt;Box&gt;&#10;                &lt;Text style={{ fontSize: 64, fontWeight: 'bold', color: '#FFFFFF', fontFamily: 'JetBrains Mono, monospace', lineHeight: 1 }}&gt;&#10;                    4&#10;                &lt;/Text&gt;&#10;                &lt;Text style={{ fontSize: 16, color: '#E0F2FE', marginTop: 8, letterSpacing: 1 }}&gt;&#10;                    周 · 4 个底层建设&#10;                &lt;/Text&gt;&#10;            &lt;/Box&gt;&#10;            &lt;Box&gt;&#10;                &lt;Text style={{ fontSize: 64, fontWeight: 'bold', color: '#FFFFFF', fontFamily: 'JetBrains Mono, monospace', lineHeight: 1 }}&gt;&#10;                    17&#10;                &lt;/Text&gt;&#10;                &lt;Text style={{ fontSize: 16, color: '#E0F2FE', marginTop: 8, letterSpacing: 1 }}&gt;&#10;                    种业务冲突被验证&#10;                &lt;/Text&gt;&#10;            &lt;/Box&gt;&#10;        &lt;/Box&gt;&#10;&#10;        {/* 页脚 */}&#10;        &lt;Box style={{&#10;            position: 'absolute',&#10;            bottom: 24,&#10;            right: 48,&#10;        }}&gt;&#10;            &lt;Text style={{ fontSize: 14, color: '#64748B' }}&gt;&#10;                工程评审 · 2026-09-06（EMS = Energy Management System，能量管理系统）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任意多边形 2"/>
          <p:cNvSpPr/>
          <p:nvPr/>
        </p:nvSpPr>
        <p:spPr>
          <a:xfrm>
            <a:off x="0" y="2286000"/>
            <a:ext cx="6858000" cy="4572000"/>
          </a:xfrm>
          <a:custGeom>
            <a:avLst/>
            <a:gdLst/>
            <a:ahLst/>
            <a:cxnLst/>
            <a:pathLst>
              <a:path w="720" h="480">
                <a:moveTo>
                  <a:pt x="0" y="168"/>
                </a:moveTo>
                <a:lnTo>
                  <a:pt x="720" y="0"/>
                </a:lnTo>
                <a:lnTo>
                  <a:pt x="720" y="480"/>
                </a:lnTo>
                <a:lnTo>
                  <a:pt x="0" y="480"/>
                </a:lnTo>
                <a:close/>
              </a:path>
            </a:pathLst>
          </a:cu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圆角矩形 3"/>
          <p:cNvSpPr/>
          <p:nvPr/>
        </p:nvSpPr>
        <p:spPr>
          <a:xfrm>
            <a:off x="9372600" y="342900"/>
            <a:ext cx="2362200" cy="381000"/>
          </a:xfrm>
          <a:prstGeom prst="roundRect">
            <a:avLst>
              <a:gd name="adj" fmla="val 60000"/>
            </a:avLst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601200" y="438150"/>
            <a:ext cx="1905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en-US" sz="1200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1/3 · </a:t>
            </a:r>
            <a:r>
              <a:rPr lang="zh-CN" sz="1200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算法协商底座</a:t>
            </a:r>
            <a:endParaRPr lang="zh-CN" sz="1200" b="1" spc="113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71500" y="1143000"/>
            <a:ext cx="6477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工商业储能</a:t>
            </a:r>
            <a:endParaRPr lang="zh-CN" sz="4500" b="1" spc="-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71500" y="1943100"/>
            <a:ext cx="6477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能量管理系统</a:t>
            </a:r>
            <a:r>
              <a:rPr lang="en-US" sz="4500" b="1" spc="-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4500" b="1" spc="-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lang="zh-CN" sz="4500" b="1" spc="-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1500" y="2933700"/>
            <a:ext cx="762000" cy="38100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71500" y="3238500"/>
            <a:ext cx="63246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个业务意志用同一种语言说话、并在同一张调度台前面排队表决</a:t>
            </a:r>
            <a:endParaRPr lang="zh-CN" sz="16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前</a:t>
            </a:r>
            <a:r>
              <a:rPr lang="en-US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6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周交付的不是代码，是这套协商底座</a:t>
            </a:r>
            <a:endParaRPr lang="zh-CN" sz="16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571500" y="5324475"/>
            <a:ext cx="145732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9</a:t>
            </a:r>
            <a:endParaRPr lang="en-US" sz="4800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71500" y="6134100"/>
            <a:ext cx="1457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个业务意志需要协商</a:t>
            </a:r>
            <a:endParaRPr lang="zh-CN" sz="1200" spc="75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2371725" y="5324475"/>
            <a:ext cx="12858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 lang="en-US" sz="4800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371725" y="6134100"/>
            <a:ext cx="1285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1200" spc="75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 · 4 </a:t>
            </a:r>
            <a:r>
              <a:rPr lang="zh-CN" sz="1200" spc="75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个底层建设</a:t>
            </a:r>
            <a:endParaRPr lang="zh-CN" sz="1200" spc="75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000500" y="5324475"/>
            <a:ext cx="12954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17</a:t>
            </a:r>
            <a:endParaRPr lang="en-US" sz="4800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000500" y="6134100"/>
            <a:ext cx="1295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种业务冲突被验证</a:t>
            </a:r>
            <a:endParaRPr lang="zh-CN" sz="1200" spc="75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6858000" y="6467475"/>
            <a:ext cx="487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工程评审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2026-09-06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EMS = Energy Management System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，能量管理系统）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 descr="&lt;Slide padding={0}&gt;&#10;&#10;    &lt;Box style={{&#10;        width: '100%',&#10;        height: '100%',&#10;        background: '#FFFFFF',&#10;        flexDirection: 'column',&#10;        padding: 0,&#10;        position: 'relative',&#10;    }}&gt;&#10;&#10;        {/* A 区：标题 */}&#10;        &lt;Box style={{ padding: '36px 60px 0', flexDirection: 'row', alignItems: 'flex-end' }}&gt;&#10;            &lt;Box style={{ flex: 1 }}&gt;&#10;                &lt;Text style={{ fontSize: 16, color: '#3B82F6', fontWeight: 'bold', letterSpacing: 2 }}&gt;&#10;                    系统全貌 · WHERE WE STAND&#10;                &lt;/Text&gt;&#10;                &lt;Text style={{ fontSize: 36, fontWeight: 'bold', color: '#1A1A1A', marginTop: 6 }}&gt;&#10;                    EMS 是一个实时调度系统——4 层闭环&#10;                &lt;/Text&gt;&#10;            &lt;/Box&gt;&#10;            &lt;Box&gt;&#10;                &lt;Text style={{ fontSize: 14, color: '#64748B' }}&gt;&#10;                    P02 / 11&#10;                &lt;/Text&gt;&#10;            &lt;/Box&gt;&#10;        &lt;/Box&gt;&#10;&#10;        {/* B 区：4 层架构大图 */}&#10;        &lt;Box style={{&#10;            flex: 1,&#10;            padding: '16px 60px 0',&#10;            flexDirection: 'column',&#10;            gap: 12,&#10;        }}&gt;&#10;&#10;            {/* 闭环箭头 SVG */}&#10;            &lt;Box style={{ height: 360 }}&gt;&#10;                &lt;svg width='100%' height='100%' viewBox='0 0 1040 340'&gt;&#10;&#10;                    {/* 闭环指示 — 4 层外围虚线箭头 */}&#10;                    &lt;path d='M 80 240 L 80 80 L 980 80 L 980 240 L 60 240' stroke='#CBD5E1'&#10;                          strokeWidth='1.5' fill='none' strokeDasharray='6 4' marker-end='url(#arr)' /&gt;&#10;                    &lt;defs&gt;&#10;                        &lt;marker id='arr' viewBox='0 0 10 10' refX='9' refY='5' markerWidth='6' markerHeight='6' orient='auto'&gt;&#10;                            &lt;path d='M 0 0 L 10 5 L 0 10 z' fill='#94A3B8' /&gt;&#10;                        &lt;/marker&gt;&#10;                    &lt;/defs&gt;&#10;&#10;                    {/* ===== 第 1 层：数据采集 ===== */}&#10;                    &lt;rect x='90' y='40' width='870' height='52' rx='8' fill='#F1F5F9' stroke='#94A3B8' strokeWidth='1' /&gt;&#10;                    &lt;text x='110' y='72' fill='#475569' fontSize='16' fontFamily='Source Han Sans SC' fontWeight='bold'&gt;第一层 · 数据采集&lt;/text&gt;&#10;                    &lt;text x='270' y='72' fill='#1A1A1A' fontSize='15' fontFamily='Source Han Sans SC'&gt;&#10;                        电池电量 / 设备功率 / 电网负荷 / 电价 / 调度信号&#10;                    &lt;/text&gt;&#10;                    &lt;text x='940' y='56' textAnchor='end' fill='#64748B' fontSize='13' fontFamily='Source Han Sans SC'&gt;↳ 已有&lt;/text&gt;&#10;                    &lt;text x='940' y='76' textAnchor='end' fill='#64748B' fontSize='13' fontFamily='Source Han Sans SC'&gt;历史数据&lt;/text&gt;&#10;&#10;                    {/* ===== 第 2 层：经济调度 = 本次交付的核心 ===== */}&#10;                    &lt;rect x='60' y='110' width='930' height='90' rx='10' fill='#EFF6FF' stroke='#3B82F6' strokeWidth='3' /&gt;&#10;                    &lt;rect x='60' y='110' width='6' height='90' fill='#3B82F6' /&gt;&#10;                    &lt;text x='86' y='138' fill='#1E40AF' fontSize='17' fontFamily='Source Han Sans SC' fontWeight='bold'&gt;第二层 · 经济调度（本次核心）&lt;/text&gt;&#10;                    &lt;text x='86' y='158' fill='#1A1A1A' fontSize='15' fontFamily='Source Han Sans SC'&gt;&#10;                        9 条业务诉求 + 共同语言 + 调度台 + 仲裁规则&#10;                    &lt;/text&gt;&#10;                    &lt;text x='86' y='180' fill='#1E40AF' fontSize='14' fontFamily='Source Han Sans SC' fontWeight='bold'&gt;&#10;                        ◀ 前 4 周交付的就是这一层&#10;                    &lt;/text&gt;&#10;&#10;                    {/* 4 个子块 */}&#10;                    &lt;rect x='420' y='120' width='138' height='70' rx='6' fill='#FFFFFF' stroke='#3B82F6' strokeDasharray='2 2' /&gt;&#10;                    &lt;text x='489' y='144' textAnchor='middle' fill='#1E40AF' fontSize='14' fontFamily='Source Han Sans SC' fontWeight='bold'&gt;9 条诉求&lt;/text&gt;&#10;                    &lt;text x='489' y='162' textAnchor='middle' fill='#64748B' fontSize='13' fontFamily='Source Han Sans SC'&gt;第 1 周&lt;/text&gt;&#10;                    &lt;text x='489' y='180' textAnchor='middle' fill='#1E40AF' fontSize='13' fontFamily='Source Han Sans SC'&gt;理清意志&lt;/text&gt;&#10;&#10;                    &lt;rect x='566' y='120' width='138' height='70' rx='6' fill='#FFFFFF' stroke='#06B6D4' strokeDasharray='2 2' /&gt;&#10;                    &lt;text x='635' y='144' textAnchor='middle' fill='#0E7490' fontSize='14' fontFamily='Source Han Sans SC' fontWeight='bold'&gt;共同语言&lt;/text&gt;&#10;                    &lt;text x='635' y='162' textAnchor='middle' fill='#64748B' fontSize='13' fontFamily='Source Han Sans SC'&gt;第 2 周&lt;/text&gt;&#10;                    &lt;text x='635' y='180' textAnchor='middle' fill='#0E7490' fontSize='13' fontFamily='Source Han Sans SC'&gt;区间表示&lt;/text&gt;&#10;&#10;                    &lt;rect x='712' y='120' width='138' height='70' rx='6' fill='#FFFFFF' stroke='#22C55E' strokeDasharray='2 2' /&gt;&#10;                    &lt;text x='781' y='144' textAnchor='middle' fill='#166534' fontSize='14' fontFamily='Source Han Sans SC' fontWeight='bold'&gt;调度台&lt;/text&gt;&#10;                    &lt;text x='781' y='162' textAnchor='middle' fill='#64748B' fontSize='13' fontFamily='Source Han Sans SC'&gt;第 3 周&lt;/text&gt;&#10;                    &lt;text x='781' y='180' textAnchor='middle' fill='#166534' fontSize='13' fontFamily='Source Han Sans SC'&gt;每分钟调度&lt;/text&gt;&#10;&#10;                    &lt;rect x='858' y='120' width='124' height='70' rx='6' fill='#FFFFFF' stroke='#EF4444' strokeDasharray='2 2' /&gt;&#10;                    &lt;text x='920' y='144' textAnchor='middle' fill='#B91C1C' fontSize='14' fontFamily='Source Han Sans SC' fontWeight='bold'&gt;仲裁&lt;/text&gt;&#10;                    &lt;text x='920' y='162' textAnchor='middle' fill='#64748B' fontSize='13' fontFamily='Source Han Sans SC'&gt;第 4 周&lt;/text&gt;&#10;                    &lt;text x='920' y='180' textAnchor='middle' fill='#B91C1C' fontSize='13' fontFamily='Source Han Sans SC'&gt;冲突解决&lt;/text&gt;&#10;&#10;                    {/* ===== 第 3 层：实时执行 ===== */}&#10;                    &lt;rect x='90' y='218' width='870' height='44' rx='8' fill='#F1F5F9' stroke='#94A3B8' strokeWidth='1' /&gt;&#10;                    &lt;text x='110' y='244' fill='#475569' fontSize='16' fontFamily='Source Han Sans SC' fontWeight='bold'&gt;第三层 · 实时执行&lt;/text&gt;&#10;                    &lt;text x='270' y='244' fill='#1A1A1A' fontSize='15' fontFamily='Source Han Sans SC'&gt;&#10;                        防逆流 / 变压器限容 / 需量管理 / 光伏平抑 4 个实时控制器&#10;                    &lt;/text&gt;&#10;&#10;                    {/* ===== 第 4 层：状态管理 ===== */}&#10;                    &lt;rect x='90' y='280' width='870' height='44' rx='8' fill='#F1F5F9' stroke='#94A3B8' strokeWidth='1' /&gt;&#10;                    &lt;text x='110' y='306' fill='#475569' fontSize='16' fontFamily='Source Han Sans SC' fontWeight='bold'&gt;第四层 · 状态管理&lt;/text&gt;&#10;                    &lt;text x='270' y='306' fill='#1A1A1A' fontSize='15' fontFamily='Source Han Sans SC'&gt;&#10;                        状态机 / 启停 / 告警 / 人机交互 — 决定&quot;算法层的结果能不能用、什么时候用&quot;&#10;                    &lt;/text&gt;&#10;&#10;                &lt;/svg&gt;&#10;            &lt;/Box&gt;&#10;&#10;            {/* 底部要点 — 3 个判断句 + 原理补充 */}&#10;            &lt;Box style={{&#10;                flexDirection: 'row',&#10;                gap: 14,&#10;                paddingBottom: 4,&#10;            }}&gt;&#10;                &lt;Box style={{ flex: 1, padding: '12px 16px', background: '#F8FAFC', borderRadius: 8, borderLeft: '3px solid #3B82F6' }}&gt;&#10;                    &lt;Text style={{ fontSize: 13, color: '#3B82F6', fontWeight: 'bold', letterSpacing: 1.5 }}&gt;判断 1 · 位置&lt;/Text&gt;&#10;                    &lt;Text style={{ fontSize: 14, color: '#1A1A1A', marginTop: 6, lineHeight: 1.55, fontWeight: 'bold' }}&gt;&#10;                        算法层是&quot;调度语言&quot;，先把语言定义清楚，控制器才能听懂、执行层才能听话&#10;                    &lt;/Text&gt;&#10;                    &lt;Text style={{ fontSize: 12, color: '#475569', marginTop: 4, lineHeight: 1.5 }}&gt;&#10;                        原理：上层做的是&quot;今天这一小时最优计划&quot;（小时级），下层要的是&quot;下一秒具体动作&quot;（秒级）——没有中间这层翻译，两者时间粒度和语义都对不上&#10;                    &lt;/Text&gt;&#10;                &lt;/Box&gt;&#10;                &lt;Box style={{ flex: 1, padding: '12px 16px', background: '#F8FAFC', borderRadius: 8, borderLeft: '3px solid #06B6D4' }}&gt;&#10;                    &lt;Text style={{ fontSize: 13, color: '#06B6D4', fontWeight: 'bold', letterSpacing: 1.5 }}&gt;判断 2 · 次序&lt;/Text&gt;&#10;                    &lt;Text style={{ fontSize: 14, color: '#1A1A1A', marginTop: 6, lineHeight: 1.55, fontWeight: 'bold' }}&gt;&#10;                        算法层内部 4 个子件必须按顺序构建：先有&quot;说话人&quot;，再定&quot;话术&quot;，再设&quot;议事厅&quot;，最后订&quot;议事规则&quot;&#10;                    &lt;/Text&gt;&#10;                    &lt;Text style={{ fontSize: 12, color: '#475569', marginTop: 4, lineHeight: 1.5 }}&gt;&#10;                        原理：每个子件都是下个的输入——没有共同语言就无法在议事厅里比较，没有议事厅规则就无对象可应用，反序则全部失效&#10;                    &lt;/Text&gt;&#10;                &lt;/Box&gt;&#10;                &lt;Box style={{ flex: 1, padding: '12px 16px', background: '#F8FAFC', borderRadius: 8, borderLeft: '3px solid #EF4444' }}&gt;&#10;                    &lt;Text style={{ fontSize: 13, color: '#EF4444', fontWeight: 'bold', letterSpacing: 1.5 }}&gt;判断 3 · 不可省略&lt;/Text&gt;&#10;                    &lt;Text style={{ fontSize: 14, color: '#1A1A1A', marginTop: 6, lineHeight: 1.55, fontWeight: 'bold' }}&gt;&#10;                        缺了算法层，控制层只能做单点控制；缺了运行层，调度结果无人发布。每一层都不可省略&#10;                    &lt;/Text&gt;&#10;                    &lt;Text style={{ fontSize: 12, color: '#475569', marginTop: 4, lineHeight: 1.5 }}&gt;&#10;                        原理：算法层给&quot;指令&quot;，执行层给&quot;实时动作&quot;，运行层给&quot;生命周期管理&quot;——三者闭环，缺一就只是局部最优&#10;                    &lt;/Text&gt;&#10;                &lt;/Box&gt;&#10;            &lt;/Box&gt;&#10;&#10;        &lt;/Box&gt;&#10;&#10;        {/* C 区：页脚 */}&#10;        &lt;Box style={{&#10;            padding: '0 60px',&#10;            height: 50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工商业储能 EMS · 周期 1-4 交付汇报&#10;            &lt;/Text&gt;&#10;            &lt;Text style={{ fontSize: 14, color: '#94A3B8' }}&gt;&#10;                02 / 11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571500" y="342900"/>
            <a:ext cx="10515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系统全貌</a:t>
            </a:r>
            <a:r>
              <a:rPr lang="en-US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WHERE WE STAND</a:t>
            </a:r>
            <a:endParaRPr lang="en-US" sz="1200" b="1" spc="1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571500" y="590550"/>
            <a:ext cx="105156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EMS </a:t>
            </a:r>
            <a:r>
              <a:rPr lang="zh-CN" sz="2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是一个实时调度系统——</a:t>
            </a:r>
            <a:r>
              <a:rPr lang="en-US" sz="2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2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层闭环</a:t>
            </a:r>
            <a:endParaRPr lang="zh-CN" sz="2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1087100" y="8477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P02 / 11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162050"/>
            <a:ext cx="11049000" cy="3429000"/>
          </a:xfrm>
          <a:prstGeom prst="rect">
            <a:avLst/>
          </a:prstGeom>
        </p:spPr>
      </p:pic>
      <p:sp>
        <p:nvSpPr>
          <p:cNvPr id="88" name="圆角矩形 87"/>
          <p:cNvSpPr/>
          <p:nvPr/>
        </p:nvSpPr>
        <p:spPr>
          <a:xfrm>
            <a:off x="600075" y="4705350"/>
            <a:ext cx="3590925" cy="1600200"/>
          </a:xfrm>
          <a:prstGeom prst="roundRect">
            <a:avLst>
              <a:gd name="adj" fmla="val 4762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89" name="任意多边形 88"/>
          <p:cNvSpPr/>
          <p:nvPr/>
        </p:nvSpPr>
        <p:spPr>
          <a:xfrm>
            <a:off x="600075" y="4705350"/>
            <a:ext cx="3590925" cy="1600200"/>
          </a:xfrm>
          <a:custGeom>
            <a:avLst/>
            <a:gdLst/>
            <a:ahLst/>
            <a:cxnLst/>
            <a:pathLst>
              <a:path w="377" h="16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63"/>
                </a:lnTo>
                <a:cubicBezTo>
                  <a:pt x="3" y="165"/>
                  <a:pt x="5" y="167"/>
                  <a:pt x="7" y="168"/>
                </a:cubicBezTo>
                <a:cubicBezTo>
                  <a:pt x="3" y="167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752475" y="4819650"/>
            <a:ext cx="3257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r>
              <a:rPr lang="en-US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位置</a:t>
            </a:r>
            <a:endParaRPr lang="zh-CN" sz="975" b="1" spc="113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752475" y="5029200"/>
            <a:ext cx="3257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算法层是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调度语言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，先把语言定义清楚，控制器才能听懂、执行层才能听话</a:t>
            </a:r>
            <a:endParaRPr lang="zh-CN" sz="10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52475" y="5572125"/>
            <a:ext cx="32575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原理：上层做的是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今天这一小时最优计划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（小时级），下层要的是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下一秒具体动作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（秒级）——没有中间这层翻译，两者时间粒度和语义都对不上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4324350" y="4705350"/>
            <a:ext cx="3600450" cy="1600200"/>
          </a:xfrm>
          <a:prstGeom prst="roundRect">
            <a:avLst>
              <a:gd name="adj" fmla="val 4762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94" name="任意多边形 93"/>
          <p:cNvSpPr/>
          <p:nvPr/>
        </p:nvSpPr>
        <p:spPr>
          <a:xfrm>
            <a:off x="4324350" y="4705350"/>
            <a:ext cx="3600450" cy="1600200"/>
          </a:xfrm>
          <a:custGeom>
            <a:avLst/>
            <a:gdLst/>
            <a:ahLst/>
            <a:cxnLst/>
            <a:pathLst>
              <a:path w="378" h="16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63"/>
                </a:lnTo>
                <a:cubicBezTo>
                  <a:pt x="3" y="165"/>
                  <a:pt x="5" y="167"/>
                  <a:pt x="7" y="168"/>
                </a:cubicBezTo>
                <a:cubicBezTo>
                  <a:pt x="3" y="167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476750" y="4819650"/>
            <a:ext cx="3267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r>
              <a:rPr lang="en-US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次序</a:t>
            </a:r>
            <a:endParaRPr lang="zh-CN" sz="975" b="1" spc="113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4476750" y="5029200"/>
            <a:ext cx="3267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算法层内部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个子件必须按顺序构建：先有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说话人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，再定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话术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，再设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议事厅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，最后订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议事规则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4476750" y="5572125"/>
            <a:ext cx="3267075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原理：每个子件都是下个的输入——没有共同语言就无法在议事厅里比较，没有议事厅规则就无对象可应用，反序则全部失效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8058150" y="4705350"/>
            <a:ext cx="3590925" cy="1600200"/>
          </a:xfrm>
          <a:prstGeom prst="roundRect">
            <a:avLst>
              <a:gd name="adj" fmla="val 4762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99" name="任意多边形 98"/>
          <p:cNvSpPr/>
          <p:nvPr/>
        </p:nvSpPr>
        <p:spPr>
          <a:xfrm>
            <a:off x="8058150" y="4705350"/>
            <a:ext cx="3590925" cy="1600200"/>
          </a:xfrm>
          <a:custGeom>
            <a:avLst/>
            <a:gdLst/>
            <a:ahLst/>
            <a:cxnLst/>
            <a:pathLst>
              <a:path w="377" h="16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63"/>
                </a:lnTo>
                <a:cubicBezTo>
                  <a:pt x="3" y="165"/>
                  <a:pt x="5" y="167"/>
                  <a:pt x="7" y="168"/>
                </a:cubicBezTo>
                <a:cubicBezTo>
                  <a:pt x="3" y="167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8210550" y="4819650"/>
            <a:ext cx="3257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不可省略</a:t>
            </a:r>
            <a:endParaRPr lang="zh-CN" sz="975" b="1" spc="113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8210550" y="5029200"/>
            <a:ext cx="3257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缺了算法层，控制层只能做单点控制；缺了运行层，调度结果无人发布。每一层都不可省略</a:t>
            </a:r>
            <a:endParaRPr lang="zh-CN" sz="10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8210550" y="5572125"/>
            <a:ext cx="32575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原理：算法层给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指令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，执行层给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实时动作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，运行层给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生命周期管理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三者闭环，缺一就只是局部最优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0" y="6381750"/>
            <a:ext cx="12192000" cy="476250"/>
          </a:xfrm>
          <a:custGeom>
            <a:avLst/>
            <a:gdLst/>
            <a:ahLst/>
            <a:cxnLst/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571500" y="6543675"/>
            <a:ext cx="2200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工商业储能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EMS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1-4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30px 60px 0', height: 8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为什么是这 4 周 · THE LOGIC&#10;                    &lt;/Text&gt;&#10;                    &lt;Text style={{ fontSize: 32, fontWeight: 'bold', color: '#1A1A1A', marginTop: 6 }}&gt;&#10;                        4 件大事的内在次序——缺了前面，后面跑不通&#10;                    &lt;/Text&gt;&#10;                &lt;/Box&gt;&#10;                &lt;Text style={{ fontSize: 14, color: '#94A3B8' }}&gt;P03 / 11&lt;/Text&gt;&#10;            &lt;/Box&gt;&#10;        &lt;/Box&gt;&#10;&#10;        {/* B 区：因果链 — 4 个圆圈 + 解释 */}&#10;        &lt;Box style={{&#10;            flex: 1,&#10;            padding: '24px 60px',&#10;            flexDirection: 'column',&#10;        }}&gt;&#10;&#10;            {/* 因果链主图 */}&#10;            &lt;Box style={{ height: 130 }}&gt;&#10;                &lt;svg width='100%' height='100%' viewBox='0 0 1040 130'&gt;&#10;&#10;                    {/* 主连线 */}&#10;                    &lt;line x1='110' y1='65' x2='930' y2='65' stroke='#CBD5E1' strokeWidth='2' /&gt;&#10;&#10;                    {/* 4 个节点 */}&#10;                    {/* 节点 1 */}&#10;                    &lt;circle cx='130' cy='65' r='34' fill='#DBEAFE' stroke='#3B82F6' strokeWidth='3' /&gt;&#10;                    &lt;text x='130' y='64' textAnchor='middle' fill='#1E40AF' fontSize='26' fontFamily='Source Han Sans SC' fontWeight='bold'&gt;9&lt;/text&gt;&#10;                    &lt;text x='130' y='84' textAnchor='middle' fill='#1E40AF' fontSize='13' fontFamily='Source Han Sans SC' fontWeight='bold'&gt;策略&lt;/text&gt;&#10;&#10;                    {/* 节点 2 */}&#10;                    &lt;circle cx='390' cy='65' r='34' fill='#CFFAFE' stroke='#06B6D4' strokeWidth='3' /&gt;&#10;                    &lt;text x='390' y='64' textAnchor='middle' fill='#0E7490' fontSize='26' fontFamily='Source Han Sans SC' fontWeight='bold'&gt;1&lt;/text&gt;&#10;                    &lt;text x='390' y='84' textAnchor='middle' fill='#0E7490' fontSize='13' fontFamily='Source Han Sans SC' fontWeight='bold'&gt;共同语言&lt;/text&gt;&#10;&#10;                    {/* 节点 3 */}&#10;                    &lt;circle cx='650' cy='65' r='34' fill='#D1FAE5' stroke='#22C55E' strokeWidth='3' /&gt;&#10;                    &lt;text x='650' y='64' textAnchor='middle' fill='#166534' fontSize='26' fontFamily='Source Han Sans SC' fontWeight='bold'&gt;1&lt;/text&gt;&#10;                    &lt;text x='650' y='84' textAnchor='middle' fill='#166534' fontSize='13' fontFamily='Source Han Sans SC' fontWeight='bold'&gt;议事厅&lt;/text&gt;&#10;&#10;                    {/* 节点 4 */}&#10;                    &lt;circle cx='910' cy='65' r='34' fill='#FEE2E2' stroke='#EF4444' strokeWidth='3' /&gt;&#10;                    &lt;text x='910' y='64' textAnchor='middle' fill='#B91C1C' fontSize='26' fontFamily='Source Han Sans SC' fontWeight='bold'&gt;1&lt;/text&gt;&#10;                    &lt;text x='910' y='84' textAnchor='middle' fill='#B91C1C' fontSize='13' fontFamily='Source Han Sans SC' fontWeight='bold'&gt;规则&lt;/text&gt;&#10;&#10;                    {/* 周标签 */}&#10;                    &lt;text x='130' y='125' textAnchor='middle' fill='#64748B' fontSize='13' fontFamily='Source Han Sans SC'&gt;第 1 周&lt;/text&gt;&#10;                    &lt;text x='390' y='125' textAnchor='middle' fill='#64748B' fontSize='13' fontFamily='Source Han Sans SC'&gt;第 2 周&lt;/text&gt;&#10;                    &lt;text x='650' y='125' textAnchor='middle' fill='#64748B' fontSize='13' fontFamily='Source Han Sans SC'&gt;第 3 周&lt;/text&gt;&#10;                    &lt;text x='910' y='125' textAnchor='middle' fill='#64748B' fontSize='13' fontFamily='Source Han Sans SC'&gt;第 4 周&lt;/text&gt;&#10;&#10;                    {/* 因果箭头提示 — 破坏后果 */}&#10;                    &lt;text x='260' y='48' textAnchor='middle' fill='#94A3B8' fontSize='12' fontFamily='Source Han Sans SC'&gt;没有说话的人&lt;/text&gt;&#10;                    &lt;text x='260' y='95' textAnchor='middle' fill='#B91C1C' fontSize='12' fontFamily='Source Han Sans SC' fontWeight='bold'&gt;不用谈语言 → 一切空谈&lt;/text&gt;&#10;                    &lt;polygon points='263,62 263,72 273,67' fill='#94A3B8' /&gt;&#10;&#10;                    &lt;text x='520' y='48' textAnchor='middle' fill='#94A3B8' fontSize='12' fontFamily='Source Han Sans SC'&gt;没有共同语言&lt;/text&gt;&#10;                    &lt;text x='520' y='95' textAnchor='middle' fill='#B91C1C' fontSize='12' fontFamily='Source Han Sans SC' fontWeight='bold'&gt;议事厅空转 → 输出分裂指令&lt;/text&gt;&#10;                    &lt;polygon points='523,62 523,72 533,67' fill='#94A3B8' /&gt;&#10;&#10;                    &lt;text x='780' y='48' textAnchor='middle' fill='#94A3B8' fontSize='12' fontFamily='Source Han Sans SC'&gt;没人抢话筒&lt;/text&gt;&#10;                    &lt;text x='780' y='95' textAnchor='middle' fill='#B91C1C' fontSize='12' fontFamily='Source Han Sans SC' fontWeight='bold'&gt;就不需规则 → 仲裁器空跑&lt;/text&gt;&#10;                    &lt;polygon points='783,62 783,72 793,67' fill='#94A3B8' /&gt;&#10;&#10;                &lt;/svg&gt;&#10;            &lt;/Box&gt;&#10;&#10;            {/* 4 个解释卡 */}&#10;            &lt;Box style={{&#10;                flex: 1,&#10;                flexDirection: 'row',&#10;                gap: 14,&#10;                paddingTop: 8,&#10;            }}&gt;&#10;&#10;                &lt;Box style={{ flex: 1, padding: '14px 16px', background: '#EFF6FF', borderRadius: 10, borderTop: '4px solid #3B82F6' }}&gt;&#10;                    &lt;Text style={{ fontSize: 13, color: '#3B82F6', fontWeight: 'bold', letterSpacing: 1.5 }}&gt;第 1 周 · 摸清 9 个诉求&lt;/Text&gt;&#10;                    &lt;Text style={{ fontSize: 15, fontWeight: 'bold', color: '#1A1A1A', marginTop: 8 }}&gt;先把&quot;谁要发言&quot;摊开&lt;/Text&gt;&#10;                    &lt;Text style={{ fontSize: 13, color: '#475569', marginTop: 6, lineHeight: 1.55 }}&gt;&#10;                        至少 9 个不同来路的意志：有些是电池自己不愿做（电量过低）、有些是老板不希望的罚款（需量超额）、有些是电网给的奖赏（分时电价）…… 第一周只为它们确认身份&#10;                    &lt;/Text&gt;&#10;                    &lt;Text style={{ fontSize: 12, color: '#1E40AF', marginTop: 6, lineHeight: 1.5, fontWeight: 'bold' }}&gt;&#10;                        原理：决策的反面是不知道决策者是谁——列不出 9 个，后续就无法谈&quot;为谁而战&quot;&#10;                    &lt;/Text&gt;&#10;                &lt;/Box&gt;&#10;&#10;                &lt;Box style={{ flex: 1, padding: '14px 16px', background: '#ECFEFF', borderRadius: 10, borderTop: '4px solid #06B6D4' }}&gt;&#10;                    &lt;Text style={{ fontSize: 13, color: '#06B6D4', fontWeight: 'bold', letterSpacing: 1.5 }}&gt;第 2 周 · 让它们有共同语言&lt;/Text&gt;&#10;                    &lt;Text style={{ fontSize: 15, fontWeight: 'bold', color: '#1A1A1A', marginTop: 8 }}&gt;9 个发言方式不一致，无法比较&lt;/Text&gt;&#10;                    &lt;Text style={{ fontSize: 13, color: '#475569', marginTop: 6, lineHeight: 1.55 }}&gt;&#10;                        有的诉求说&quot;应该放 100 千瓦&quot;，有的说&quot;不能超过 80 千瓦&quot;。第二周规定每人都只能说同一套句式：能落在区间 [下界, 上界]，最佳点是 X，权重是 W&#10;                    &lt;/Text&gt;&#10;                    &lt;Text style={{ fontSize: 12, color: '#0E7490', marginTop: 6, lineHeight: 1.5, fontWeight: 'bold' }}&gt;&#10;                        原理：仲裁的本质是数学运算（交集/平均）——输入语义必须统一，否则算出来的&quot;中点&quot;无意义&#10;                    &lt;/Text&gt;&#10;                &lt;/Box&gt;&#10;&#10;                &lt;Box style={{ flex: 1, padding: '14px 16px', background: '#ECFDF5', borderRadius: 10, borderTop: '4px solid #22C55E' }}&gt;&#10;                    &lt;Text style={{ fontSize: 13, color: '#22C55E', fontWeight: 'bold', letterSpacing: 1.5 }}&gt;第 3 周 · 建一个调度台&lt;/Text&gt;&#10;                    &lt;Text style={{ fontSize: 15, fontWeight: 'bold', color: '#1A1A1A', marginTop: 8 }}&gt;让 9 个能每分钟被叫到&lt;/Text&gt;&#10;                    &lt;Text style={{ fontSize: 13, color: '#475569', marginTop: 6, lineHeight: 1.55 }}&gt;&#10;                        每分钟 9 个都要被问一次。第三周提供&quot;调度台&quot;：登记、启停、按表调度、缓存结果——上层只要发一次&quot;开会&quot;命令，不必挨个找诉求&#10;                    &lt;/Text&gt;&#10;                    &lt;Text style={{ fontSize: 12, color: '#166534', marginTop: 6, lineHeight: 1.5, fontWeight: 'bold' }}&gt;&#10;                        原理：把&quot;挨个调用&quot;抽象成&quot;每分钟一次&quot;——上层调用从 9 次降到 1 次，且新增诉求时上层无需改动&#10;                    &lt;/Text&gt;&#10;                &lt;/Box&gt;&#10;&#10;                &lt;Box style={{ flex: 1, padding: '14px 16px', background: '#FEF2F2', borderRadius: 10, borderTop: '4px solid #EF4444' }}&gt;&#10;                    &lt;Text style={{ fontSize: 13, color: '#EF4444', fontWeight: 'bold', letterSpacing: 1.5 }}&gt;第 4 周 · 立议事规则&lt;/Text&gt;&#10;                    &lt;Text style={{ fontSize: 15, fontWeight: 'bold', color: '#1A1A1A', marginTop: 8 }}&gt;9 个必然冲突，听谁&lt;/Text&gt;&#10;                    &lt;Text style={{ fontSize: 13, color: '#475569', marginTop: 6, lineHeight: 1.55 }}&gt;&#10;                        9 个意见永远会冲突：安全想让你别放，经济想让你多放。第四周写一套规则——按优先级分层（救命 &amp;gt; 罚款 &amp;gt; 套利），同层求加权，最终夹紧并去抖&#10;                    &lt;/Text&gt;&#10;                    &lt;Text style={{ fontSize: 12, color: '#B91C1C', marginTop: 6, lineHeight: 1.5, fontWeight: 'bold' }}&gt;&#10;                        原理：冲突不是 bug 是 feature——重点是把冲突拆成&quot;层级 / 同层 / 边界&quot;三段，每段规则独立可测&#10;                    &lt;/Text&gt;&#10;                &lt;/Box&gt;&#10;&#10;            &lt;/Box&gt;&#10;&#10;        &lt;/Box&gt;&#10;&#10;        {/* C 区 */}&#10;        &lt;Box style={{&#10;            padding: '0 60px 14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工商业储能 EMS · 周期 1-4 交付汇报&#10;            &lt;/Text&gt;&#10;            &lt;Text style={{ fontSize: 14, color: '#94A3B8' }}&gt;03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571500" y="285750"/>
            <a:ext cx="6429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为什么是这</a:t>
            </a:r>
            <a:r>
              <a:rPr lang="en-US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THE LOGIC</a:t>
            </a:r>
            <a:endParaRPr lang="en-US" sz="1200" b="1" spc="1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571500" y="533400"/>
            <a:ext cx="64293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件大事的内在次序——缺了前面，后面跑不通</a:t>
            </a:r>
            <a:endParaRPr lang="zh-CN" sz="2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1087100" y="7429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P03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90600"/>
            <a:ext cx="11049000" cy="1238250"/>
          </a:xfrm>
          <a:prstGeom prst="rect">
            <a:avLst/>
          </a:prstGeom>
        </p:spPr>
      </p:pic>
      <p:sp>
        <p:nvSpPr>
          <p:cNvPr id="112" name="圆角矩形 111"/>
          <p:cNvSpPr/>
          <p:nvPr>
            <p:custDataLst>
              <p:tags r:id="rId3"/>
            </p:custDataLst>
          </p:nvPr>
        </p:nvSpPr>
        <p:spPr>
          <a:xfrm>
            <a:off x="571500" y="2343150"/>
            <a:ext cx="2667000" cy="3886200"/>
          </a:xfrm>
          <a:prstGeom prst="roundRect">
            <a:avLst>
              <a:gd name="adj" fmla="val 3571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13" name="任意多边形 112"/>
          <p:cNvSpPr/>
          <p:nvPr>
            <p:custDataLst>
              <p:tags r:id="rId4"/>
            </p:custDataLst>
          </p:nvPr>
        </p:nvSpPr>
        <p:spPr>
          <a:xfrm>
            <a:off x="571500" y="2343150"/>
            <a:ext cx="2667000" cy="3886200"/>
          </a:xfrm>
          <a:custGeom>
            <a:avLst/>
            <a:gdLst/>
            <a:ahLst/>
            <a:cxnLst/>
            <a:pathLst>
              <a:path w="280" h="408">
                <a:moveTo>
                  <a:pt x="270" y="0"/>
                </a:moveTo>
                <a:cubicBezTo>
                  <a:pt x="275" y="0"/>
                  <a:pt x="279" y="4"/>
                  <a:pt x="280" y="8"/>
                </a:cubicBezTo>
                <a:cubicBezTo>
                  <a:pt x="279" y="6"/>
                  <a:pt x="277" y="4"/>
                  <a:pt x="27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723900" y="2476500"/>
            <a:ext cx="2362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摸清</a:t>
            </a:r>
            <a:r>
              <a:rPr lang="en-US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个诉求</a:t>
            </a:r>
            <a:endParaRPr lang="zh-CN" sz="975" b="1" spc="113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723900" y="27051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先把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谁要发言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摊开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723900" y="2933700"/>
            <a:ext cx="2362200" cy="923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至少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个不同来路的意志：有些是电池自己不愿做（电量过低）、有些是老板不希望的罚款（需量超额）、有些是电网给的奖赏（分时电价）……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第一周只为它们确认身份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723900" y="4114800"/>
            <a:ext cx="23622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原理：决策的反面是不知道决策者是谁——列不出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个，后续就无法谈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为谁而战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>
            <p:custDataLst>
              <p:tags r:id="rId9"/>
            </p:custDataLst>
          </p:nvPr>
        </p:nvSpPr>
        <p:spPr>
          <a:xfrm>
            <a:off x="3371850" y="2343150"/>
            <a:ext cx="2657475" cy="3886200"/>
          </a:xfrm>
          <a:prstGeom prst="roundRect">
            <a:avLst>
              <a:gd name="adj" fmla="val 3584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119" name="任意多边形 118"/>
          <p:cNvSpPr/>
          <p:nvPr>
            <p:custDataLst>
              <p:tags r:id="rId10"/>
            </p:custDataLst>
          </p:nvPr>
        </p:nvSpPr>
        <p:spPr>
          <a:xfrm>
            <a:off x="3371850" y="2343150"/>
            <a:ext cx="2657475" cy="3886200"/>
          </a:xfrm>
          <a:custGeom>
            <a:avLst/>
            <a:gdLst/>
            <a:ahLst/>
            <a:cxnLst/>
            <a:pathLst>
              <a:path w="279" h="408">
                <a:moveTo>
                  <a:pt x="269" y="0"/>
                </a:moveTo>
                <a:cubicBezTo>
                  <a:pt x="274" y="0"/>
                  <a:pt x="278" y="4"/>
                  <a:pt x="279" y="8"/>
                </a:cubicBezTo>
                <a:cubicBezTo>
                  <a:pt x="278" y="6"/>
                  <a:pt x="276" y="4"/>
                  <a:pt x="2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3524250" y="2476500"/>
            <a:ext cx="2352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让它们有共同语言</a:t>
            </a:r>
            <a:endParaRPr lang="zh-CN" sz="975" b="1" spc="113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3524250" y="2705100"/>
            <a:ext cx="2352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个发言方式不一致，无法比较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3524250" y="2933700"/>
            <a:ext cx="2352675" cy="923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有的诉求说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应该放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千瓦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，有的说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不能超过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80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千瓦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。第二周规定每人都只能说同一套句式：能落在区间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[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下界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上界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，最佳点是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X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，权重是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W</a:t>
            </a:r>
            <a:endParaRPr lang="en-US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3524250" y="3914775"/>
            <a:ext cx="23526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原理：仲裁的本质是数学运算（交集</a:t>
            </a:r>
            <a:r>
              <a:rPr lang="en-US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平均）——输入语义必须统一，否则算出来的</a:t>
            </a:r>
            <a:r>
              <a:rPr lang="en-US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中点</a:t>
            </a:r>
            <a:r>
              <a:rPr lang="en-US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无意义</a:t>
            </a:r>
            <a:endParaRPr lang="zh-CN" sz="900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>
            <p:custDataLst>
              <p:tags r:id="rId15"/>
            </p:custDataLst>
          </p:nvPr>
        </p:nvSpPr>
        <p:spPr>
          <a:xfrm>
            <a:off x="6162675" y="2343150"/>
            <a:ext cx="2667000" cy="3886200"/>
          </a:xfrm>
          <a:prstGeom prst="roundRect">
            <a:avLst>
              <a:gd name="adj" fmla="val 3571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125" name="任意多边形 124"/>
          <p:cNvSpPr/>
          <p:nvPr>
            <p:custDataLst>
              <p:tags r:id="rId16"/>
            </p:custDataLst>
          </p:nvPr>
        </p:nvSpPr>
        <p:spPr>
          <a:xfrm>
            <a:off x="6162675" y="2343150"/>
            <a:ext cx="2667000" cy="3886200"/>
          </a:xfrm>
          <a:custGeom>
            <a:avLst/>
            <a:gdLst/>
            <a:ahLst/>
            <a:cxnLst/>
            <a:pathLst>
              <a:path w="280" h="408">
                <a:moveTo>
                  <a:pt x="270" y="0"/>
                </a:moveTo>
                <a:cubicBezTo>
                  <a:pt x="275" y="0"/>
                  <a:pt x="279" y="4"/>
                  <a:pt x="280" y="8"/>
                </a:cubicBezTo>
                <a:cubicBezTo>
                  <a:pt x="279" y="6"/>
                  <a:pt x="277" y="4"/>
                  <a:pt x="27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22C55E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6315075" y="2476500"/>
            <a:ext cx="2362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建一个调度台把它们组织</a:t>
            </a:r>
            <a:r>
              <a:rPr lang="zh-CN" sz="975" b="1" spc="113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起来</a:t>
            </a:r>
            <a:endParaRPr lang="zh-CN" sz="975" b="1" spc="113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6315075" y="27051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个能每分钟被叫到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6315075" y="2933700"/>
            <a:ext cx="2362200" cy="923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每分钟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个都要被问一次。第三周提供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调度台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：登记、启停、按表调度、缓存结果——上层只要发一次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开会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命令，不必挨个找诉求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6315075" y="3914775"/>
            <a:ext cx="23622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原理：把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挨个调用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抽象成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每分钟一次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上层调用从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次降到</a:t>
            </a:r>
            <a:r>
              <a:rPr lang="en-US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</a:rPr>
              <a:t>次，且新增诉求时上层无需改动</a:t>
            </a:r>
            <a:endParaRPr lang="zh-CN" sz="90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圆角矩形 129"/>
          <p:cNvSpPr/>
          <p:nvPr>
            <p:custDataLst>
              <p:tags r:id="rId21"/>
            </p:custDataLst>
          </p:nvPr>
        </p:nvSpPr>
        <p:spPr>
          <a:xfrm>
            <a:off x="8963025" y="2343150"/>
            <a:ext cx="2657475" cy="3886200"/>
          </a:xfrm>
          <a:prstGeom prst="roundRect">
            <a:avLst>
              <a:gd name="adj" fmla="val 3584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131" name="任意多边形 130"/>
          <p:cNvSpPr/>
          <p:nvPr>
            <p:custDataLst>
              <p:tags r:id="rId22"/>
            </p:custDataLst>
          </p:nvPr>
        </p:nvSpPr>
        <p:spPr>
          <a:xfrm>
            <a:off x="8963025" y="2343150"/>
            <a:ext cx="2657475" cy="3886200"/>
          </a:xfrm>
          <a:custGeom>
            <a:avLst/>
            <a:gdLst/>
            <a:ahLst/>
            <a:cxnLst/>
            <a:pathLst>
              <a:path w="279" h="408">
                <a:moveTo>
                  <a:pt x="269" y="0"/>
                </a:moveTo>
                <a:cubicBezTo>
                  <a:pt x="274" y="0"/>
                  <a:pt x="278" y="4"/>
                  <a:pt x="279" y="8"/>
                </a:cubicBezTo>
                <a:cubicBezTo>
                  <a:pt x="278" y="6"/>
                  <a:pt x="276" y="4"/>
                  <a:pt x="2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9115425" y="2476500"/>
            <a:ext cx="2352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立议事规则</a:t>
            </a:r>
            <a:endParaRPr lang="zh-CN" sz="975" b="1" spc="113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9115425" y="2705100"/>
            <a:ext cx="2352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个必然冲突，听谁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>
            <p:custDataLst>
              <p:tags r:id="rId25"/>
            </p:custDataLst>
          </p:nvPr>
        </p:nvSpPr>
        <p:spPr>
          <a:xfrm>
            <a:off x="9115425" y="2933700"/>
            <a:ext cx="2352675" cy="923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个意见永远会冲突：安全想让你别放，经济想让你多放。第四周写一套规则——按优先级分层（救命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&gt;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罚款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&gt;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套利），同层求加权，最终夹紧并去抖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>
            <p:custDataLst>
              <p:tags r:id="rId26"/>
            </p:custDataLst>
          </p:nvPr>
        </p:nvSpPr>
        <p:spPr>
          <a:xfrm>
            <a:off x="9115425" y="3914775"/>
            <a:ext cx="23526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原理：冲突不是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 bug 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 feature——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重点是把冲突拆成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层级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同层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r>
              <a:rPr lang="en-US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三段，每段规则独立可测</a:t>
            </a:r>
            <a:endParaRPr lang="zh-CN" sz="9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0" y="6419850"/>
            <a:ext cx="12192000" cy="438150"/>
          </a:xfrm>
          <a:custGeom>
            <a:avLst/>
            <a:gdLst/>
            <a:ahLst/>
            <a:cxnLst/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571500" y="6496050"/>
            <a:ext cx="2200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工商业储能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EMS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1-4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163300" y="64960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03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周期 1 · STRATEGY INVENTORY&#10;                    &lt;/Text&gt;&#10;                    &lt;Text style={{ fontSize: 32, fontWeight: 'bold', color: '#1A1A1A', marginTop: 6 }}&gt;&#10;                        9 个业务意志的边界·不是 9 段代码&#10;                    &lt;/Text&gt;&#10;                &lt;/Box&gt;&#10;                &lt;Text style={{ fontSize: 14, color: '#94A3B8' }}&gt;P04 / 11&lt;/Text&gt;&#10;            &lt;/Box&gt;&#10;        &lt;/Box&gt;&#10;&#10;        {/* B 区 */}&#10;        &lt;Box style={{&#10;            flex: 1,&#10;            padding: '12px 60px',&#10;            flexDirection: 'column',&#10;            gap: 10,&#10;        }}&gt;&#10;&#10;            {/* 顶部 — 优先级图例 */}&#10;            &lt;Box style={{&#10;                flexDirection: 'row',&#10;                gap: 14,&#10;                alignItems: 'center',&#10;                paddingBottom: 8,&#10;                borderBottom: '1px solid #E2E8F0',&#10;            }}&gt;&#10;                &lt;Box style={{ flexDirection: 'row', alignItems: 'center', gap: 6 }}&gt;&#10;                    &lt;Box style={{ width: 12, height: 12, borderRadius: 2, background: '#EF4444' }} /&gt;&#10;                    &lt;Text style={{ fontSize: 13, color: '#1A1A1A', fontWeight: 'bold' }}&gt;救命级：安全禁令（一票否决）&lt;/Text&gt;&#10;                &lt;/Box&gt;&#10;                &lt;Box style={{ flexDirection: 'row', alignItems: 'center', gap: 6 }}&gt;&#10;                    &lt;Box style={{ width: 12, height: 12, borderRadius: 2, background: '#F97316' }} /&gt;&#10;                    &lt;Text style={{ fontSize: 13, color: '#1A1A1A', fontWeight: 'bold' }}&gt;硬约束级：硬件边界&lt;/Text&gt;&#10;                &lt;/Box&gt;&#10;                &lt;Box style={{ flexDirection: 'row', alignItems: 'center', gap: 6 }}&gt;&#10;                    &lt;Box style={{ width: 12, height: 12, borderRadius: 2, background: '#06B6D4' }} /&gt;&#10;                    &lt;Text style={{ fontSize: 13, color: '#1A1A1A', fontWeight: 'bold' }}&gt;局部经济级：场站经营&lt;/Text&gt;&#10;                &lt;/Box&gt;&#10;                &lt;Box style={{ flexDirection: 'row', alignItems: 'center', gap: 6 }}&gt;&#10;                    &lt;Box style={{ width: 12, height: 12, borderRadius: 2, background: '#3B82F6' }} /&gt;&#10;                    &lt;Text style={{ fontSize: 13, color: '#1A1A1A', fontWeight: 'bold' }}&gt;全局套利级：系统优化&lt;/Text&gt;&#10;                &lt;/Box&gt;&#10;                &lt;Box style={{ flex: 1 }} /&gt;&#10;                &lt;Text style={{ fontSize: 12, color: '#64748B', fontStyle: 'italic', fontWeight: 'bold' }}&gt;&#10;                    原理：分层反映&quot;破坏后果的不可逆性&quot;——救命级一旦违反电池报废，套利级违反最多少赚&#10;                &lt;/Text&gt;&#10;            &lt;/Box&gt;&#10;&#10;            {/* 9 张策略卡 — 3×3 */}&#10;            &lt;Box style={{ flex: 1, flexDirection: 'column', gap: 8 }}&gt;&#10;&#10;                {/* 第 1 行 */}&#10;                &lt;Box style={{ flex: 1, flexDirection: 'row', gap: 8 }}&gt;&#10;                    {/* S01 BMS 禁放/禁充 */}&#10;                    &lt;Box style={{ flex: 1, padding: '10px 14px', background: '#FEF2F2', borderRadius: 8, borderLeft: '4px solid #EF4444' }}&gt;&#10;                        &lt;Text style={{ fontSize: 12, color: '#EF4444', fontWeight: 'bold', letterSpacing: 1 }}&gt;救命级 · 策略 1&lt;/Text&gt;&#10;                        &lt;Text style={{ fontSize: 15, fontWeight: 'bold', color: '#1A1A1A', marginTop: 4 }}&gt;BMS 禁放/禁充&lt;/Text&gt;&#10;                        &lt;Text style={{ fontSize: 12, color: '#475569', marginTop: 4, lineHeight: 1.45 }}&gt;&#10;                            &lt;Text style={{ fontWeight: 'bold', color: '#B91C1C' }}&gt;意志：&lt;/Text&gt;电池本身的物理边界——SOC 过低禁放 / 过高禁充 / 电压过高禁放&#10;                        &lt;/Text&gt;&#10;                        &lt;Text style={{ fontSize: 12, color: '#64748B', marginTop: 2, lineHeight: 1.45, fontStyle: 'italic' }}&gt;&#10;                            这是电池求救信号，别的策略都别扯&#10;                        &lt;/Text&gt;&#10;                    &lt;/Box&gt;&#10;&#10;                    {/* S02 BMS 降功率 */}&#10;                    &lt;Box style={{ flex: 1, padding: '10px 14px', background: '#FFF7ED', borderRadius: 8, borderLeft: '4px solid #F97316' }}&gt;&#10;                        &lt;Text style={{ fontSize: 12, color: '#F97316', fontWeight: 'bold', letterSpacing: 1 }}&gt;硬约束级 · 策略 2&lt;/Text&gt;&#10;                        &lt;Text style={{ fontSize: 15, fontWeight: 'bold', color: '#1A1A1A', marginTop: 4 }}&gt;BMS 降功率&lt;/Text&gt;&#10;                        &lt;Text style={{ fontSize: 12, color: '#475569', marginTop: 4, lineHeight: 1.45 }}&gt;&#10;                            &lt;Text style={{ fontWeight: 'bold', color: '#9A3412' }}&gt;意志：&lt;/Text&gt;电芯温度高/SOC 临界——请你&quot;少放点&quot;，但不要完全停&#10;                        &lt;/Text&gt;&#10;                        &lt;Text style={{ fontSize: 12, color: '#64748B', marginTop: 2, lineHeight: 1.45, fontStyle: 'italic' }}&gt;&#10;                            比策略 1 弱一点，是软警告&#10;                        &lt;/Text&gt;&#10;                    &lt;/Box&gt;&#10;&#10;                    {/* S03 变压器限容 */}&#10;                    &lt;Box style={{ flex: 1, padding: '10px 14px', background: '#FFF7ED', borderRadius: 8, borderLeft: '4px solid #F97316' }}&gt;&#10;                        &lt;Text style={{ fontSize: 12, color: '#F97316', fontWeight: 'bold', letterSpacing: 1 }}&gt;硬约束级 · 策略 3&lt;/Text&gt;&#10;                        &lt;Text style={{ fontSize: 15, fontWeight: 'bold', color: '#1A1A1A', marginTop: 4 }}&gt;变压器/进线 限容&lt;/Text&gt;&#10;                        &lt;Text style={{ fontSize: 12, color: '#475569', marginTop: 4, lineHeight: 1.45 }}&gt;&#10;                            &lt;Text style={{ fontWeight: 'bold', color: '#9A3412' }}&gt;意志：&lt;/Text&gt;变压器是个硬天花板，PCS 加上负荷不能越过它&#10;                        &lt;/Text&gt;&#10;                        &lt;Text style={{ fontSize: 12, color: '#64748B', marginTop: 2, lineHeight: 1.45, fontStyle: 'italic' }}&gt;&#10;                            这是电网物理约束，触发了要罚款&#10;                        &lt;/Text&gt;&#10;                    &lt;/Box&gt;&#10;                &lt;/Box&gt;&#10;&#10;                {/* 第 2 行 */}&#10;                &lt;Box style={{ flex: 1, flexDirection: 'row', gap: 8 }}&gt;&#10;                    {/* S04 需量管理 */}&#10;                    &lt;Box style={{ flex: 1, padding: '10px 14px', background: '#ECFEFF', borderRadius: 8, borderLeft: '4px solid #06B6D4' }}&gt;&#10;                        &lt;Text style={{ fontSize: 12, color: '#06B6D4', fontWeight: 'bold', letterSpacing: 1 }}&gt;局部经济级 · 策略 4&lt;/Text&gt;&#10;                        &lt;Text style={{ fontSize: 15, fontWeight: 'bold', color: '#1A1A1A', marginTop: 4 }}&gt;需量管理&lt;/Text&gt;&#10;                        &lt;Text style={{ fontSize: 12, color: '#475569', marginTop: 4, lineHeight: 1.45 }}&gt;&#10;                            &lt;Text style={{ fontWeight: 'bold', color: '#0E7490' }}&gt;意志：&lt;/Text&gt;本月最高需量不能超——超了要按&quot;最大需量&quot;计基本电费&#10;                        &lt;/Text&gt;&#10;                        &lt;Text style={{ fontSize: 12, color: '#64748B', marginTop: 2, lineHeight: 1.45, fontStyle: 'italic' }}&gt;&#10;                            是&quot;经济型&quot;诉求，但已经影响实际功率&#10;                        &lt;/Text&gt;&#10;                    &lt;/Box&gt;&#10;&#10;                    {/* S05 防逆流 */}&#10;                    &lt;Box style={{ flex: 1, padding: '10px 14px', background: '#ECFEFF', borderRadius: 8, borderLeft: '4px solid #06B6D4' }}&gt;&#10;                        &lt;Text style={{ fontSize: 12, color: '#06B6D4', fontWeight: 'bold', letterSpacing: 1 }}&gt;局部经济级 · 策略 5&lt;/Text&gt;&#10;                        &lt;Text style={{ fontSize: 15, fontWeight: 'bold', color: '#1A1A1A', marginTop: 4 }}&gt;防逆流&lt;/Text&gt;&#10;                        &lt;Text style={{ fontSize: 12, color: '#475569', marginTop: 4, lineHeight: 1.45 }}&gt;&#10;                            &lt;Text style={{ fontWeight: 'bold', color: '#0E7490' }}&gt;意志：&lt;/Text&gt;当前不能向电网送电（合同不允许）&#10;                        &lt;/Text&gt;&#10;                        &lt;Text style={{ fontSize: 12, color: '#64748B', marginTop: 2, lineHeight: 1.45, fontStyle: 'italic' }}&gt;&#10;                            是合同条款，不是物理硬卡，仍属&quot;业务约束&quot;&#10;                        &lt;/Text&gt;&#10;                    &lt;/Box&gt;&#10;&#10;                    {/* S06 光伏平抑 */}&#10;                    &lt;Box style={{ flex: 1, padding: '10px 14px', background: '#ECFEFF', borderRadius: 8, borderLeft: '4px solid #06B6D4' }}&gt;&#10;                        &lt;Text style={{ fontSize: 12, color: '#06B6D4', fontWeight: 'bold', letterSpacing: 1 }}&gt;局部经济级 · 策略 6&lt;/Text&gt;&#10;                        &lt;Text style={{ fontSize: 15, fontWeight: 'bold', color: '#1A1A1A', marginTop: 4 }}&gt;光伏出力平抑&lt;/Text&gt;&#10;                        &lt;Text style={{ fontSize: 12, color: '#475569', marginTop: 4, lineHeight: 1.45 }}&gt;&#10;                            &lt;Text style={{ fontWeight: 'bold', color: '#0E7490' }}&gt;意志：&lt;/Text&gt;云来了光伏别掉太狠，余电优先充电&#10;                        &lt;/Text&gt;&#10;                        &lt;Text style={{ fontSize: 12, color: '#64748B', marginTop: 2, lineHeight: 1.45, fontStyle: 'italic' }}&gt;&#10;                            平抑上送功率波动，给电网减扰&#10;                        &lt;/Text&gt;&#10;                    &lt;/Box&gt;&#10;                &lt;/Box&gt;&#10;&#10;                {/* 第 3 行 */}&#10;                &lt;Box style={{ flex: 1, flexDirection: 'row', gap: 8 }}&gt;&#10;                    {/* S07 峰谷套利 */}&#10;                    &lt;Box style={{ flex: 1, padding: '10px 14px', background: '#EFF6FF', borderRadius: 8, borderLeft: '4px solid #3B82F6' }}&gt;&#10;                        &lt;Text style={{ fontSize: 12, color: '#3B82F6', fontWeight: 'bold', letterSpacing: 1 }}&gt;全局套利级 · 策略 7&lt;/Text&gt;&#10;                        &lt;Text style={{ fontSize: 15, fontWeight: 'bold', color: '#1A1A1A', marginTop: 4 }}&gt;峰谷套利&lt;/Text&gt;&#10;                        &lt;Text style={{ fontSize: 12, color: '#475569', marginTop: 4, lineHeight: 1.45 }}&gt;&#10;                            &lt;Text style={{ fontWeight: 'bold', color: '#1E40AF' }}&gt;意志：&lt;/Text&gt;谷时充、峰时放，赚分时电价差&#10;                        &lt;/Text&gt;&#10;                        &lt;Text style={{ fontSize: 12, color: '#64748B', marginTop: 2, lineHeight: 1.45, fontStyle: 'italic' }}&gt;&#10;                            全局最优类，先确定就能量价时空 4 维规划&#10;                        &lt;/Text&gt;&#10;                    &lt;/Box&gt;&#10;&#10;                    {/* S08 动态优化 */}&#10;                    &lt;Box style={{ flex: 1, padding: '10px 14px', background: '#EFF6FF', borderRadius: 8, borderLeft: '4px solid #3B82F6' }}&gt;&#10;                        &lt;Text style={{ fontSize: 12, color: '#3B82F6', fontWeight: 'bold', letterSpacing: 1 }}&gt;全局套利级 · 策略 8&lt;/Text&gt;&#10;                        &lt;Text style={{ fontSize: 15, fontWeight: 'bold', color: '#1A1A1A', marginTop: 4 }}&gt;动态预测优化&lt;/Text&gt;&#10;                        &lt;Text style={{ fontSize: 12, color: '#475569', marginTop: 4, lineHeight: 1.45 }}&gt;&#10;                            &lt;Text style={{ fontWeight: 'bold', color: '#1E40AF' }}&gt;意志：&lt;/Text&gt;结合负荷预测、光伏预测、价表，每 15 分钟重排一次计划&#10;                        &lt;/Text&gt;&#10;                        &lt;Text style={{ fontSize: 12, color: '#64748B', marginTop: 2, lineHeight: 1.45, fontStyle: 'italic' }}&gt;&#10;                            是 S07 的&quot;升级版&quot;，但同样属经济层&#10;                        &lt;/Text&gt;&#10;                    &lt;/Box&gt;&#10;&#10;                    {/* S09 需求响应 */}&#10;                    &lt;Box style={{ flex: 1, padding: '10px 14px', background: '#EFF6FF', borderRadius: 8, borderLeft: '4px solid #3B82F6' }}&gt;&#10;                        &lt;Text style={{ fontSize: 12, color: '#3B82F6', fontWeight: 'bold', letterSpacing: 1 }}&gt;全局套利级 · 策略 9&lt;/Text&gt;&#10;                        &lt;Text style={{ fontSize: 15, fontWeight: 'bold', color: '#1A1A1A', marginTop: 4 }}&gt;需求响应 DR&lt;/Text&gt;&#10;                        &lt;Text style={{ fontSize: 12, color: '#475569', marginTop: 4, lineHeight: 1.45 }}&gt;&#10;                            &lt;Text style={{ fontWeight: 'bold', color: '#1E40AF' }}&gt;意志：&lt;/Text&gt;电网下达削峰指令——按指令容量下调负荷，事后拿响应补贴&#10;                        &lt;/Text&gt;&#10;                        &lt;Text style={{ fontSize: 12, color: '#64748B', marginTop: 2, lineHeight: 1.45, fontStyle: 'italic' }}&gt;&#10;                            &quot;外部订单&quot;——但仍是经济层的意志表达&#10;                        &lt;/Text&gt;&#10;                    &lt;/Box&gt;&#10;                &lt;/Box&gt;&#10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1 交付 = 9 个策略的&quot;业务边界清单&quot;，不写实现，只定义身份&#10;            &lt;/Text&gt;&#10;            &lt;Text style={{ fontSize: 14, color: '#94A3B8' }}&gt;04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571500" y="228600"/>
            <a:ext cx="4752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200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1 · STRATEGY INVENTORY</a:t>
            </a:r>
            <a:endParaRPr lang="en-US" sz="1200" b="1" spc="1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571500" y="476250"/>
            <a:ext cx="4752975" cy="3714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9 条业务诉求是怎么分类的</a:t>
            </a:r>
            <a:endParaRPr lang="zh-CN" altLang="en-US" sz="2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2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087100" y="6858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P04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571500" y="876300"/>
            <a:ext cx="11049000" cy="247650"/>
          </a:xfrm>
          <a:custGeom>
            <a:avLst/>
            <a:gdLst/>
            <a:ahLst/>
            <a:cxnLst/>
            <a:pathLst>
              <a:path w="1160" h="26">
                <a:moveTo>
                  <a:pt x="0" y="25"/>
                </a:moveTo>
                <a:lnTo>
                  <a:pt x="1160" y="25"/>
                </a:lnTo>
                <a:lnTo>
                  <a:pt x="1160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45" name="圆角矩形 144"/>
          <p:cNvSpPr/>
          <p:nvPr/>
        </p:nvSpPr>
        <p:spPr>
          <a:xfrm>
            <a:off x="57150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742950" y="876300"/>
            <a:ext cx="1695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救命级：安全禁令（一票否决）</a:t>
            </a:r>
            <a:endParaRPr lang="zh-CN" sz="97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257175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2743200" y="876300"/>
            <a:ext cx="1085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硬约束级：硬件边界</a:t>
            </a:r>
            <a:endParaRPr lang="zh-CN" sz="97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396240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4133850" y="876300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局部经济级：场站经营</a:t>
            </a:r>
            <a:endParaRPr lang="zh-CN" sz="97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5476875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5648325" y="876300"/>
            <a:ext cx="1200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全局套利级：系统优化</a:t>
            </a:r>
            <a:endParaRPr lang="zh-CN" sz="97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7115175" y="885825"/>
            <a:ext cx="4505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原理：分层反映</a:t>
            </a:r>
            <a:r>
              <a:rPr lang="en-US" sz="900" b="1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破坏后果的不可逆性</a:t>
            </a:r>
            <a:r>
              <a:rPr lang="en-US" sz="900" b="1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 b="1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救命级一旦违反电池报废，套利级违反最多少赚</a:t>
            </a:r>
            <a:endParaRPr lang="zh-CN" sz="900" b="1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609600" y="1209675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155" name="任意多边形 154"/>
          <p:cNvSpPr/>
          <p:nvPr/>
        </p:nvSpPr>
        <p:spPr>
          <a:xfrm>
            <a:off x="609600" y="1209675"/>
            <a:ext cx="3629025" cy="1714500"/>
          </a:xfrm>
          <a:custGeom>
            <a:avLst/>
            <a:gdLst/>
            <a:ahLst/>
            <a:cxnLst/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742950" y="1304925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救命级</a:t>
            </a:r>
            <a:r>
              <a:rPr lang="en-US" sz="900" b="1" spc="7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900" b="1" spc="75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42950" y="1485900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BMS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禁放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禁充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42950" y="1695450"/>
            <a:ext cx="3324225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电池本身的物理边界——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SOC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过低禁放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过高禁充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电压过高禁放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42950" y="2114550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这是电池求救信号，别的策略都别扯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4314825" y="1209675"/>
            <a:ext cx="3638550" cy="1714500"/>
          </a:xfrm>
          <a:prstGeom prst="roundRect">
            <a:avLst>
              <a:gd name="adj" fmla="val 4444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61" name="任意多边形 160"/>
          <p:cNvSpPr/>
          <p:nvPr/>
        </p:nvSpPr>
        <p:spPr>
          <a:xfrm>
            <a:off x="4314825" y="1209675"/>
            <a:ext cx="3638550" cy="1714500"/>
          </a:xfrm>
          <a:custGeom>
            <a:avLst/>
            <a:gdLst/>
            <a:ahLst/>
            <a:cxnLst/>
            <a:pathLst>
              <a:path w="382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4448175" y="1304925"/>
            <a:ext cx="3333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硬约束级</a:t>
            </a:r>
            <a:r>
              <a:rPr lang="en-US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900" b="1" spc="75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448175" y="1485900"/>
            <a:ext cx="3333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BMS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降功率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4448175" y="1695450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电芯温度高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/SOC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临界——请你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少放点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，但不要完全停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448175" y="1914525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比策略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弱一点，是软警告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8029575" y="1209675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67" name="任意多边形 166"/>
          <p:cNvSpPr/>
          <p:nvPr/>
        </p:nvSpPr>
        <p:spPr>
          <a:xfrm>
            <a:off x="8029575" y="1209675"/>
            <a:ext cx="3629025" cy="1714500"/>
          </a:xfrm>
          <a:custGeom>
            <a:avLst/>
            <a:gdLst/>
            <a:ahLst/>
            <a:cxnLst/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162925" y="1304925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硬约束级</a:t>
            </a:r>
            <a:r>
              <a:rPr lang="en-US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900" b="1" spc="75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162925" y="1485900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变压器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进线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限容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162925" y="1695450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变压器是个硬天花板，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PCS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加上负荷不能越过它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162925" y="1914525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这是电网物理约束，触发了要罚款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609600" y="3000375"/>
            <a:ext cx="3629025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173" name="任意多边形 172"/>
          <p:cNvSpPr/>
          <p:nvPr/>
        </p:nvSpPr>
        <p:spPr>
          <a:xfrm>
            <a:off x="609600" y="3000375"/>
            <a:ext cx="3629025" cy="1514475"/>
          </a:xfrm>
          <a:custGeom>
            <a:avLst/>
            <a:gdLst/>
            <a:ahLst/>
            <a:cxnLst/>
            <a:pathLst>
              <a:path w="381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742950" y="3095625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局部经济级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900" b="1" spc="75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742950" y="3276600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需量管理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42950" y="3486150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本月最高需量不能超——超了要按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最大需量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计基本电费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742950" y="3705225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经济型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诉求，但已经影响实际功率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圆角矩形 177"/>
          <p:cNvSpPr/>
          <p:nvPr/>
        </p:nvSpPr>
        <p:spPr>
          <a:xfrm>
            <a:off x="4314825" y="3000375"/>
            <a:ext cx="3638550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179" name="任意多边形 178"/>
          <p:cNvSpPr/>
          <p:nvPr/>
        </p:nvSpPr>
        <p:spPr>
          <a:xfrm>
            <a:off x="4314825" y="3000375"/>
            <a:ext cx="3638550" cy="1514475"/>
          </a:xfrm>
          <a:custGeom>
            <a:avLst/>
            <a:gdLst/>
            <a:ahLst/>
            <a:cxnLst/>
            <a:pathLst>
              <a:path w="382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4448175" y="3095625"/>
            <a:ext cx="3333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局部经济级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5</a:t>
            </a:r>
            <a:endParaRPr lang="en-US" sz="900" b="1" spc="75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448175" y="3276600"/>
            <a:ext cx="3333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防逆流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4448175" y="3486150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当前不能向电网送电（合同不允许）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448175" y="3705225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是合同条款，不是物理硬卡，仍属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业务约束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8029575" y="3000375"/>
            <a:ext cx="3629025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185" name="任意多边形 184"/>
          <p:cNvSpPr/>
          <p:nvPr/>
        </p:nvSpPr>
        <p:spPr>
          <a:xfrm>
            <a:off x="8029575" y="3000375"/>
            <a:ext cx="3629025" cy="1514475"/>
          </a:xfrm>
          <a:custGeom>
            <a:avLst/>
            <a:gdLst/>
            <a:ahLst/>
            <a:cxnLst/>
            <a:pathLst>
              <a:path w="381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162925" y="3095625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局部经济级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6</a:t>
            </a:r>
            <a:endParaRPr lang="en-US" sz="900" b="1" spc="75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162925" y="3276600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光伏出力平抑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162925" y="3486150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云来了光伏别掉太狠，余电优先充电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8162925" y="3705225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平抑上送功率波动，给电网减扰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609600" y="4591050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91" name="任意多边形 190"/>
          <p:cNvSpPr/>
          <p:nvPr/>
        </p:nvSpPr>
        <p:spPr>
          <a:xfrm>
            <a:off x="609600" y="4591050"/>
            <a:ext cx="3629025" cy="1714500"/>
          </a:xfrm>
          <a:custGeom>
            <a:avLst/>
            <a:gdLst/>
            <a:ahLst/>
            <a:cxnLst/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42950" y="4686300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全局套利级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7</a:t>
            </a:r>
            <a:endParaRPr lang="en-US" sz="9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742950" y="4867275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峰谷套利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742950" y="5076825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谷时充、峰时放，赚分时电价差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742950" y="5295900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全局最优类，先确定就能量价时空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维规划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4314825" y="4591050"/>
            <a:ext cx="3638550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97" name="任意多边形 196"/>
          <p:cNvSpPr/>
          <p:nvPr/>
        </p:nvSpPr>
        <p:spPr>
          <a:xfrm>
            <a:off x="4314825" y="4591050"/>
            <a:ext cx="3638550" cy="1714500"/>
          </a:xfrm>
          <a:custGeom>
            <a:avLst/>
            <a:gdLst/>
            <a:ahLst/>
            <a:cxnLst/>
            <a:pathLst>
              <a:path w="382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448175" y="4686300"/>
            <a:ext cx="3333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全局套利级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8</a:t>
            </a:r>
            <a:endParaRPr lang="en-US" sz="9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448175" y="4867275"/>
            <a:ext cx="3333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动态预测优化</a:t>
            </a:r>
            <a:endParaRPr lang="zh-CN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448175" y="5076825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结合负荷预测、光伏预测、价表，每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分钟重排一次计划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448175" y="5295900"/>
            <a:ext cx="3333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S07 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升级版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，但同样属经济层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8029575" y="4591050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203" name="任意多边形 202"/>
          <p:cNvSpPr/>
          <p:nvPr/>
        </p:nvSpPr>
        <p:spPr>
          <a:xfrm>
            <a:off x="8029575" y="4591050"/>
            <a:ext cx="3629025" cy="1714500"/>
          </a:xfrm>
          <a:custGeom>
            <a:avLst/>
            <a:gdLst/>
            <a:ahLst/>
            <a:cxnLst/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162925" y="4686300"/>
            <a:ext cx="3324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全局套利级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9</a:t>
            </a:r>
            <a:endParaRPr lang="en-US" sz="9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162925" y="4867275"/>
            <a:ext cx="3324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需求响应</a:t>
            </a:r>
            <a:r>
              <a:rPr lang="en-US" sz="1125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DR</a:t>
            </a:r>
            <a:endParaRPr lang="en-US" sz="1125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162925" y="5076825"/>
            <a:ext cx="3324225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电网下达削峰指令——按指令容量下调负荷，事后拿响应补贴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8162925" y="5495925"/>
            <a:ext cx="3324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外部订单</a:t>
            </a:r>
            <a:r>
              <a:rPr lang="en-US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但仍是经济层的意志表达</a:t>
            </a:r>
            <a:endParaRPr lang="zh-CN" sz="90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0" y="6419850"/>
            <a:ext cx="12192000" cy="438150"/>
          </a:xfrm>
          <a:custGeom>
            <a:avLst/>
            <a:gdLst/>
            <a:ahLst/>
            <a:cxnLst/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571500" y="6505575"/>
            <a:ext cx="3905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9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个策略的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业务边界清单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，不写实现，只定义身份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04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0px 60px 0', height: 56 }}&gt;&#10;            &lt;Box style={{ flexDirection: 'row', alignItems: 'flex-end', justifyContent: 'space-between' }}&gt;&#10;                &lt;Box&gt;&#10;                    &lt;Text style={{ fontSize: 16, color: '#06B6D4', fontWeight: 'bold', letterSpacing: 2 }}&gt;&#10;                        周期 2 · COMMON LANGUAGE&#10;                    &lt;/Text&gt;&#10;                    &lt;Text style={{ fontSize: 26, fontWeight: 'bold', color: '#1A1A1A', marginTop: 4 }}&gt;&#10;                        让 9 个不同意志能用一句话说完自己&#10;                    &lt;/Text&gt;&#10;                &lt;/Box&gt;&#10;                &lt;Text style={{ fontSize: 14, color: '#94A3B8' }}&gt;P05 / 11&lt;/Text&gt;&#10;            &lt;/Box&gt;&#10;        &lt;/Box&gt;&#10;&#10;        {/* B 区：左 — 9 个不能比较的样态；右 — 共同语言 */}&#10;        &lt;Box style={{&#10;            flex: 1,&#10;            padding: '4px 60px 0',&#10;            flexDirection: 'row',&#10;            gap: 24,&#10;        }}&gt;&#10;&#10;            {/* 左半：混乱状态 */}&#10;            &lt;Box style={{ flex: 45, flexDirection: 'column' }}&gt;&#10;                &lt;Box style={{&#10;                    padding: '12px 16px',&#10;                    background: '#FEF2F2',&#10;                    borderRadius: 8,&#10;                    borderLeft: '4px solid #EF4444',&#10;                    marginBottom: 10,&#10;                }}&gt;&#10;                    &lt;Text style={{ fontSize: 13, color: '#EF4444', fontWeight: 'bold', letterSpacing: 1.5 }}&gt;&#10;                        没有共同语言之前&#10;                    &lt;/Text&gt;&#10;                    &lt;Text style={{ fontSize: 13, color: '#1A1A1A', marginTop: 6, lineHeight: 1.5 }}&gt;&#10;                        9 个策略各说各话，仲裁器看不懂——&quot;到底能不能放 100 千瓦&quot;，根本无从下手&#10;                    &lt;/Text&gt;&#10;                &lt;/Box&gt;&#10;&#10;                &lt;Box style={{ padding: '0 4px' }}&gt;&#10;                    {/* 9 个乱状 */}&#10;                    {[&#10;                        { id: '策略 1', says: '&quot;电量 28%，禁放&quot;', color: '#EF4444' },&#10;                        { id: '策略 2', says: '&quot;降一降功率，限到 80kW&quot;', color: '#F97316' },&#10;                        { id: '策略 3', says: '&quot;变压器 250kW 上限&quot;', color: '#F97316' },&#10;                        { id: '策略 4', says: '&quot;本月还剩 60kW 余度&quot;', color: '#06B6D4' },&#10;                        { id: '策略 5', says: '&quot;当前不能向电网送电&quot;', color: '#06B6D4' },&#10;                        { id: '策略 6', says: '&quot;光伏波动大，消纳为重&quot;', color: '#06B6D4' },&#10;                        { id: '策略 7', says: '&quot;现在是峰时，必须放&quot;', color: '#3B82F6' },&#10;                        { id: '策略 8', says: '&quot;预测下一时谷，建议放缓&quot;', color: '#3B82F6' },&#10;                        { id: '策略 9', says: '&quot;电网下达削峰 50kW 指令&quot;', color: '#3B82F6' },&#10;                    ].map((row, idx) =&gt; (&#10;                        &lt;Box key={idx} style={{&#10;                            flexDirection: 'row',&#10;                            alignItems: 'center',&#10;                            padding: '6px 0',&#10;                            borderBottom: '1px dashed #E2E8F0',&#10;                        }}&gt;&#10;                            &lt;Box style={{&#10;                                width: 40, padding: '3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2,&#10;                                    fontWeight: 'bold', textAlign: 'center',&#10;                                }}&gt;{row.id}&lt;/Text&gt;&#10;                            &lt;/Box&gt;&#10;                            &lt;Text style={{ fontSize: 13, color: '#1A1A1A', marginLeft: 12 }}&gt;&#10;                                {row.says}&#10;                            &lt;/Text&gt;&#10;                        &lt;/Box&gt;&#10;                    ))}&#10;                &lt;/Box&gt;&#10;&#10;                &lt;Box style={{&#10;                    marginTop: 10,&#10;                    padding: '10px 14px',&#10;                    background: '#F8FAFC',&#10;                    borderRadius: 6,&#10;                    border: '1px dashed #CBD5E1',&#10;                }}&gt;&#10;                    &lt;Text style={{ fontSize: 12, color: '#64748B', lineHeight: 1.5, fontWeight: 'bold' }}&gt;&#10;                        问题：9 条话术之间没有公约数，没法做&quot;交集/并集&quot;&#10;                    &lt;/Text&gt;&#10;                &lt;/Box&gt;&#10;            &lt;/Box&gt;&#10;&#10;            {/* 中间分隔 — 箭头 */}&#10;            &lt;Box style={{&#10;                width: 40, flexDirection: 'column',&#10;                alignItems: 'center', justifyContent: 'center',&#10;            }}&gt;&#10;                &lt;svg width='100%' height='80' viewBox='0 0 40 80'&gt;&#10;                    &lt;line x1='6' y1='40' x2='30' y2='40' stroke='#06B6D4' strokeWidth='3' /&gt;&#10;                    &lt;polygon points='26,34 26,46 38,40' fill='#06B6D4' /&gt;&#10;                    &lt;text x='20' y='22' textAnchor='middle' fill='#06B6D4' fontSize='11' fontFamily='Source Han Sans SC' fontWeight='bold'&gt;&#10;                        P2 翻译&#10;                    &lt;/text&gt;&#10;                &lt;/svg&gt;&#10;            &lt;/Box&gt;&#10;&#10;            {/* 右半：共同语言 */}&#10;            &lt;Box style={{ flex: 50, flexDirection: 'column' }}&gt;&#10;                &lt;Box style={{&#10;                    padding: '12px 16px',&#10;                    background: '#ECFEFF',&#10;                    borderRadius: 8,&#10;                    borderLeft: '4px solid #06B6D4',&#10;                    marginBottom: 10,&#10;                }}&gt;&#10;                    &lt;Text style={{ fontSize: 13, color: '#06B6D4', fontWeight: 'bold', letterSpacing: 1.5 }}&gt;&#10;                        共同语言：功率区间&#10;                    &lt;/Text&gt;&#10;                    &lt;Text style={{ fontSize: 13, color: '#1A1A1A', marginTop: 6, lineHeight: 1.5 }}&gt;&#10;                        规定每人都只能这样回答仲裁器——&lt;Text style={{ fontWeight: 'bold', color: '#0E7490' }}&gt;我能接受的功率区间 + 我的最佳点 + 我的权重&lt;/Text&gt;&#10;                    &lt;/Text&gt;&#10;                &lt;/Box&gt;&#10;&#10;                {/* 区间表示 */}&#10;                &lt;Box style={{&#10;                    padding: 14,&#10;                    background: '#F0F9FF',&#10;                    borderRadius: 8,&#10;                    border: '1px solid #BFDBFE',&#10;                }}&gt;&#10;                    &lt;Text style={{ fontSize: 13, color: '#0E7490', fontWeight: 'bold', marginBottom: 10 }}&gt;&#10;                        每个策略的发言模板&#10;                    &lt;/Text&gt;&#10;&#10;                    &lt;Box style={{&#10;                        padding: '10px 14px',&#10;                        background: '#FFFFFF',&#10;                        borderRadius: 8,&#10;                        border: '2px solid #06B6D4',&#10;                        marginBottom: 12,&#10;                    }}&gt;&#10;                        &lt;Text style={{ fontSize: 14, fontWeight: 'bold', color: '#0E7490', fontFamily: 'JetBrains Mono, monospace' }}&gt;&#10;                            Region(p_lower, p_upper, p_desired, weight)&#10;                        &lt;/Text&gt;&#10;                        &lt;Text style={{ fontSize: 12, color: '#475569', marginTop: 6, lineHeight: 1.5 }}&gt;&#10;                            p_lower ≤ P_bat ≤ p_upper；最佳点 p_desired；权重 weight&#10;                        &lt;/Text&gt;&#10;                    &lt;/Box&gt;&#10;&#10;                    {/* 9 个翻译后 */}&#10;                    &lt;Text style={{ fontSize: 13, color: '#0E7490', fontWeight: 'bold', marginBottom: 6 }}&gt;&#10;                        翻 译 后&#10;                    &lt;/Text&gt;&#10;                    {[&#10;                        { id: '策略 1', color: '#EF4444', region: '[-∞, 0] ∪ [0, 0]', mean: '&quot;只能 0&quot;', w: 'W=10' },&#10;                        { id: '策略 2', color: '#F97316', region: '[-80, +80]', mean: '&quot;正负 80&quot;', w: 'W=8' },&#10;                        { id: '策略 3', color: '#F97316', region: '[-200, +200]', mean: '&quot;正负 200&quot;', w: 'W=10' },&#10;                        { id: '策略 4', color: '#06B6D4', region: '[-60, +60]', mean: '&quot;留 60 度&quot;', w: 'W=6' },&#10;                        { id: '策略 5', color: '#06B6D4', region: '[-∞, 0]', mean: '&quot;只能吸收&quot;', w: 'W=8' },&#10;                        { id: '策略 6', color: '#06B6D4', region: '[-100, +100]', mean: '&quot;余电消纳&quot;', w: 'W=4' },&#10;                        { id: '策略 7', color: '#3B82F6', region: '[+120, +300]', mean: '&quot;峰时放&quot;', w: 'W=5' },&#10;                        { id: '策略 8', color: '#3B82F6', region: '[+50, +200]', mean: '&quot;预测建议&quot;', w: 'W=3' },&#10;                        { id: '策略 9', color: '#3B82F6', region: '[-150, 0]', mean: '&quot;削 50&quot;', w: 'W=7' },&#10;                    ].map((row, idx) =&gt; (&#10;                        &lt;Box key={idx} style={{&#10;                            flexDirection: 'row', alignItems: 'center',&#10;                            padding: '5px 0',&#10;                            borderBottom: '1px solid #BAE6FD',&#10;                        }}&gt;&#10;                            &lt;Box style={{&#10;                                width: 36, padding: '3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2,&#10;                                    fontWeight: 'bold', textAlign: 'center',&#10;                                }}&gt;{row.id}&lt;/Text&gt;&#10;                            &lt;/Box&gt;&#10;                            &lt;Text style={{&#10;                                fontSize: 12, color: '#0E7490',&#10;                                fontFamily: 'JetBrains Mono, monospace',&#10;                                marginLeft: 10, width: 180,&#10;                            }}&gt;{row.region}&lt;/Text&gt;&#10;                            &lt;Text style={{ fontSize: 12, color: '#475569', marginLeft: 10, width: 100 }}&gt;&#10;                                {row.mean}&#10;                            &lt;/Text&gt;&#10;                            &lt;Text style={{ fontSize: 12, color: '#94A3B8', marginLeft: 10, fontWeight: 'bold' }}&gt;&#10;                                {row.w}&#10;                            &lt;/Text&gt;&#10;                        &lt;/Box&gt;&#10;                    ))}&#10;                &lt;/Box&gt;&#10;&#10;                &lt;Box style={{&#10;                    marginTop: 10,&#10;                    padding: '10px 14px',&#10;                    background: '#FEF3C7',&#10;                    borderRadius: 6,&#10;                    borderLeft: '3px solid #F59E0B',&#10;                }}&gt;&#10;                    &lt;Text style={{ fontSize: 13, color: '#92400E', lineHeight: 1.5, fontWeight: 'bold' }}&gt;&#10;                        关键原理：区间表示 ≠ 单点&#10;                    &lt;/Text&gt;&#10;                    &lt;Text style={{ fontSize: 12, color: '#92400E', lineHeight: 1.5, marginTop: 4 }}&gt;&#10;                        即便口吻是&quot;应该放 300&quot;，更严格的策略说&quot;最多 200&quot;，结果会被夹到 200。&quot;交集式妥协&quot;才是这层语言的本意——单点只能&quot;选&quot;，区间才能&quot;让&quot;&#10;                    &lt;/Text&gt;&#10;                &lt;/Box&gt;&#10;            &lt;/Box&gt;&#10;&#10;        &lt;/Box&gt;&#10;&#10;        {/* C 区 */}&#10;        &lt;Box style={{&#10;            padding: '0 60px 6px',&#10;            height: 30,&#10;            flexDirection: 'row',&#10;            alignItems: 'center',&#10;            justifyContent: 'space-between',&#10;            borderTop: '1px solid #E2E8F0',&#10;        }}&gt;&#10;            &lt;Text style={{ fontSize: 13, color: '#94A3B8' }}&gt;&#10;                周期 2 交付 = &quot;区间语言&quot;，这是上层推理的最小元&#10;            &lt;/Text&gt;&#10;            &lt;Text style={{ fontSize: 13, color: '#94A3B8' }}&gt;05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矩形 2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571500" y="95250"/>
            <a:ext cx="4019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200" b="1" spc="15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2 · COMMON LANGUAGE</a:t>
            </a:r>
            <a:endParaRPr lang="en-US" sz="1200" b="1" spc="15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71500" y="323850"/>
            <a:ext cx="4019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19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9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个不同意志能用一句话说完自己</a:t>
            </a:r>
            <a:endParaRPr lang="zh-CN" sz="19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087100" y="4667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P05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609600" y="685800"/>
            <a:ext cx="4838700" cy="552450"/>
          </a:xfrm>
          <a:prstGeom prst="roundRect">
            <a:avLst>
              <a:gd name="adj" fmla="val 11429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217" name="任意多边形 216"/>
          <p:cNvSpPr/>
          <p:nvPr/>
        </p:nvSpPr>
        <p:spPr>
          <a:xfrm>
            <a:off x="609600" y="571500"/>
            <a:ext cx="4838700" cy="666750"/>
          </a:xfrm>
          <a:custGeom>
            <a:avLst/>
            <a:gdLst/>
            <a:ahLst/>
            <a:cxnLst/>
            <a:pathLst>
              <a:path w="508" h="7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6"/>
                </a:lnTo>
                <a:cubicBezTo>
                  <a:pt x="4" y="68"/>
                  <a:pt x="5" y="70"/>
                  <a:pt x="7" y="70"/>
                </a:cubicBezTo>
                <a:cubicBezTo>
                  <a:pt x="3" y="70"/>
                  <a:pt x="0" y="66"/>
                  <a:pt x="0" y="6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62000" y="742950"/>
            <a:ext cx="4495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没有共同语言之前</a:t>
            </a:r>
            <a:endParaRPr lang="zh-CN" sz="975" b="1" spc="113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62000" y="895350"/>
            <a:ext cx="4495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个策略各说各话，仲裁器看不懂——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到底能不能放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千瓦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，根本无从下手</a:t>
            </a:r>
            <a:endParaRPr lang="zh-CN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任意多边形 219"/>
          <p:cNvSpPr/>
          <p:nvPr/>
        </p:nvSpPr>
        <p:spPr>
          <a:xfrm>
            <a:off x="609600" y="133350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21" name="圆角矩形 220"/>
          <p:cNvSpPr/>
          <p:nvPr/>
        </p:nvSpPr>
        <p:spPr>
          <a:xfrm>
            <a:off x="609600" y="13906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EF4444"/>
          </a:solidFill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38175" y="141922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1104900" y="1419225"/>
            <a:ext cx="1019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电量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28%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，禁放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任意多边形 223"/>
          <p:cNvSpPr/>
          <p:nvPr/>
        </p:nvSpPr>
        <p:spPr>
          <a:xfrm>
            <a:off x="609600" y="165735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25" name="圆角矩形 224"/>
          <p:cNvSpPr/>
          <p:nvPr/>
        </p:nvSpPr>
        <p:spPr>
          <a:xfrm>
            <a:off x="609600" y="17145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638175" y="17430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1104900" y="1743075"/>
            <a:ext cx="1476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降一降功率，限到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80kW"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609600" y="198120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29" name="圆角矩形 228"/>
          <p:cNvSpPr/>
          <p:nvPr/>
        </p:nvSpPr>
        <p:spPr>
          <a:xfrm>
            <a:off x="609600" y="20383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638175" y="206692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1104900" y="2066925"/>
            <a:ext cx="1219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变压器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250kW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上限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609600" y="230505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33" name="圆角矩形 232"/>
          <p:cNvSpPr/>
          <p:nvPr/>
        </p:nvSpPr>
        <p:spPr>
          <a:xfrm>
            <a:off x="609600" y="23622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38175" y="23907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1104900" y="2390775"/>
            <a:ext cx="1266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本月还剩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60kW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余度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任意多边形 235"/>
          <p:cNvSpPr/>
          <p:nvPr/>
        </p:nvSpPr>
        <p:spPr>
          <a:xfrm>
            <a:off x="609600" y="262890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37" name="圆角矩形 236"/>
          <p:cNvSpPr/>
          <p:nvPr/>
        </p:nvSpPr>
        <p:spPr>
          <a:xfrm>
            <a:off x="609600" y="26860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38175" y="271462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1104900" y="2714625"/>
            <a:ext cx="1228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当前不能向电网送电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任意多边形 239"/>
          <p:cNvSpPr/>
          <p:nvPr/>
        </p:nvSpPr>
        <p:spPr>
          <a:xfrm>
            <a:off x="609600" y="295275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41" name="圆角矩形 240"/>
          <p:cNvSpPr/>
          <p:nvPr/>
        </p:nvSpPr>
        <p:spPr>
          <a:xfrm>
            <a:off x="609600" y="30099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638175" y="30384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6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1104900" y="3038475"/>
            <a:ext cx="1352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光伏波动大，消纳为重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609600" y="327660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45" name="圆角矩形 244"/>
          <p:cNvSpPr/>
          <p:nvPr/>
        </p:nvSpPr>
        <p:spPr>
          <a:xfrm>
            <a:off x="609600" y="33337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638175" y="336232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7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104900" y="3362325"/>
            <a:ext cx="1228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现在是峰时，必须放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609600" y="360045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49" name="圆角矩形 248"/>
          <p:cNvSpPr/>
          <p:nvPr/>
        </p:nvSpPr>
        <p:spPr>
          <a:xfrm>
            <a:off x="609600" y="36576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638175" y="36861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8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104900" y="3686175"/>
            <a:ext cx="1476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预测下一时谷，建议放缓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任意多边形 251"/>
          <p:cNvSpPr/>
          <p:nvPr/>
        </p:nvSpPr>
        <p:spPr>
          <a:xfrm>
            <a:off x="609600" y="3924300"/>
            <a:ext cx="4762500" cy="333375"/>
          </a:xfrm>
          <a:custGeom>
            <a:avLst/>
            <a:gdLst/>
            <a:ahLst/>
            <a:cxnLst/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53" name="圆角矩形 252"/>
          <p:cNvSpPr/>
          <p:nvPr/>
        </p:nvSpPr>
        <p:spPr>
          <a:xfrm>
            <a:off x="609600" y="39814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638175" y="401002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104900" y="4010025"/>
            <a:ext cx="1514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电网下达削峰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50kW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指令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571500" y="4343400"/>
            <a:ext cx="48387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04850" y="4438650"/>
            <a:ext cx="457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问题：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条话术之间没有公约数，没法做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交集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并集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8" name="图片 2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3190875"/>
            <a:ext cx="381000" cy="762000"/>
          </a:xfrm>
          <a:prstGeom prst="rect">
            <a:avLst/>
          </a:prstGeom>
        </p:spPr>
      </p:pic>
      <p:sp>
        <p:nvSpPr>
          <p:cNvPr id="259" name="圆角矩形 258"/>
          <p:cNvSpPr/>
          <p:nvPr/>
        </p:nvSpPr>
        <p:spPr>
          <a:xfrm>
            <a:off x="6286500" y="571500"/>
            <a:ext cx="5372100" cy="666750"/>
          </a:xfrm>
          <a:prstGeom prst="roundRect">
            <a:avLst>
              <a:gd name="adj" fmla="val 11429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260" name="任意多边形 259"/>
          <p:cNvSpPr/>
          <p:nvPr/>
        </p:nvSpPr>
        <p:spPr>
          <a:xfrm>
            <a:off x="6286500" y="571500"/>
            <a:ext cx="5372100" cy="666750"/>
          </a:xfrm>
          <a:custGeom>
            <a:avLst/>
            <a:gdLst/>
            <a:ahLst/>
            <a:cxnLst/>
            <a:pathLst>
              <a:path w="564" h="7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6"/>
                </a:lnTo>
                <a:cubicBezTo>
                  <a:pt x="4" y="68"/>
                  <a:pt x="5" y="70"/>
                  <a:pt x="7" y="70"/>
                </a:cubicBezTo>
                <a:cubicBezTo>
                  <a:pt x="3" y="70"/>
                  <a:pt x="0" y="66"/>
                  <a:pt x="0" y="6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438900" y="685800"/>
            <a:ext cx="5029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共同语言：功率区间</a:t>
            </a:r>
            <a:endParaRPr lang="zh-CN" sz="975" b="1" spc="113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438900" y="895350"/>
            <a:ext cx="5029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规定每人都只能这样回答仲裁器——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我能接受的功率区间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我的最佳点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我的权重</a:t>
            </a:r>
            <a:endParaRPr lang="zh-CN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6248400" y="1333500"/>
            <a:ext cx="5372100" cy="4200525"/>
          </a:xfrm>
          <a:prstGeom prst="roundRect">
            <a:avLst>
              <a:gd name="adj" fmla="val 1814"/>
            </a:avLst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381750" y="1466850"/>
            <a:ext cx="5105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每个策略的发言模板</a:t>
            </a:r>
            <a:endParaRPr lang="zh-CN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6381750" y="1714500"/>
            <a:ext cx="51054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515100" y="1809750"/>
            <a:ext cx="4838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7490"/>
                </a:solidFill>
                <a:latin typeface="JetBrains Mono"/>
                <a:ea typeface="JetBrains Mono"/>
              </a:rPr>
              <a:t>Region(p_lower, p_upper, p_desired, weight)</a:t>
            </a:r>
            <a:endParaRPr lang="en-US" sz="1050" b="1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515100" y="2028825"/>
            <a:ext cx="483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p_lower ≤ P_bat ≤ p_upper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；最佳点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p_desired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；权重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weight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381750" y="2447925"/>
            <a:ext cx="5105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翻</a:t>
            </a: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译</a:t>
            </a: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后</a:t>
            </a:r>
            <a:endParaRPr lang="zh-CN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任意多边形 268"/>
          <p:cNvSpPr/>
          <p:nvPr/>
        </p:nvSpPr>
        <p:spPr>
          <a:xfrm>
            <a:off x="6381750" y="26574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270" name="圆角矩形 269"/>
          <p:cNvSpPr/>
          <p:nvPr/>
        </p:nvSpPr>
        <p:spPr>
          <a:xfrm>
            <a:off x="6381750" y="27051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EF4444"/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391275" y="27336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819900" y="27336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[-∞, 0] ∪ [0, 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8629650" y="27336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只能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0"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677400" y="2733675"/>
            <a:ext cx="352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W=10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任意多边形 274"/>
          <p:cNvSpPr/>
          <p:nvPr/>
        </p:nvSpPr>
        <p:spPr>
          <a:xfrm>
            <a:off x="6381750" y="29622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276" name="圆角矩形 275"/>
          <p:cNvSpPr/>
          <p:nvPr/>
        </p:nvSpPr>
        <p:spPr>
          <a:xfrm>
            <a:off x="6381750" y="30099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391275" y="30384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6819900" y="30384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[-80, +80]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629650" y="30384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80"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9677400" y="30384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W=8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任意多边形 280"/>
          <p:cNvSpPr/>
          <p:nvPr/>
        </p:nvSpPr>
        <p:spPr>
          <a:xfrm>
            <a:off x="6381750" y="32670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282" name="圆角矩形 281"/>
          <p:cNvSpPr/>
          <p:nvPr/>
        </p:nvSpPr>
        <p:spPr>
          <a:xfrm>
            <a:off x="6381750" y="33147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6391275" y="33432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19900" y="33432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[-200, +200]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8629650" y="33432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200"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9677400" y="3343275"/>
            <a:ext cx="352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W=10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任意多边形 286"/>
          <p:cNvSpPr/>
          <p:nvPr/>
        </p:nvSpPr>
        <p:spPr>
          <a:xfrm>
            <a:off x="6381750" y="35718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288" name="圆角矩形 287"/>
          <p:cNvSpPr/>
          <p:nvPr/>
        </p:nvSpPr>
        <p:spPr>
          <a:xfrm>
            <a:off x="6381750" y="36195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6391275" y="36480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6819900" y="36480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[-60, +60]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629650" y="36480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留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度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9677400" y="36480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W=6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任意多边形 292"/>
          <p:cNvSpPr/>
          <p:nvPr/>
        </p:nvSpPr>
        <p:spPr>
          <a:xfrm>
            <a:off x="6381750" y="38766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294" name="圆角矩形 293"/>
          <p:cNvSpPr/>
          <p:nvPr/>
        </p:nvSpPr>
        <p:spPr>
          <a:xfrm>
            <a:off x="6381750" y="39243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391275" y="39528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819900" y="39528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[-∞, 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629650" y="39528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只能吸收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9677400" y="39528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W=8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6381750" y="41814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300" name="圆角矩形 299"/>
          <p:cNvSpPr/>
          <p:nvPr/>
        </p:nvSpPr>
        <p:spPr>
          <a:xfrm>
            <a:off x="6381750" y="42291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6391275" y="42576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6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6819900" y="42576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[-100, +100]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629650" y="42576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余电消纳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9677400" y="42576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W=4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任意多边形 304"/>
          <p:cNvSpPr/>
          <p:nvPr/>
        </p:nvSpPr>
        <p:spPr>
          <a:xfrm>
            <a:off x="6381750" y="44862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306" name="圆角矩形 305"/>
          <p:cNvSpPr/>
          <p:nvPr/>
        </p:nvSpPr>
        <p:spPr>
          <a:xfrm>
            <a:off x="6381750" y="45339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391275" y="45624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7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6819900" y="45624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[+120, +300]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8629650" y="45624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峰时放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9677400" y="45624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W=5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任意多边形 310"/>
          <p:cNvSpPr/>
          <p:nvPr/>
        </p:nvSpPr>
        <p:spPr>
          <a:xfrm>
            <a:off x="6381750" y="47910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312" name="圆角矩形 311"/>
          <p:cNvSpPr/>
          <p:nvPr/>
        </p:nvSpPr>
        <p:spPr>
          <a:xfrm>
            <a:off x="6381750" y="48387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391275" y="48672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8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19900" y="48672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[+50, +200]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8629650" y="48672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预测建议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677400" y="48672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W=3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任意多边形 316"/>
          <p:cNvSpPr/>
          <p:nvPr/>
        </p:nvSpPr>
        <p:spPr>
          <a:xfrm>
            <a:off x="6381750" y="5095875"/>
            <a:ext cx="5105400" cy="314325"/>
          </a:xfrm>
          <a:custGeom>
            <a:avLst/>
            <a:gdLst/>
            <a:ahLst/>
            <a:cxnLst/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</p:spPr>
        <p:txBody>
          <a:bodyPr/>
          <a:p/>
        </p:txBody>
      </p:sp>
      <p:sp>
        <p:nvSpPr>
          <p:cNvPr id="318" name="圆角矩形 317"/>
          <p:cNvSpPr/>
          <p:nvPr/>
        </p:nvSpPr>
        <p:spPr>
          <a:xfrm>
            <a:off x="6381750" y="51435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6391275" y="5172075"/>
            <a:ext cx="333375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819900" y="517207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[-150, 0]</a:t>
            </a:r>
            <a:endParaRPr lang="en-US" sz="900">
              <a:solidFill>
                <a:srgbClr val="0E7490"/>
              </a:solidFill>
              <a:latin typeface="JetBrains Mono"/>
              <a:ea typeface="JetBrains Mono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8629650" y="51720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削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50"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9677400" y="5172075"/>
            <a:ext cx="285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W=7</a:t>
            </a:r>
            <a:endParaRPr lang="en-US"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6276975" y="5629275"/>
            <a:ext cx="5372100" cy="876300"/>
          </a:xfrm>
          <a:prstGeom prst="roundRect">
            <a:avLst>
              <a:gd name="adj" fmla="val 6522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6276975" y="5629275"/>
            <a:ext cx="5372100" cy="876300"/>
          </a:xfrm>
          <a:custGeom>
            <a:avLst/>
            <a:gdLst/>
            <a:ahLst/>
            <a:cxnLst/>
            <a:pathLst>
              <a:path w="564" h="9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89"/>
                </a:lnTo>
                <a:cubicBezTo>
                  <a:pt x="3" y="90"/>
                  <a:pt x="4" y="92"/>
                  <a:pt x="5" y="92"/>
                </a:cubicBezTo>
                <a:cubicBezTo>
                  <a:pt x="2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6410325" y="5724525"/>
            <a:ext cx="5076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关键原理：区间表示</a:t>
            </a:r>
            <a:r>
              <a:rPr lang="en-US" sz="97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≠ </a:t>
            </a:r>
            <a:r>
              <a:rPr lang="zh-CN" sz="97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单点</a:t>
            </a:r>
            <a:endParaRPr lang="zh-CN" sz="975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6410325" y="5991225"/>
            <a:ext cx="5076825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即便口吻是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应该放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300"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，更严格的策略说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最多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200"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，结果会被夹到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交集式妥协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才是这层语言的本意——单点只能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，区间才能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9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任意多边形 326"/>
          <p:cNvSpPr/>
          <p:nvPr/>
        </p:nvSpPr>
        <p:spPr>
          <a:xfrm>
            <a:off x="0" y="6572250"/>
            <a:ext cx="12192000" cy="285750"/>
          </a:xfrm>
          <a:custGeom>
            <a:avLst/>
            <a:gdLst/>
            <a:ahLst/>
            <a:cxnLst/>
            <a:pathLst>
              <a:path w="1280" h="3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571500" y="6619875"/>
            <a:ext cx="2771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"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区间语言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，这是上层推理的最小元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11201400" y="66198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05 / 11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6, color: '#22C55E', fontWeight: 'bold', letterSpacing: 2 }}&gt;&#10;                        周期 3 · SCHEDULING&#10;                    &lt;/Text&gt;&#10;                    &lt;Text style={{ fontSize: 32, fontWeight: 'bold', color: '#1A1A1A', marginTop: 6 }}&gt;&#10;                        一张调度台：让 9 个能在每个 tick 同时被叫到&#10;                    &lt;/Text&gt;&#10;                &lt;/Box&gt;&#10;                &lt;Text style={{ fontSize: 14, color: '#94A3B8' }}&gt;P06 / 11&lt;/Text&gt;&#10;            &lt;/Box&gt;&#10;        &lt;/Box&gt;&#10;&#10;        {/* B 区：上：调度问题 → 下：调度台设计 */}&#10;        &lt;Box style={{&#10;            flex: 1,&#10;            padding: '12px 60px 0',&#10;            flexDirection: 'column',&#10;            gap: 12,&#10;        }}&gt;&#10;&#10;            {/* 顶部：痛点 */}&#10;            &lt;Box style={{&#10;                padding: '12px 18px',&#10;                background: '#FFF7ED',&#10;                borderRadius: 8,&#10;                borderLeft: '4px solid #F97316',&#10;            }}&gt;&#10;                &lt;Text style={{ fontSize: 13, color: '#9A3412', fontWeight: 'bold', letterSpacing: 1.5 }}&gt;&#10;                    痛 点&#10;                &lt;/Text&gt;&#10;                &lt;Text style={{ fontSize: 14, color: '#1A1A1A', marginTop: 6, lineHeight: 1.5 }}&gt;&#10;                    系统每分钟要问 9 个策略&quot;你意见是什么？&quot;，但有些今天没用上（DR 不发时段，套利不跑周末）、今天有新增的策略。挨个调用既慢又错——必须有&quot;议事厅&quot;统管&#10;                &lt;/Text&gt;&#10;            &lt;/Box&gt;&#10;&#10;            {/* 中部：调度台内部 — 4 个小框 */}&#10;            &lt;Box style={{&#10;                flex: 1,&#10;                background: '#F8FAFC',&#10;                borderRadius: 10,&#10;                border: '1px solid #E2E8F0',&#10;                padding: 16,&#10;                flexDirection: 'row',&#10;                gap: 14,&#10;            }}&gt;&#10;&#10;                {/* 4 件事 */}&#10;                {[&#10;                    {&#10;                        tag: '①',&#10;                        title: '登记名册',&#10;                        desc: '&quot;今天席上有这些诉求&quot;',&#10;                        detail: '9 条诉求登记一次，调度台只认编号，不关心实现细节。新增/下线诉求不需要改仲裁代码',&#10;                        color: '#3B82F6',&#10;                    },&#10;                    {&#10;                        tag: '②',&#10;                        title: '启停表',&#10;                        desc: '&quot;今天这些诉求在线&quot;',&#10;                        detail: '支持按诉求编号启停——只勾&quot;今天在场&quot;，未启用的诉求权重自动归零，下游自动跳过',&#10;                        color: '#06B6D4',&#10;                    },&#10;                    {&#10;                        tag: '③',&#10;                        title: '调度入口',&#10;                        desc: '&quot;开一次会&quot;',&#10;                        detail: '上层只调一次&quot;开会(数据)&quot; —— 调度台内部按表并行调用所有启用诉求，9 个调用变成 1 个调用',&#10;                        color: '#22C55E',&#10;                    },&#10;                    {&#10;                        tag: '④',&#10;                        title: '结果快照',&#10;                        desc: '&quot;上次的会议纪要&quot;',&#10;                        detail: '把 9 条意见缓存为 9 段区间，下游仲裁&quot;看到&quot;的是稳定快照，不存在反复问导致结果飘移',&#10;                        color: '#F59E0B',&#10;                    },&#10;                ].map((box, idx) =&gt; (&#10;                    &lt;Box key={idx} style={{&#10;                        flex: 1,&#10;                        padding: 14,&#10;                        background: '#FFFFFF',&#10;                        borderRadius: 8,&#10;                        borderTop: '3px solid ' + box.color,&#10;                    }}&gt;&#10;                        &lt;Box style={{ flexDirection: 'row', alignItems: 'center' }}&gt;&#10;                            &lt;Text style={{&#10;                                fontSize: 22, fontWeight: 'bold', color: box.color,&#10;                                fontFamily: 'JetBrains Mono, monospace',&#10;                            }}&gt;&#10;                                {box.tag}&#10;                            &lt;/Text&gt;&#10;                            &lt;Text style={{&#10;                                fontSize: 16, fontWeight: 'bold', color: '#1A1A1A',&#10;                                marginLeft: 8,&#10;                            }}&gt;&#10;                                {box.title}&#10;                            &lt;/Text&gt;&#10;                        &lt;/Box&gt;&#10;                        &lt;Text style={{ fontSize: 13, color: box.color, fontWeight: 'bold', marginTop: 6 }}&gt;&#10;                            {box.desc}&#10;                        &lt;/Text&gt;&#10;                        &lt;Text style={{ fontSize: 12, color: '#475569', marginTop: 6, lineHeight: 1.5 }}&gt;&#10;                            {box.detail}&#10;                        &lt;/Text&gt;&#10;                    &lt;/Box&gt;&#10;                ))}&#10;            &lt;/Box&gt;&#10;&#10;            {/* 底部：上层用什么 */}&#10;            &lt;Box style={{&#10;                padding: '14px 18px',&#10;                background: '#EFF6FF',&#10;                borderRadius: 8,&#10;                borderLeft: '4px solid #3B82F6',&#10;            }}&gt;&#10;                &lt;Text style={{ fontSize: 13, color: '#3B82F6', fontWeight: 'bold', letterSpacing: 1.5 }}&gt;&#10;                    它的位置（上下接口）&#10;                &lt;/Text&gt;&#10;                    &lt;Text style={{ fontSize: 13, color: '#1A1A1A', marginTop: 6, lineHeight: 1.5 }}&gt;&#10;                    上游：第三层实时控制器（任何模块）发一次&quot;开会(数据)&quot; → 拿到 9 段意见区间&#10;                    &lt;/Text&gt;&#10;                    &lt;Text style={{ fontSize: 13, color: '#1A1A1A', marginTop: 4, lineHeight: 1.5 }}&gt;&#10;                    下游：把这 9 段区间交给仲裁器（第 4 周），拿到最终 1 个功率指令，下发 4 个实际控制器&#10;                    &lt;/Text&gt;&#10;                    &lt;Text style={{ fontSize: 12, color: '#1E40AF', marginTop: 8, lineHeight: 1.5, fontWeight: 'bold' }}&gt;&#10;                        原理：&quot;开会&quot;这个接口是单一的——这让&quot;9 条诉求存在与否&quot;对上层完全透明，将来增减诉求上层零改动&#10;                    &lt;/Text&gt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3 交付 = 调度容器，让上层不必认识每个策略的具体含义&#10;            &lt;/Text&gt;&#10;            &lt;Text style={{ fontSize: 14, color: '#94A3B8' }}&gt;06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矩形 3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571500" y="228600"/>
            <a:ext cx="6296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200" b="1" spc="15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 3 · SCHEDULING</a:t>
            </a:r>
            <a:endParaRPr lang="en-US" sz="1200" b="1" spc="150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571500" y="476250"/>
            <a:ext cx="62960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一张调度台：让</a:t>
            </a: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个能在每个</a:t>
            </a: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tick </a:t>
            </a: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同时被叫到</a:t>
            </a:r>
            <a:endParaRPr lang="zh-CN" sz="2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1087100" y="6858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P06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圆角矩形 334"/>
          <p:cNvSpPr/>
          <p:nvPr/>
        </p:nvSpPr>
        <p:spPr>
          <a:xfrm>
            <a:off x="609600" y="8763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336" name="任意多边形 335"/>
          <p:cNvSpPr/>
          <p:nvPr/>
        </p:nvSpPr>
        <p:spPr>
          <a:xfrm>
            <a:off x="609600" y="876300"/>
            <a:ext cx="11049000" cy="685800"/>
          </a:xfrm>
          <a:custGeom>
            <a:avLst/>
            <a:gdLst/>
            <a:ahLst/>
            <a:cxnLst/>
            <a:pathLst>
              <a:path w="1160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781050" y="99060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</a:rPr>
              <a:t>痛</a:t>
            </a:r>
            <a:r>
              <a:rPr lang="en-US" sz="975" b="1" spc="113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 spc="113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endParaRPr lang="zh-CN" sz="975" b="1" spc="113">
              <a:solidFill>
                <a:srgbClr val="9A34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781050" y="1200150"/>
            <a:ext cx="10668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系统每分钟要问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个策略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你意见是什么？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，但有些今天没用上（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DR 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不发时段，套利不跑周末）、今天有新增的策略。挨个调用既慢又错——必须有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议事厅</a:t>
            </a: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统管</a:t>
            </a:r>
            <a:endParaRPr lang="zh-CN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圆角矩形 338"/>
          <p:cNvSpPr/>
          <p:nvPr>
            <p:custDataLst>
              <p:tags r:id="rId1"/>
            </p:custDataLst>
          </p:nvPr>
        </p:nvSpPr>
        <p:spPr>
          <a:xfrm>
            <a:off x="571500" y="1676400"/>
            <a:ext cx="11049000" cy="3371850"/>
          </a:xfrm>
          <a:prstGeom prst="roundRect">
            <a:avLst>
              <a:gd name="adj" fmla="val 28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0" name="圆角矩形 339"/>
          <p:cNvSpPr/>
          <p:nvPr>
            <p:custDataLst>
              <p:tags r:id="rId2"/>
            </p:custDataLst>
          </p:nvPr>
        </p:nvSpPr>
        <p:spPr>
          <a:xfrm>
            <a:off x="723900" y="1857375"/>
            <a:ext cx="2590800" cy="3067050"/>
          </a:xfrm>
          <a:prstGeom prst="roundRect">
            <a:avLst>
              <a:gd name="adj" fmla="val 2941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1" name="任意多边形 340"/>
          <p:cNvSpPr/>
          <p:nvPr>
            <p:custDataLst>
              <p:tags r:id="rId3"/>
            </p:custDataLst>
          </p:nvPr>
        </p:nvSpPr>
        <p:spPr>
          <a:xfrm>
            <a:off x="723900" y="1857375"/>
            <a:ext cx="2590800" cy="3067050"/>
          </a:xfrm>
          <a:custGeom>
            <a:avLst/>
            <a:gdLst/>
            <a:ahLst/>
            <a:cxnLst/>
            <a:pathLst>
              <a:path w="272" h="322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857250" y="19907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B82F6"/>
                </a:solidFill>
                <a:latin typeface="JetBrains Mono"/>
                <a:ea typeface="JetBrains Mono"/>
              </a:rPr>
              <a:t>①</a:t>
            </a:r>
            <a:endParaRPr sz="1650" b="1">
              <a:solidFill>
                <a:srgbClr val="3B82F6"/>
              </a:solidFill>
              <a:latin typeface="JetBrains Mono"/>
              <a:ea typeface="JetBrains Mono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143000" y="20288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登记名册</a:t>
            </a:r>
            <a:endParaRPr lang="zh-CN"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57250" y="2305050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8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今天席上有这些诉求</a:t>
            </a:r>
            <a:r>
              <a:rPr lang="en-US" sz="108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8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857250" y="2514600"/>
            <a:ext cx="2324100" cy="4191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条诉求登记一次，调度台只认编号，不关心实现细节。新增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下线诉求不需要改仲裁代码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圆角矩形 345"/>
          <p:cNvSpPr/>
          <p:nvPr>
            <p:custDataLst>
              <p:tags r:id="rId8"/>
            </p:custDataLst>
          </p:nvPr>
        </p:nvSpPr>
        <p:spPr>
          <a:xfrm>
            <a:off x="3448050" y="1857375"/>
            <a:ext cx="2581275" cy="3067050"/>
          </a:xfrm>
          <a:prstGeom prst="roundRect">
            <a:avLst>
              <a:gd name="adj" fmla="val 2952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7" name="任意多边形 346"/>
          <p:cNvSpPr/>
          <p:nvPr>
            <p:custDataLst>
              <p:tags r:id="rId9"/>
            </p:custDataLst>
          </p:nvPr>
        </p:nvSpPr>
        <p:spPr>
          <a:xfrm>
            <a:off x="3448050" y="1857375"/>
            <a:ext cx="2581275" cy="3067050"/>
          </a:xfrm>
          <a:custGeom>
            <a:avLst/>
            <a:gdLst/>
            <a:ahLst/>
            <a:cxnLst/>
            <a:pathLst>
              <a:path w="271" h="322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348" name="文本框 347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3581400" y="19907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6B6D4"/>
                </a:solidFill>
                <a:latin typeface="JetBrains Mono"/>
                <a:ea typeface="JetBrains Mono"/>
              </a:rPr>
              <a:t>②</a:t>
            </a:r>
            <a:endParaRPr sz="1650" b="1">
              <a:solidFill>
                <a:srgbClr val="06B6D4"/>
              </a:solidFill>
              <a:latin typeface="JetBrains Mono"/>
              <a:ea typeface="JetBrains Mono"/>
            </a:endParaRPr>
          </a:p>
        </p:txBody>
      </p:sp>
      <p:sp>
        <p:nvSpPr>
          <p:cNvPr id="349" name="文本框 348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3867150" y="2028825"/>
            <a:ext cx="457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启停表</a:t>
            </a:r>
            <a:endParaRPr lang="zh-CN"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3581400" y="2305050"/>
            <a:ext cx="2314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8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今天这些诉求在线</a:t>
            </a:r>
            <a:r>
              <a:rPr lang="en-US" sz="108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8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3581400" y="2514600"/>
            <a:ext cx="2314575" cy="4191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支持按诉求编号启停——只勾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今天在场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，未启用的诉求权重自动归零，下游自动跳过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>
            <p:custDataLst>
              <p:tags r:id="rId14"/>
            </p:custDataLst>
          </p:nvPr>
        </p:nvSpPr>
        <p:spPr>
          <a:xfrm>
            <a:off x="6162675" y="1857375"/>
            <a:ext cx="2590800" cy="3067050"/>
          </a:xfrm>
          <a:prstGeom prst="roundRect">
            <a:avLst>
              <a:gd name="adj" fmla="val 2941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3" name="任意多边形 352"/>
          <p:cNvSpPr/>
          <p:nvPr>
            <p:custDataLst>
              <p:tags r:id="rId15"/>
            </p:custDataLst>
          </p:nvPr>
        </p:nvSpPr>
        <p:spPr>
          <a:xfrm>
            <a:off x="6162675" y="1857375"/>
            <a:ext cx="2590800" cy="3067050"/>
          </a:xfrm>
          <a:custGeom>
            <a:avLst/>
            <a:gdLst/>
            <a:ahLst/>
            <a:cxnLst/>
            <a:pathLst>
              <a:path w="272" h="322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22C55E"/>
          </a:solidFill>
        </p:spPr>
        <p:txBody>
          <a:bodyPr/>
          <a:p/>
        </p:txBody>
      </p:sp>
      <p:sp>
        <p:nvSpPr>
          <p:cNvPr id="354" name="文本框 353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6296025" y="19907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2C55E"/>
                </a:solidFill>
                <a:latin typeface="JetBrains Mono"/>
                <a:ea typeface="JetBrains Mono"/>
              </a:rPr>
              <a:t>③</a:t>
            </a:r>
            <a:endParaRPr sz="1650" b="1">
              <a:solidFill>
                <a:srgbClr val="22C55E"/>
              </a:solidFill>
              <a:latin typeface="JetBrains Mono"/>
              <a:ea typeface="JetBrains Mono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6581775" y="20288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调度入口</a:t>
            </a:r>
            <a:endParaRPr lang="zh-CN"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6296025" y="2305050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8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开一次会</a:t>
            </a:r>
            <a:r>
              <a:rPr lang="en-US" sz="108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80" b="1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6296025" y="2514600"/>
            <a:ext cx="2324100" cy="6191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上层只调一次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开会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)" ——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调度台内部按表并行调用所有启用诉求，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个调用变成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个调用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57"/>
          <p:cNvSpPr/>
          <p:nvPr>
            <p:custDataLst>
              <p:tags r:id="rId20"/>
            </p:custDataLst>
          </p:nvPr>
        </p:nvSpPr>
        <p:spPr>
          <a:xfrm>
            <a:off x="8886825" y="1857375"/>
            <a:ext cx="2581275" cy="3067050"/>
          </a:xfrm>
          <a:prstGeom prst="roundRect">
            <a:avLst>
              <a:gd name="adj" fmla="val 2952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9" name="任意多边形 358"/>
          <p:cNvSpPr/>
          <p:nvPr>
            <p:custDataLst>
              <p:tags r:id="rId21"/>
            </p:custDataLst>
          </p:nvPr>
        </p:nvSpPr>
        <p:spPr>
          <a:xfrm>
            <a:off x="8886825" y="1857375"/>
            <a:ext cx="2581275" cy="3067050"/>
          </a:xfrm>
          <a:custGeom>
            <a:avLst/>
            <a:gdLst/>
            <a:ahLst/>
            <a:cxnLst/>
            <a:pathLst>
              <a:path w="271" h="322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360" name="文本框 359" descr="{&quot;isTemplate&quot;:true,&quot;type&quot;:&quot;text&quot;}"/>
          <p:cNvSpPr txBox="1"/>
          <p:nvPr>
            <p:custDataLst>
              <p:tags r:id="rId22"/>
            </p:custDataLst>
          </p:nvPr>
        </p:nvSpPr>
        <p:spPr>
          <a:xfrm>
            <a:off x="9020175" y="19907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JetBrains Mono"/>
                <a:ea typeface="JetBrains Mono"/>
              </a:rPr>
              <a:t>④</a:t>
            </a:r>
            <a:endParaRPr sz="16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9305925" y="20288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结果快照</a:t>
            </a:r>
            <a:endParaRPr lang="zh-CN"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9020175" y="2305050"/>
            <a:ext cx="2314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8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上次的会议纪要</a:t>
            </a:r>
            <a:r>
              <a:rPr lang="en-US" sz="108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8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文本框 362" descr="{&quot;isTemplate&quot;:true,&quot;type&quot;:&quot;text&quot;}"/>
          <p:cNvSpPr txBox="1"/>
          <p:nvPr>
            <p:custDataLst>
              <p:tags r:id="rId25"/>
            </p:custDataLst>
          </p:nvPr>
        </p:nvSpPr>
        <p:spPr>
          <a:xfrm>
            <a:off x="9020175" y="2514600"/>
            <a:ext cx="2314575" cy="6191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条意见缓存为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段区间，下游仲裁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看到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的是稳定快照，不存在反复问导致结果飘移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圆角矩形 363"/>
          <p:cNvSpPr/>
          <p:nvPr/>
        </p:nvSpPr>
        <p:spPr>
          <a:xfrm>
            <a:off x="609600" y="5162550"/>
            <a:ext cx="11049000" cy="1257300"/>
          </a:xfrm>
          <a:prstGeom prst="roundRect">
            <a:avLst>
              <a:gd name="adj" fmla="val 6061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365" name="任意多边形 364"/>
          <p:cNvSpPr/>
          <p:nvPr/>
        </p:nvSpPr>
        <p:spPr>
          <a:xfrm>
            <a:off x="609600" y="5162550"/>
            <a:ext cx="11049000" cy="1257300"/>
          </a:xfrm>
          <a:custGeom>
            <a:avLst/>
            <a:gdLst/>
            <a:ahLst/>
            <a:cxnLst/>
            <a:pathLst>
              <a:path w="1160" h="13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8"/>
                </a:lnTo>
                <a:cubicBezTo>
                  <a:pt x="4" y="130"/>
                  <a:pt x="5" y="132"/>
                  <a:pt x="7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781050" y="529590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它的位置（上下接口）</a:t>
            </a:r>
            <a:endParaRPr lang="zh-CN" sz="975" b="1" spc="113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781050" y="55054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上游：第三层实时控制器（任何模块）发一次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开会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)" →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拿到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段意见区间</a:t>
            </a:r>
            <a:endParaRPr lang="zh-CN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81050" y="5772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下游：把这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段区间交给仲裁器（第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周），拿到最终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个功率指令，下发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个实际控制器</a:t>
            </a:r>
            <a:endParaRPr lang="zh-CN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781050" y="6076950"/>
            <a:ext cx="10668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原理：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开会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这个接口是单一的——这让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"9 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条诉求存在与否</a:t>
            </a:r>
            <a:r>
              <a:rPr lang="en-US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对上层完全透明，将来增减诉求上层零改动</a:t>
            </a:r>
            <a:endParaRPr lang="zh-CN" sz="9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任意多边形 369"/>
          <p:cNvSpPr/>
          <p:nvPr/>
        </p:nvSpPr>
        <p:spPr>
          <a:xfrm>
            <a:off x="0" y="6419850"/>
            <a:ext cx="12192000" cy="438150"/>
          </a:xfrm>
          <a:custGeom>
            <a:avLst/>
            <a:gdLst/>
            <a:ahLst/>
            <a:cxnLst/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571500" y="6505575"/>
            <a:ext cx="3676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调度容器，让上层不必认识每个策略的具体含义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06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0px 60px 0', height: 80 }}&gt;&#10;            &lt;Box style={{ flexDirection: 'row', alignItems: 'flex-end', justifyContent: 'space-between' }}&gt;&#10;                &lt;Box&gt;&#10;                    &lt;Text style={{ fontSize: 16, color: '#EF4444', fontWeight: 'bold', letterSpacing: 2 }}&gt;&#10;                        周期 4 · ARBITRATION&#10;                    &lt;/Text&gt;&#10;                    &lt;Text style={{ fontSize: 32, fontWeight: 'bold', color: '#1A1A1A', marginTop: 6 }}&gt;&#10;                        9 个意见必然冲突，仲裁定&quot;听谁的&quot;&#10;                    &lt;/Text&gt;&#10;                &lt;/Box&gt;&#10;                &lt;Text style={{ fontSize: 14, color: '#94A3B8' }}&gt;P07 / 11&lt;/Text&gt;&#10;            &lt;/Box&gt;&#10;        &lt;/Box&gt;&#10;&#10;        {/* B 区：5 步流程 — 讲业务，不是代码 */}&#10;        &lt;Box style={{&#10;            flex: 1,&#10;            padding: '8px 60px 0',&#10;            flexDirection: 'column',&#10;            gap: 12,&#10;        }}&gt;&#10;&#10;            {/* 痛点：为什么必须有仲裁 */}&#10;            &lt;Box style={{&#10;                padding: '10px 16px',&#10;                background: '#FEF2F2',&#10;                borderRadius: 8,&#10;                borderLeft: '4px solid #EF4444',&#10;                flexDirection: 'row',&#10;                alignItems: 'center',&#10;            }}&gt;&#10;                &lt;Text style={{ fontSize: 13, color: '#EF4444', fontWeight: 'bold', letterSpacing: 1.5, marginRight: 14 }}&gt;&#10;                    必 然 冲 突&#10;                &lt;/Text&gt;&#10;                &lt;Text style={{ fontSize: 13, color: '#1A1A1A', lineHeight: 1.5, flex: 1 }}&gt;&#10;                    同 1 分钟内：策略 3 说&quot;可放 200 度&quot;、策略 1 说&quot;必须 0 度&quot;、策略 7 说&quot;峰时一定要放&quot;——3 个直接打架&#10;                    &lt;Text style={{ fontWeight: 'bold', color: '#B91C1C' }}&gt;  。不是&quot;听错&quot;，是它们的诉求本就不一样&lt;/Text&gt;&#10;                &lt;/Text&gt;&#10;            &lt;/Box&gt;&#10;&#10;            {/* 5 步流程 — 大色块 + 业务解释 + 原理 */}&#10;            &lt;Box style={{ flex: 1, flexDirection: 'row', gap: 8 }}&gt;&#10;&#10;                {/* 步骤 1 */}&#10;                &lt;Box style={{ flex: 1, flexDirection: 'column' }}&gt;&#10;                    &lt;Box style={{&#10;                        flex: 1,&#10;                        background: '#FEF2F2',&#10;                        borderRadius: 8,&#10;                        padding: 12,&#10;                        borderTop: '3px solid #EF4444',&#10;                    }}&gt;&#10;                        &lt;Text style={{ fontSize: 13, color: '#EF4444', fontWeight: 'bold', letterSpacing: 1.5 }}&gt;STEP 1&lt;/Text&gt;&#10;                        &lt;Text style={{ fontSize: 18, fontWeight: 'bold', color: '#1A1A1A', marginTop: 4 }}&gt;逐层收紧&lt;/Text&gt;&#10;                        &lt;Text style={{ fontSize: 12, color: '#B91C1C', fontWeight: 'bold', marginTop: 4 }}&gt;优先级层胜出&lt;/Text&gt;&#10;                        &lt;Text style={{ fontSize: 12, color: '#475569', marginTop: 6, lineHeight: 1.45 }}&gt;&#10;                            从最高优先级开始，所有启用策略的&quot;上界取最小，下界取最大&quot;，求出交集——没有交集就拒执行本 tick&#10;                        &lt;/Text&gt;&#10;                        &lt;Text style={{ fontSize: 11, color: '#B91C1C', marginTop: 5, lineHeight: 1.4, fontWeight: 'bold' }}&gt;&#10;                            原理：交集保证&quot;所有相关方都接受&quot;&#10;                        &lt;/Text&gt;&#10;                    &lt;/Box&gt;&#10;                &lt;/Box&gt;&#10;&#10;                {/* 步骤 2 */}&#10;                &lt;Box style={{ flex: 1, flexDirection: 'column' }}&gt;&#10;                    &lt;Box style={{&#10;                        flex: 1,&#10;                        background: '#FFF7ED',&#10;                        borderRadius: 8,&#10;                        padding: 12,&#10;                        borderTop: '3px solid #F97316',&#10;                    }}&gt;&#10;                        &lt;Text style={{ fontSize: 13, color: '#F97316', fontWeight: 'bold', letterSpacing: 1.5 }}&gt;STEP 2&lt;/Text&gt;&#10;                        &lt;Text style={{ fontSize: 18, fontWeight: 'bold', color: '#1A1A1A', marginTop: 4 }}&gt;同层求中&lt;/Text&gt;&#10;                        &lt;Text style={{ fontSize: 12, color: '#9A3412', fontWeight: 'bold', marginTop: 4 }}&gt;加权平均&lt;/Text&gt;&#10;                        &lt;Text style={{ fontSize: 12, color: '#475569', marginTop: 6, lineHeight: 1.45 }}&gt;&#10;                            同一优先级层里、把几条诉求的最佳点按权重平均。策略 1 / 策略 2 都喊 80 度，按 10:8 加权 = 79&#10;                        &lt;/Text&gt;&#10;                        &lt;Text style={{ fontSize: 11, color: '#9A3412', marginTop: 5, lineHeight: 1.4, fontWeight: 'bold' }}&gt;&#10;                            原理：势均力敌时按权重民主&#10;                        &lt;/Text&gt;&#10;                    &lt;/Box&gt;&#10;                &lt;/Box&gt;&#10;&#10;                {/* 步骤 3 */}&#10;                &lt;Box style={{ flex: 1, flexDirection: 'column' }}&gt;&#10;                    &lt;Box style={{&#10;                        flex: 1,&#10;                        background: '#ECFEFF',&#10;                        borderRadius: 8,&#10;                        padding: 12,&#10;                        borderTop: '3px solid #06B6D4',&#10;                    }}&gt;&#10;                        &lt;Text style={{ fontSize: 13, color: '#06B6D4', fontWeight: 'bold', letterSpacing: 1.5 }}&gt;STEP 3&lt;/Text&gt;&#10;                        &lt;Text style={{ fontSize: 18, fontWeight: 'bold', color: '#1A1A1A', marginTop: 4 }}&gt;跨层不均&lt;/Text&gt;&#10;                        &lt;Text style={{ fontSize: 12, color: '#0E7490', fontWeight: 'bold', marginTop: 4 }}&gt;绝不混层&lt;/Text&gt;&#10;                        &lt;Text style={{ fontSize: 12, color: '#475569', marginTop: 6, lineHeight: 1.45 }}&gt;&#10;                            救命级和套利级的数字永远不参与平均——救命级一票否决，套利级仅作为&quot;愿意被采纳的方向&quot;&#10;                        &lt;/Text&gt;&#10;                        &lt;Text style={{ fontSize: 11, color: '#0E7490', marginTop: 5, lineHeight: 1.4, fontWeight: 'bold' }}&gt;&#10;                            原理：安全 vs 利益必须分别量&#10;                        &lt;/Text&gt;&#10;                    &lt;/Box&gt;&#10;                &lt;/Box&gt;&#10;&#10;                {/* 步骤 4 */}&#10;                &lt;Box style={{ flex: 1, flexDirection: 'column' }}&gt;&#10;                    &lt;Box style={{&#10;                        flex: 1,&#10;                        background: '#FEF3C7',&#10;                        borderRadius: 8,&#10;                        padding: 12,&#10;                        borderTop: '3px solid #F59E0B',&#10;                    }}&gt;&#10;                        &lt;Text style={{ fontSize: 13, color: '#F59E0B', fontWeight: 'bold', letterSpacing: 1.5 }}&gt;STEP 4&lt;/Text&gt;&#10;                        &lt;Text style={{ fontSize: 18, fontWeight: 'bold', color: '#1A1A1A', marginTop: 4 }}&gt;夹到区间&lt;/Text&gt;&#10;                        &lt;Text style={{ fontSize: 12, color: '#92400E', fontWeight: 'bold', marginTop: 4 }}&gt;保 护 边 界&lt;/Text&gt;&#10;                        &lt;Text style={{ fontSize: 12, color: '#475569', marginTop: 6, lineHeight: 1.45 }}&gt;&#10;                            平均结果一旦越过区间（上限/下限），硬夹到边界——哪怕&quot;经济上更划算&quot;也不行&#10;                        &lt;/Text&gt;&#10;                        &lt;Text style={{ fontSize: 11, color: '#92400E', marginTop: 5, lineHeight: 1.4, fontWeight: 'bold' }}&gt;&#10;                            原理：硬件不被经济贪心冲爆&#10;                        &lt;/Text&gt;&#10;                    &lt;/Box&gt;&#10;                &lt;/Box&gt;&#10;&#10;                {/* 步骤 5 */}&#10;                &lt;Box style={{ flex: 1, flexDirection: 'column' }}&gt;&#10;                    &lt;Box style={{&#10;                        flex: 1,&#10;                        background: '#EFF6FF',&#10;                        borderRadius: 8,&#10;                        padding: 12,&#10;                        borderTop: '3px solid #3B82F6',&#10;                    }}&gt;&#10;                        &lt;Text style={{ fontSize: 13, color: '#3B82F6', fontWeight: 'bold', letterSpacing: 1.5 }}&gt;STEP 5&lt;/Text&gt;&#10;                        &lt;Text style={{ fontSize: 18, fontWeight: 'bold', color: '#1A1A1A', marginTop: 4 }}&gt;死区去抖&lt;/Text&gt;&#10;                        &lt;Text style={{ fontSize: 12, color: '#1E40AF', fontWeight: 'bold', marginTop: 4 }}&gt;不乱发命令&lt;/Text&gt;&#10;                        &lt;Text style={{ fontSize: 12, color: '#475569', marginTop: 6, lineHeight: 1.45 }}&gt;&#10;                            |Δ| &amp;lt; 5kW 不下发；指令变化有 ±2kW 滞回窗口，避免 PCS 频繁启停&#10;                        &lt;/Text&gt;&#10;                        &lt;Text style={{ fontSize: 11, color: '#1E40AF', marginTop: 5, lineHeight: 1.4, fontWeight: 'bold' }}&gt;&#10;                            原理：少折腾硬件 = 少故障&#10;                        &lt;/Text&gt;&#10;                    &lt;/Box&gt;&#10;                &lt;/Box&gt;&#10;&#10;            &lt;/Box&gt;&#10;&#10;            {/* 底部 — 一个示例，避免假大空 */}&#10;            &lt;Box style={{&#10;                padding: '12px 18px',&#10;                background: '#F8FAFC',&#10;                borderRadius: 8,&#10;                border: '1px solid #E2E8F0',&#10;                flexDirection: 'row',&#10;            }}&gt;&#10;                &lt;Box style={{ width: 4, height: 32, background: '#3B82F6', marginRight: 14 }} /&gt;&#10;                &lt;Box style={{ flex: 1 }}&gt;&#10;                    &lt;Text style={{ fontSize: 12, color: '#1E40AF', fontWeight: 'bold' }}&gt;&#10;                        一个真实冲突的仲裁样本&#10;                    &lt;/Text&gt;&#10;                    &lt;Text style={{ fontSize: 12, color: '#475569', marginTop: 4, lineHeight: 1.5 }}&gt;&#10;                        时段 18:30（峰时）：策略 1=禁放、策略 2=正负 80、策略 3=正负 200、策略 7=必须放到 120。&#10;                        经逐层→策略 1 强制收紧到 0；同层局部经济平均 60；套利层加权给到 80；最终夹到 [0, 80] 内，与峰时目标一致，安全与套利兼顾&#10;                    &lt;/Text&gt;&#10;                &lt;/Box&gt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4 交付 = 5 步仲裁，把 9 个意见合成 1 个功率指令&#10;            &lt;/Text&gt;&#10;            &lt;Text style={{ fontSize: 14, color: '#94A3B8' }}&gt;07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矩形 3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571500" y="190500"/>
            <a:ext cx="486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200" b="1" spc="15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4 · ARBITRATION</a:t>
            </a:r>
            <a:endParaRPr lang="en-US" sz="1200" b="1" spc="15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571500" y="438150"/>
            <a:ext cx="48672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个意见必然冲突，仲裁定</a:t>
            </a: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听谁的</a:t>
            </a:r>
            <a:r>
              <a:rPr lang="en-US" sz="2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2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11087100" y="6477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P07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77"/>
          <p:cNvSpPr/>
          <p:nvPr/>
        </p:nvSpPr>
        <p:spPr>
          <a:xfrm>
            <a:off x="609600" y="83820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379" name="任意多边形 378"/>
          <p:cNvSpPr/>
          <p:nvPr/>
        </p:nvSpPr>
        <p:spPr>
          <a:xfrm>
            <a:off x="609600" y="838200"/>
            <a:ext cx="11049000" cy="419100"/>
          </a:xfrm>
          <a:custGeom>
            <a:avLst/>
            <a:gdLst/>
            <a:ahLst/>
            <a:cxnLst/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762000" y="971550"/>
            <a:ext cx="714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必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然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冲</a:t>
            </a: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突</a:t>
            </a:r>
            <a:endParaRPr lang="zh-CN" sz="975" b="1" spc="113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1609725" y="933450"/>
            <a:ext cx="98583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同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分钟内：策略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说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可放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200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度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、策略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说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必须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度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、策略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说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峰时一定要放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"——3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个直接打架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。不是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听错</a:t>
            </a:r>
            <a:r>
              <a:rPr lang="en-US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，是它们的诉求本就不一样</a:t>
            </a:r>
            <a:endParaRPr lang="zh-CN" sz="975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571500" y="1400175"/>
            <a:ext cx="2152650" cy="4105275"/>
          </a:xfrm>
          <a:prstGeom prst="roundRect">
            <a:avLst>
              <a:gd name="adj" fmla="val 3540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383" name="任意多边形 382"/>
          <p:cNvSpPr/>
          <p:nvPr/>
        </p:nvSpPr>
        <p:spPr>
          <a:xfrm>
            <a:off x="571500" y="1400175"/>
            <a:ext cx="2152650" cy="4105275"/>
          </a:xfrm>
          <a:custGeom>
            <a:avLst/>
            <a:gdLst/>
            <a:ahLst/>
            <a:cxnLst/>
            <a:pathLst>
              <a:path w="226" h="431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685800" y="1514475"/>
            <a:ext cx="1924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STEP 1</a:t>
            </a:r>
            <a:endParaRPr lang="en-US" sz="975" b="1" spc="113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685800" y="1704975"/>
            <a:ext cx="1924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逐层收紧</a:t>
            </a:r>
            <a:endParaRPr lang="zh-CN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685800" y="1952625"/>
            <a:ext cx="19240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优先级层胜出</a:t>
            </a:r>
            <a:endParaRPr lang="zh-CN" sz="12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685800" y="2152650"/>
            <a:ext cx="1924050" cy="600075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从最高优先级开始，所有启用策略的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上界取最小，下界取最大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，求出交集——没有交集就拒执行本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tic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635635" y="3248025"/>
            <a:ext cx="1924050" cy="4375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原理：交集保证</a:t>
            </a:r>
            <a:r>
              <a:rPr lang="en-US" sz="10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所有相关方都接受</a:t>
            </a:r>
            <a:r>
              <a:rPr lang="en-US" sz="10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2800350" y="1400175"/>
            <a:ext cx="2143125" cy="4105275"/>
          </a:xfrm>
          <a:prstGeom prst="roundRect">
            <a:avLst>
              <a:gd name="adj" fmla="val 3556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390" name="任意多边形 389"/>
          <p:cNvSpPr/>
          <p:nvPr/>
        </p:nvSpPr>
        <p:spPr>
          <a:xfrm>
            <a:off x="2800350" y="1400175"/>
            <a:ext cx="2143125" cy="4105275"/>
          </a:xfrm>
          <a:custGeom>
            <a:avLst/>
            <a:gdLst/>
            <a:ahLst/>
            <a:cxnLst/>
            <a:pathLst>
              <a:path w="225" h="431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2914650" y="1514475"/>
            <a:ext cx="1914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STEP 2</a:t>
            </a:r>
            <a:endParaRPr lang="en-US" sz="975" b="1" spc="113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2914650" y="1704975"/>
            <a:ext cx="1914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同层求中</a:t>
            </a:r>
            <a:endParaRPr lang="zh-CN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2914650" y="1952625"/>
            <a:ext cx="1914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</a:rPr>
              <a:t>加权平均</a:t>
            </a:r>
            <a:endParaRPr lang="zh-CN" sz="1200" b="1">
              <a:solidFill>
                <a:srgbClr val="9A34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2914650" y="2152650"/>
            <a:ext cx="1914525" cy="6000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同一优先级层里、把几条诉求的最佳点按权重平均。策略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 /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都喊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80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度，按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10:8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加权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= 79</a:t>
            </a:r>
            <a:endParaRPr lang="en-US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2914650" y="3248025"/>
            <a:ext cx="1914525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3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</a:rPr>
              <a:t>原理：势均力敌时按权重民主</a:t>
            </a:r>
            <a:endParaRPr lang="zh-CN" sz="1030" b="1">
              <a:solidFill>
                <a:srgbClr val="9A34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圆角矩形 395"/>
          <p:cNvSpPr/>
          <p:nvPr/>
        </p:nvSpPr>
        <p:spPr>
          <a:xfrm>
            <a:off x="5019675" y="1400175"/>
            <a:ext cx="2152650" cy="4105275"/>
          </a:xfrm>
          <a:prstGeom prst="roundRect">
            <a:avLst>
              <a:gd name="adj" fmla="val 3540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397" name="任意多边形 396"/>
          <p:cNvSpPr/>
          <p:nvPr/>
        </p:nvSpPr>
        <p:spPr>
          <a:xfrm>
            <a:off x="5019675" y="1400175"/>
            <a:ext cx="2152650" cy="4105275"/>
          </a:xfrm>
          <a:custGeom>
            <a:avLst/>
            <a:gdLst/>
            <a:ahLst/>
            <a:cxnLst/>
            <a:pathLst>
              <a:path w="226" h="431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5133975" y="1514475"/>
            <a:ext cx="1924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STEP 3</a:t>
            </a:r>
            <a:endParaRPr lang="en-US" sz="975" b="1" spc="113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5133975" y="1704975"/>
            <a:ext cx="1924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跨层不均</a:t>
            </a:r>
            <a:endParaRPr lang="zh-CN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5133975" y="1952625"/>
            <a:ext cx="19240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绝不混层</a:t>
            </a:r>
            <a:endParaRPr lang="zh-CN" sz="1200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5133975" y="2152650"/>
            <a:ext cx="1924050" cy="6000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救命级和套利级的数字永远不参与平均——救命级一票否决，套利级仅作为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愿意被采纳的方向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5133975" y="3248025"/>
            <a:ext cx="19240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3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原理：安全</a:t>
            </a:r>
            <a:r>
              <a:rPr lang="en-US" sz="103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3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利益必须分别量</a:t>
            </a:r>
            <a:endParaRPr lang="zh-CN" sz="1030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402"/>
          <p:cNvSpPr/>
          <p:nvPr/>
        </p:nvSpPr>
        <p:spPr>
          <a:xfrm>
            <a:off x="7248525" y="1400175"/>
            <a:ext cx="2143125" cy="4105275"/>
          </a:xfrm>
          <a:prstGeom prst="roundRect">
            <a:avLst>
              <a:gd name="adj" fmla="val 3556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404" name="任意多边形 403"/>
          <p:cNvSpPr/>
          <p:nvPr/>
        </p:nvSpPr>
        <p:spPr>
          <a:xfrm>
            <a:off x="7248525" y="1400175"/>
            <a:ext cx="2143125" cy="4105275"/>
          </a:xfrm>
          <a:custGeom>
            <a:avLst/>
            <a:gdLst/>
            <a:ahLst/>
            <a:cxnLst/>
            <a:pathLst>
              <a:path w="225" h="431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7362825" y="1514475"/>
            <a:ext cx="1914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STEP 4</a:t>
            </a:r>
            <a:endParaRPr lang="en-US" sz="975" b="1" spc="113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7362825" y="1704975"/>
            <a:ext cx="1914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夹到区间</a:t>
            </a:r>
            <a:endParaRPr lang="zh-CN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7362825" y="1952625"/>
            <a:ext cx="1914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保</a:t>
            </a:r>
            <a:r>
              <a:rPr lang="en-US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护</a:t>
            </a:r>
            <a:r>
              <a:rPr lang="en-US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边</a:t>
            </a:r>
            <a:r>
              <a:rPr lang="en-US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界</a:t>
            </a:r>
            <a:endParaRPr lang="zh-CN" sz="120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7362825" y="2152650"/>
            <a:ext cx="1914525" cy="6000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平均结果一旦越过区间（上限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下限），硬夹到边界——哪怕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经济上更划算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也不行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7362825" y="3248025"/>
            <a:ext cx="1914525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3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原理：硬件不被经济贪心冲爆</a:t>
            </a:r>
            <a:endParaRPr lang="zh-CN" sz="103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9467850" y="1400175"/>
            <a:ext cx="2152650" cy="4105275"/>
          </a:xfrm>
          <a:prstGeom prst="roundRect">
            <a:avLst>
              <a:gd name="adj" fmla="val 3540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411" name="任意多边形 410"/>
          <p:cNvSpPr/>
          <p:nvPr/>
        </p:nvSpPr>
        <p:spPr>
          <a:xfrm>
            <a:off x="9467850" y="1400175"/>
            <a:ext cx="2152650" cy="4105275"/>
          </a:xfrm>
          <a:custGeom>
            <a:avLst/>
            <a:gdLst/>
            <a:ahLst/>
            <a:cxnLst/>
            <a:pathLst>
              <a:path w="226" h="431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9582150" y="1514475"/>
            <a:ext cx="1924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STEP 5</a:t>
            </a:r>
            <a:endParaRPr lang="en-US" sz="975" b="1" spc="113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9582150" y="1704975"/>
            <a:ext cx="1924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死区去抖</a:t>
            </a:r>
            <a:endParaRPr lang="zh-CN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9582150" y="1952625"/>
            <a:ext cx="19240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不乱发命令</a:t>
            </a:r>
            <a:endParaRPr lang="zh-CN" sz="12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9582150" y="2152650"/>
            <a:ext cx="1924050" cy="4000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|Δ| &lt; 5kW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不下发；指令变化有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±2kW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滞回窗口，避免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PCS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频繁启停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9525000" y="3248025"/>
            <a:ext cx="19240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3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原理：少折腾硬件</a:t>
            </a:r>
            <a:r>
              <a:rPr lang="en-US" sz="103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3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少故障</a:t>
            </a:r>
            <a:endParaRPr lang="zh-CN" sz="103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571500" y="6505575"/>
            <a:ext cx="3305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5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步仲裁，把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个意见合成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个功率指令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07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6px 60px 0', height: 60 }}&gt;&#10;            &lt;Box style={{ flexDirection: 'row', alignItems: 'flex-end', justifyContent: 'space-between' }}&gt;&#10;                &lt;Box&gt;&#10;                    &lt;Text style={{ fontSize: 14, color: '#3B82F6', fontWeight: 'bold', letterSpacing: 2 }}&gt;&#10;                        后续路线 · WHAT REMAINS&#10;                    &lt;/Text&gt;&#10;                    &lt;Text style={{ fontSize: 28, fontWeight: 'bold', color: '#1A1A1A', marginTop: 4 }}&gt;&#10;                        算法层已经攒好——剩下 4 件事把系统从&quot;算&quot;走向&quot;跑&quot;&#10;                    &lt;/Text&gt;&#10;                &lt;/Box&gt;&#10;                &lt;Text style={{ fontSize: 14, color: '#94A3B8' }}&gt;P10 / 11&lt;/Text&gt;&#10;            &lt;/Box&gt;&#10;        &lt;/Box&gt;&#10;&#10;        {/* B 区 */}&#10;        &lt;Box style={{&#10;            flex: 1,&#10;            padding: '12px 60px 0',&#10;            flexDirection: 'row',&#10;            gap: 16,&#10;        }}&gt;&#10;&#10;            {/* 左：已完成 4 件在全图上的位置 */}&#10;            &lt;Box style={{ flex: 9 }}&gt;&#10;                &lt;Text style={{ fontSize: 13, color: '#64748B', fontWeight: 'bold', letterSpacing: 1.5, marginBottom: 8 }}&gt;&#10;                    把当前 4 件放在系统全图上&#10;                &lt;/Text&gt;&#10;                &lt;Box style={{&#10;                    background: '#F8FAFC',&#10;                    borderRadius: 10,&#10;                    border: '1px solid #E2E8F0',&#10;                    padding: 16,&#10;                    height: 460,&#10;                }}&gt;&#10;                    &lt;svg width='100%' height='100%' viewBox='0 0 850 430'&gt;&#10;                        {/* 感知层 */}&#10;                        &lt;rect x='10' y='20' width='830' height='46' rx='6' fill='#F1F5F9' stroke='#94A3B8' /&gt;&#10;                        &lt;text x='30' y='50' fill='#475569' fontSize='13' fontFamily='Source Han Sans SC' fontWeight='bold'&gt;L1 · 感知&lt;/text&gt;&#10;                        &lt;text x='130' y='50' fill='#1A1A1A' fontSize='12' fontFamily='Source Han Sans SC'&gt;已有采集数据&lt;/text&gt;&#10;                        &lt;text x='820' y='50' textAnchor='end' fill='#64748B' fontSize='11' fontFamily='Source Han Sans SC'&gt;历史数据，足够用&lt;/text&gt;&#10;&#10;                        {/* 算法层（已交付 — 重点高亮）*/}&#10;                        &lt;rect x='10' y='85' width='830' height='100' rx='8' fill='#EFF6FF' stroke='#3B82F6' strokeWidth='3' /&gt;&#10;                        &lt;rect x='10' y='85' width='6' height='100' fill='#3B82F6' /&gt;&#10;                        &lt;text x='40' y='110' fill='#1E40AF' fontSize='14' fontFamily='Source Han Sans SC' fontWeight='bold'&gt;L2 · 算法&lt;/text&gt;&#10;                        &lt;text x='40' y='130' fill='#1A1A1A' fontSize='12' fontFamily='Source Han Sans SC'&gt;前 4 周交付：9 策略 / 区间语言 / 调度容器 / 仲裁&lt;/text&gt;&#10;                        &lt;text x='820' y='110' textAnchor='end' fill='#3B82F6' fontSize='11' fontFamily='Source Han Sans SC' fontWeight='bold'&gt;已交付&lt;/text&gt;&#10;                        &lt;text x='820' y='130' textAnchor='end' fill='#1E40AF' fontSize='10' fontFamily='Source Han Sans SC'&gt;21 个场景验证通过&lt;/text&gt;&#10;&#10;                        {/* 4 子盒 */}&#10;                        &lt;rect x='40' y='140' width='180' height='35' rx='4' fill='#FFFFFF' stroke='#3B82F6' /&gt;&#10;                        &lt;text x='130' y='162' textAnchor='middle' fill='#1E40AF' fontSize='11' fontFamily='Source Han Sans SC' fontWeight='bold'&gt;9 业务意志&lt;/text&gt;&#10;                        &lt;rect x='230' y='140' width='180' height='35' rx='4' fill='#FFFFFF' stroke='#06B6D4' /&gt;&#10;                        &lt;text x='320' y='162' textAnchor='middle' fill='#0E7490' fontSize='11' fontFamily='Source Han Sans SC' fontWeight='bold'&gt;区间语言&lt;/text&gt;&#10;                        &lt;rect x='420' y='140' width='180' height='35' rx='4' fill='#FFFFFF' stroke='#22C55E' /&gt;&#10;                        &lt;text x='510' y='162' textAnchor='middle' fill='#166534' fontSize='11' fontFamily='Source Han Sans SC' fontWeight='bold'&gt;调度容器&lt;/text&gt;&#10;                        &lt;rect x='610' y='140' width='220' height='35' rx='4' fill='#FFFFFF' stroke='#EF4444' /&gt;&#10;                        &lt;text x='720' y='162' textAnchor='middle' fill='#B91C1C' fontSize='11' fontFamily='Source Han Sans SC' fontWeight='bold'&gt;5 步仲裁&lt;/text&gt;&#10;&#10;                        {/* 执行层（部分有）*/}&#10;                        &lt;rect x='10' y='205' width='830' height='50' rx='6' fill='#F1F5F9' stroke='#94A3B8' /&gt;&#10;                        &lt;text x='30' y='234' fill='#475569' fontSize='13' fontFamily='Source Han Sans SC' fontWeight='bold'&gt;L3 · 执行&lt;/text&gt;&#10;                        &lt;text x='130' y='234' fill='#1A1A1A' fontSize='12' fontFamily='Source Han Sans SC'&gt;4 个实时控制器 — 已有原型&lt;/text&gt;&#10;                        &lt;text x='820' y='234' textAnchor='end' fill='#64748B' fontSize='11' fontFamily='Source Han Sans SC'&gt;有自测数据，等接算法&lt;/text&gt;&#10;&#10;                        {/* 运行层 — 缺口 */}&#10;                        &lt;rect x='10' y='275' width='830' height='50' rx='6' fill='#FEF3C7' stroke='#F59E0B' strokeWidth='2' /&gt;&#10;                        &lt;text x='30' y='304' fill='#92400E' fontSize='13' fontFamily='Source Han Sans SC' fontWeight='bold'&gt;L4 · 运行&lt;/text&gt;&#10;                        &lt;text x='130' y='304' fill='#1A1A1A' fontSize='12' fontFamily='Source Han Sans SC'&gt;状态机 / 启停 / 告警 — 还要做&lt;/text&gt;&#10;                        &lt;text x='820' y='304' textAnchor='end' fill='#F59E0B' fontSize='11' fontFamily='Source Han Sans SC' fontWeight='bold'&gt;待 启动&lt;/text&gt;&#10;&#10;                        {/* 端到端 */}&#10;                        &lt;rect x='10' y='345' width='830' height='50' rx='6' fill='#FEF2F2' stroke='#EF4444' strokeWidth='2' /&gt;&#10;                        &lt;text x='30' y='374' fill='#B91C1C' fontSize='13' fontFamily='Source Han Sans SC' fontWeight='bold'&gt;端到端联调 + 验收&lt;/text&gt;&#10;                        &lt;text x='820' y='374' textAnchor='end' fill='#EF4444' fontSize='11' fontFamily='Source Han Sans SC' fontWeight='bold'&gt;最终验收&lt;/text&gt;&#10;                    &lt;/svg&gt;&#10;                &lt;/Box&gt;&#10;            &lt;/Box&gt;&#10;&#10;            {/* 右：剩余 4 件事清单 */}&#10;            &lt;Box style={{ flex: 7, flexDirection: 'column' }}&gt;&#10;                &lt;Text style={{ fontSize: 13, color: '#64748B', fontWeight: 'bold', letterSpacing: 1.5, marginBottom: 8 }}&gt;&#10;                    剩 4 件——按业务因果排，不是按周排&#10;                &lt;/Text&gt;&#10;&#10;                {[&#10;                    {&#10;                        tag: 'P6', color: '#F59E0B',&#10;                        name: '建状态机',&#10;                        why: '&quot;什么时候算法层可以下手&quot;',&#10;                        detail: '把 INIT/就绪/正常/降级/故障/紧急 6 种状态写出来——告诉上层&quot;现在能不能用仲裁出来的结果&quot;',&#10;                    },&#10;                    {&#10;                        tag: 'P8', color: '#06B6D4',&#10;                        name: '接 MILP 优化器',&#10;                        why: '&quot;把 01 的全局最优计划喂给算法层&quot;',&#10;                        detail: 'S08 动态优化现在用经验区间；下一步接 01 的精确数学规划结果，区间会更紧、更准',&#10;                    },&#10;                    {&#10;                        tag: 'P11', color: '#EF4444',&#10;                        name: '端到端联调',&#10;                        why: '&quot;从仿真到现场的真实链路&quot;',&#10;                        detail: '把 04 输出的 P_bat 真正下发到 4 个控制器，跑通一个完整工作日——把仿真结果变成真实节能',&#10;                    },&#10;                    {&#10;                        tag: 'P12', color: '#1A1A1A',&#10;                        name: '系统验收',&#10;                        why: '&quot;能不能上业主&quot;',&#10;                        detail: '4 层闭环在真实数据下的完整验收——通过即上线，否则回到 P6 修状态机',&#10;                    },&#10;                ].map((row, idx) =&gt; (&#10;                    &lt;Box key={idx} style={{&#10;                        flex: 1,&#10;                        padding: '10px 14px',&#10;                        background: '#FFFFFF',&#10;                        borderRadius: 8,&#10;                        borderLeft: '4px solid ' + row.color,&#10;                        marginBottom: 6,&#10;                        flexDirection: 'row',&#10;                        alignItems: 'center',&#10;                    }}&gt;&#10;                        &lt;Box style={{&#10;                            width: 36, padding: '4px 0',&#10;                            background: row.color, borderRadius: 4,&#10;                            alignItems: 'center',&#10;                            marginRight: 12,&#10;                        }}&gt;&#10;                            &lt;Text style={{&#10;                                color: '#FFFFFF', fontSize: 11,&#10;                                fontWeight: 'bold', textAlign: 'center',&#10;                            }}&gt;{row.tag}&lt;/Text&gt;&#10;                        &lt;/Box&gt;&#10;                        &lt;Box style={{ flex: 1 }}&gt;&#10;                            &lt;Box style={{ flexDirection: 'row', alignItems: 'baseline' }}&gt;&#10;                                &lt;Text style={{ fontSize: 14, fontWeight: 'bold', color: '#1A1A1A' }}&gt;&#10;                                    {row.name}&#10;                                &lt;/Text&gt;&#10;                                &lt;Text style={{ fontSize: 11, color: row.color, marginLeft: 8 }}&gt;&#10;                                    {row.why}&#10;                                &lt;/Text&gt;&#10;                            &lt;/Box&gt;&#10;                            &lt;Text style={{ fontSize: 11, color: '#475569', marginTop: 3, lineHeight: 1.4 }}&gt;&#10;                                {row.detail}&#10;                            &lt;/Text&gt;&#10;                        &lt;/Box&gt;&#10;                    &lt;/Box&gt;&#10;                ))}&#10;            &lt;/Box&gt;&#10;&#10;        &lt;/Box&gt;&#10;&#10;        {/* C 区 */}&#10;        &lt;Box style={{&#10;            padding: '0 60px 10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路线 = 让算法从&quot;会算&quot;走到&quot;会被系统生命周期正确调度&quot;&#10;            &lt;/Text&gt;&#10;            &lt;Text style={{ fontSize: 12, color: '#94A3B8' }}&gt;10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97485" y="233045"/>
            <a:ext cx="6524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后续路线</a:t>
            </a:r>
            <a:r>
              <a:rPr lang="en-US" b="1" spc="1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 · WHAT REMAINS</a:t>
            </a:r>
            <a:endParaRPr lang="en-US" b="1" spc="1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1087100" y="5143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P10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97485" y="1210310"/>
            <a:ext cx="5477510" cy="408559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485" y="1424940"/>
            <a:ext cx="5520690" cy="3861435"/>
          </a:xfrm>
          <a:prstGeom prst="rect">
            <a:avLst/>
          </a:prstGeom>
        </p:spPr>
      </p:pic>
      <p:sp>
        <p:nvSpPr>
          <p:cNvPr id="33" name="圆角矩形 32"/>
          <p:cNvSpPr/>
          <p:nvPr/>
        </p:nvSpPr>
        <p:spPr>
          <a:xfrm>
            <a:off x="6896100" y="2371725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" name="任意多边形 33"/>
          <p:cNvSpPr/>
          <p:nvPr/>
        </p:nvSpPr>
        <p:spPr>
          <a:xfrm>
            <a:off x="6896100" y="2371725"/>
            <a:ext cx="4762500" cy="1219200"/>
          </a:xfrm>
          <a:custGeom>
            <a:avLst/>
            <a:gdLst/>
            <a:ahLst/>
            <a:cxnLst/>
            <a:pathLst>
              <a:path w="500" h="12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4"/>
                </a:lnTo>
                <a:cubicBezTo>
                  <a:pt x="4" y="126"/>
                  <a:pt x="5" y="128"/>
                  <a:pt x="7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35" name="圆角矩形 34"/>
          <p:cNvSpPr/>
          <p:nvPr/>
        </p:nvSpPr>
        <p:spPr>
          <a:xfrm>
            <a:off x="7029450" y="2876550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134225" y="291465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P8</a:t>
            </a:r>
            <a:endParaRPr lang="en-US"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486650" y="2800350"/>
            <a:ext cx="962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接</a:t>
            </a:r>
            <a:r>
              <a:rPr lang="en-US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 MILP </a:t>
            </a: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优化器</a:t>
            </a:r>
            <a:endParaRPr lang="zh-CN" sz="10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524875" y="2800350"/>
            <a:ext cx="1638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82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82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 01 </a:t>
            </a:r>
            <a:r>
              <a:rPr lang="zh-CN" sz="82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的全局最优计划喂给算法层</a:t>
            </a:r>
            <a:r>
              <a:rPr lang="en-US" sz="825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825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7486650" y="2990850"/>
            <a:ext cx="400050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S08 </a:t>
            </a: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动态优化现在用经验区间；下一步接</a:t>
            </a:r>
            <a:r>
              <a:rPr lang="en-US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01 </a:t>
            </a: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的精确数学规划结果，区间会更紧、更准</a:t>
            </a:r>
            <a:endParaRPr lang="zh-CN" sz="8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896100" y="3648075"/>
            <a:ext cx="47625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任意多边形 40"/>
          <p:cNvSpPr/>
          <p:nvPr/>
        </p:nvSpPr>
        <p:spPr>
          <a:xfrm>
            <a:off x="6896100" y="3648075"/>
            <a:ext cx="4762500" cy="1400175"/>
          </a:xfrm>
          <a:custGeom>
            <a:avLst/>
            <a:gdLst/>
            <a:ahLst/>
            <a:cxnLst/>
            <a:pathLst>
              <a:path w="500" h="14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3"/>
                </a:lnTo>
                <a:cubicBezTo>
                  <a:pt x="4" y="145"/>
                  <a:pt x="5" y="147"/>
                  <a:pt x="7" y="147"/>
                </a:cubicBezTo>
                <a:cubicBezTo>
                  <a:pt x="3" y="147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42" name="圆角矩形 41"/>
          <p:cNvSpPr/>
          <p:nvPr/>
        </p:nvSpPr>
        <p:spPr>
          <a:xfrm>
            <a:off x="7029450" y="4248150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7105650" y="4286250"/>
            <a:ext cx="200025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P11</a:t>
            </a:r>
            <a:endParaRPr lang="en-US"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486650" y="40767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端到端联调</a:t>
            </a:r>
            <a:endParaRPr lang="zh-CN" sz="10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8229600" y="4076700"/>
            <a:ext cx="124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82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从仿真到现场的真实链路</a:t>
            </a:r>
            <a:r>
              <a:rPr lang="en-US" sz="825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825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7486650" y="4267200"/>
            <a:ext cx="4000500" cy="352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04 </a:t>
            </a: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输出的</a:t>
            </a:r>
            <a:r>
              <a:rPr lang="en-US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P_bat </a:t>
            </a: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真正下发到</a:t>
            </a:r>
            <a:r>
              <a:rPr lang="en-US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8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个控制器，跑通一个完整工作日——把仿真结果变成真实节能</a:t>
            </a:r>
            <a:endParaRPr lang="zh-CN" sz="8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0" y="6381750"/>
            <a:ext cx="12192000" cy="476250"/>
          </a:xfrm>
          <a:custGeom>
            <a:avLst/>
            <a:gdLst/>
            <a:ahLst/>
            <a:cxnLst/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71500" y="6505575"/>
            <a:ext cx="2867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路线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让算法从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走到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会被系统生命周期正确调度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12299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lang="en-US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3"/>
          <a:srcRect l="159" t="5777" r="13645" b="485"/>
          <a:stretch>
            <a:fillRect/>
          </a:stretch>
        </p:blipFill>
        <p:spPr>
          <a:xfrm>
            <a:off x="5718175" y="1448435"/>
            <a:ext cx="6385560" cy="45624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3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4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5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6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7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8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9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0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1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2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3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4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5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6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7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8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19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0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1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2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3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4.xml><?xml version="1.0" encoding="utf-8"?>
<p:tagLst xmlns:p="http://schemas.openxmlformats.org/presentationml/2006/main">
  <p:tag name="KSO_WM_DIAGRAM_VIRTUALLY_FRAME" val="{&quot;height&quot;:306,&quot;left&quot;:45,&quot;top&quot;:184.5,&quot;width&quot;:870}"/>
</p:tagLst>
</file>

<file path=ppt/tags/tag25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26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27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28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29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0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1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2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3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4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5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6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7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8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39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0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1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2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3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4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5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6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7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8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ags/tag49.xml><?xml version="1.0" encoding="utf-8"?>
<p:tagLst xmlns:p="http://schemas.openxmlformats.org/presentationml/2006/main">
  <p:tag name="KSO_WM_DIAGRAM_VIRTUALLY_FRAME" val="{&quot;height&quot;:265.5,&quot;left&quot;:45,&quot;top&quot;:132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4063</Words>
  <Application>WPS 演示</Application>
  <PresentationFormat/>
  <Paragraphs>468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JetBrains Mono</vt:lpstr>
      <vt:lpstr>Calibri</vt:lpstr>
      <vt:lpstr>Arial Unicode MS</vt:lpstr>
      <vt:lpstr>JetBrains Mono</vt:lpstr>
      <vt:lpstr>MS PGothic</vt:lpstr>
      <vt:lpstr>Jetter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度°</cp:lastModifiedBy>
  <cp:revision>2</cp:revision>
  <dcterms:created xsi:type="dcterms:W3CDTF">2026-09-07T15:59:15Z</dcterms:created>
  <dcterms:modified xsi:type="dcterms:W3CDTF">2026-09-08T05:20:44Z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EFADE71B387C4281B3AD9ABCE79B4E6D_12</vt:lpwstr>
  </property>
</Properties>
</file>