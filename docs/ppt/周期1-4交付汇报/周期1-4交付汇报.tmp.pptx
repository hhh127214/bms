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viewProps" Target="viewProps.xml" /><Relationship Id="rId12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13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0}&gt;&#10;&#10;    {/* 主体白底 */}&#10;    &lt;Box style={{&#10;        width: '100%',&#10;        height: '100%',&#10;        background: '#FFFFFF',&#10;        position: 'relative',&#10;        flexDirection: 'column',&#10;        padding: 0,&#10;    }}&gt;&#10;&#10;        {/* 蓝色梯形主视觉，左下大色块 */}&#10;        &lt;Box style={{&#10;            position: 'absolute',&#10;            bottom: 0,&#10;            left: 0,&#10;            width: 720,&#10;            height: 480,&#10;            background: 'linear-gradient(135deg, #3B82F6 0%, #06B6D4 100%)',&#10;            opacity: 0.95,&#10;            clipPath: 'polygon(0 35%, 100% 0, 100% 100%, 0 100%)',&#10;        }} /&gt;&#10;&#10;        {/* 右下：阶段标签 v1.0 */}&#10;        &lt;Box style={{&#10;            position: 'absolute',&#10;            top: 36,&#10;            right: 48,&#10;            padding: '10px 24px',&#10;            borderRadius: 24,&#10;            border: '1.5px solid #3B82F6',&#10;            background: 'rgba(59,130,246,0.06)',&#10;        }}&gt;&#10;            &lt;Text style={{&#10;                fontSize: 16,&#10;                color: '#3B82F6',&#10;                fontWeight: 'bold',&#10;                letterSpacing: 1.5,&#10;            }}&gt;&#10;                阶段 1/3 · 算法协商底座&#10;            &lt;/Text&gt;&#10;        &lt;/Box&gt;&#10;&#10;        {/* 主标题 */}&#10;        &lt;Box style={{&#10;            position: 'absolute',&#10;            top: 120,&#10;            left: 60,&#10;            width: 680,&#10;        }}&gt;&#10;            &lt;Text style={{&#10;                fontSize: 60,&#10;                fontWeight: 'bold',&#10;                color: '#1A1A1A',&#10;                lineHeight: 1.1,&#10;                letterSpacing: -1,&#10;            }}&gt;&#10;                工商业储能 EMS&#10;            &lt;/Text&gt;&#10;&#10;            &lt;Text style={{&#10;                fontSize: 60,&#10;                fontWeight: 'bold',&#10;                color: '#3B82F6',&#10;                lineHeight: 1.1,&#10;                letterSpacing: -1,&#10;                marginTop: 4,&#10;            }}&gt;&#10;                决策闭环 · 第一阶段&#10;            &lt;/Text&gt;&#10;&#10;            &lt;Box style={{ marginTop: 24, width: 80, height: 4, background: '#3B82F6' }} /&gt;&#10;&#10;            &lt;Text style={{&#10;                fontSize: 22,&#10;                color: '#1A1A1A',&#10;                lineHeight: 1.5,&#10;                marginTop: 28,&#10;                maxWidth: 620,&#10;            }}&gt;&#10;                让 9 个业务意志用同一种语言说话、并在同一张调度台前面排队表决&#10;                &lt;br /&gt;&#10;                &lt;Text style={{ color: '#3B82F6', fontWeight: 'bold' }}&gt;前 4 周交付的不是代码，是这套协商底座&lt;/Text&gt;&#10;            &lt;/Text&gt;&#10;        &lt;/Box&gt;&#10;&#10;        {/* 左下大数字三联 */}&#10;        &lt;Box style={{&#10;            position: 'absolute',&#10;            bottom: 56,&#10;            left: 60,&#10;            flexDirection: 'row',&#10;            gap: 36,&#10;        }}&gt;&#10;            &lt;Box&gt;&#10;                &lt;Text style={{ fontSize: 64, fontWeight: 'bold', color: '#FFFFFF', fontFamily: 'JetBrains Mono, monospace', lineHeight: 1 }}&gt;&#10;                    9&#10;                &lt;/Text&gt;&#10;                &lt;Text style={{ fontSize: 16, color: '#E0F2FE', marginTop: 8, letterSpacing: 1 }}&gt;&#10;                    个业务意志需要协商&#10;                &lt;/Text&gt;&#10;            &lt;/Box&gt;&#10;            &lt;Box&gt;&#10;                &lt;Text style={{ fontSize: 64, fontWeight: 'bold', color: '#FFFFFF', fontFamily: 'JetBrains Mono, monospace', lineHeight: 1 }}&gt;&#10;                    4&#10;                &lt;/Text&gt;&#10;                &lt;Text style={{ fontSize: 16, color: '#E0F2FE', marginTop: 8, letterSpacing: 1 }}&gt;&#10;                    周 · 4 个底层建设&#10;                &lt;/Text&gt;&#10;            &lt;/Box&gt;&#10;            &lt;Box&gt;&#10;                &lt;Text style={{ fontSize: 64, fontWeight: 'bold', color: '#FFFFFF', fontFamily: 'JetBrains Mono, monospace', lineHeight: 1 }}&gt;&#10;                    17&#10;                &lt;/Text&gt;&#10;                &lt;Text style={{ fontSize: 16, color: '#E0F2FE', marginTop: 8, letterSpacing: 1 }}&gt;&#10;                    种业务冲突被验证&#10;                &lt;/Text&gt;&#10;            &lt;/Box&gt;&#10;        &lt;/Box&gt;&#10;&#10;        {/* 页脚 */}&#10;        &lt;Box style={{&#10;            position: 'absolute',&#10;            bottom: 24,&#10;            right: 48,&#10;        }}&gt;&#10;            &lt;Text style={{ fontSize: 14, color: '#64748B' }}&gt;&#10;                WorkBuddy · 工程评审 · 2026-09-06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2286000"/>
            <a:ext cx="6858000" cy="4572000"/>
          </a:xfrm>
          <a:custGeom>
            <a:pathLst>
              <a:path w="720" h="480">
                <a:moveTo>
                  <a:pt x="0" y="168"/>
                </a:moveTo>
                <a:lnTo>
                  <a:pt x="720" y="0"/>
                </a:lnTo>
                <a:lnTo>
                  <a:pt x="720" y="480"/>
                </a:lnTo>
                <a:lnTo>
                  <a:pt x="0" y="480"/>
                </a:lnTo>
                <a:close/>
              </a:path>
            </a:pathLst>
          </a:cu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372600" y="342900"/>
            <a:ext cx="2362200" cy="381000"/>
          </a:xfrm>
          <a:prstGeom prst="roundRect">
            <a:avLst>
              <a:gd name="adj" fmla="val 60000"/>
            </a:avLst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601200" y="438150"/>
            <a:ext cx="1905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阶段</a:t>
            </a:r>
            <a:r>
              <a:rPr lang="en-US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 1/3 · </a:t>
            </a:r>
            <a:r>
              <a:rPr lang="zh-CN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算法协商底座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6477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1A1A1A"/>
                </a:solidFill>
                <a:latin typeface="Microsoft YaHei"/>
                <a:ea typeface="Microsoft YaHei"/>
              </a:rPr>
              <a:t>工商业储能</a:t>
            </a:r>
            <a:r>
              <a:rPr lang="en-US" sz="4500" b="1" spc="-75">
                <a:solidFill>
                  <a:srgbClr val="1A1A1A"/>
                </a:solidFill>
                <a:latin typeface="Microsoft YaHei"/>
                <a:ea typeface="Microsoft YaHei"/>
              </a:rPr>
              <a:t> EMS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1943100"/>
            <a:ext cx="6477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决策闭环</a:t>
            </a:r>
            <a:r>
              <a:rPr lang="en-US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 · </a:t>
            </a:r>
            <a:r>
              <a:rPr lang="zh-CN" sz="4500" b="1" spc="-75">
                <a:solidFill>
                  <a:srgbClr val="3B82F6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71500" y="2933700"/>
            <a:ext cx="762000" cy="381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71500" y="3238500"/>
            <a:ext cx="63246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1650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个业务意志用同一种语言说话、并在同一张调度台前面排队表决</a:t>
            </a:r>
            <a:endParaRPr/>
          </a:p>
          <a:p>
            <a:pPr>
              <a:lnSpc>
                <a:spcPct val="150000"/>
              </a:lnSpc>
            </a:pP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前</a:t>
            </a:r>
            <a:r>
              <a:rPr lang="en-US" sz="1650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650">
                <a:solidFill>
                  <a:srgbClr val="1A1A1A"/>
                </a:solidFill>
                <a:latin typeface="Microsoft YaHei"/>
                <a:ea typeface="Microsoft YaHei"/>
              </a:rPr>
              <a:t>周交付的不是代码，是这套协商底座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5324475"/>
            <a:ext cx="1457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6134100"/>
            <a:ext cx="1457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Microsoft YaHei"/>
                <a:ea typeface="Microsoft YaHei"/>
              </a:rPr>
              <a:t>个业务意志需要协商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371725" y="5324475"/>
            <a:ext cx="12858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371725" y="6134100"/>
            <a:ext cx="128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Microsoft YaHei"/>
                <a:ea typeface="Microsoft YaHei"/>
              </a:rPr>
              <a:t>周</a:t>
            </a:r>
            <a:r>
              <a:rPr lang="en-US" sz="1200" spc="75">
                <a:solidFill>
                  <a:srgbClr val="E0F2FE"/>
                </a:solidFill>
                <a:latin typeface="Microsoft YaHei"/>
                <a:ea typeface="Microsoft YaHei"/>
              </a:rPr>
              <a:t> · 4 </a:t>
            </a:r>
            <a:r>
              <a:rPr lang="zh-CN" sz="1200" spc="75">
                <a:solidFill>
                  <a:srgbClr val="E0F2FE"/>
                </a:solidFill>
                <a:latin typeface="Microsoft YaHei"/>
                <a:ea typeface="Microsoft YaHei"/>
              </a:rPr>
              <a:t>个底层建设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00500" y="5324475"/>
            <a:ext cx="12954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JetBrains Mono"/>
                <a:ea typeface="JetBrains Mono"/>
              </a:rPr>
              <a:t>17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000500" y="613410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0F2FE"/>
                </a:solidFill>
                <a:latin typeface="Microsoft YaHei"/>
                <a:ea typeface="Microsoft YaHei"/>
              </a:rPr>
              <a:t>种业务冲突被验证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486900" y="64674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WorkBuddy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工程评审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2026-09-06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padding={0}&gt;&#10;&#10;    &lt;Box style={{&#10;        width: '100%',&#10;        height: '100%',&#10;        background: '#FFFFFF',&#10;        flexDirection: 'column',&#10;        padding: 0,&#10;        position: 'relative',&#10;    }}&gt;&#10;&#10;        {/* A 区：标题 */}&#10;        &lt;Box style={{ padding: '36px 60px 0', flexDirection: 'row', alignItems: 'flex-end' }}&gt;&#10;            &lt;Box style={{ flex: 1 }}&gt;&#10;                &lt;Text style={{ fontSize: 16, color: '#3B82F6', fontWeight: 'bold', letterSpacing: 2 }}&gt;&#10;                    系统全貌 · WHERE WE STAND&#10;                &lt;/Text&gt;&#10;                &lt;Text style={{ fontSize: 36, fontWeight: 'bold', color: '#1A1A1A', marginTop: 6 }}&gt;&#10;                    EMS 是一个实时调度系统——4 层闭环&#10;                &lt;/Text&gt;&#10;            &lt;/Box&gt;&#10;            &lt;Box&gt;&#10;                &lt;Text style={{ fontSize: 14, color: '#64748B' }}&gt;&#10;                    P02 / 11&#10;                &lt;/Text&gt;&#10;            &lt;/Box&gt;&#10;        &lt;/Box&gt;&#10;&#10;        {/* B 区：4 层架构大图 */}&#10;        &lt;Box style={{&#10;            flex: 1,&#10;            padding: '16px 60px 0',&#10;            flexDirection: 'column',&#10;            gap: 12,&#10;        }}&gt;&#10;&#10;            {/* 闭环箭头 SVG */}&#10;            &lt;Box style={{ height: 360 }}&gt;&#10;                &lt;svg width='100%' height='100%' viewBox='0 0 1040 340'&gt;&#10;&#10;                    {/* 闭环指示 — 4 层外围虚线箭头 */}&#10;                    &lt;path d='M 80 240 L 80 80 L 980 80 L 980 240 L 60 240' stroke='#CBD5E1'&#10;                          strokeWidth='1.5' fill='none' strokeDasharray='6 4' marker-end='url(#arr)' /&gt;&#10;                    &lt;defs&gt;&#10;                        &lt;marker id='arr' viewBox='0 0 10 10' refX='9' refY='5' markerWidth='6' markerHeight='6' orient='auto'&gt;&#10;                            &lt;path d='M 0 0 L 10 5 L 0 10 z' fill='#94A3B8' /&gt;&#10;                        &lt;/marker&gt;&#10;                    &lt;/defs&gt;&#10;&#10;                    {/* ===== 第 1 层：感知 ===== */}&#10;                    &lt;rect x='90' y='40' width='870' height='52' rx='8' fill='#F1F5F9' stroke='#94A3B8' strokeWidth='1' /&gt;&#10;                    &lt;text x='110' y='72' fill='#475569' fontSize='16' fontFamily='Source Han Sans SC' fontWeight='bold'&gt;L1 · 感知层&lt;/text&gt;&#10;                    &lt;text x='230' y='72' fill='#1A1A1A' fontSize='15' fontFamily='Source Han Sans SC'&gt;&#10;                        BMS 电量 / PCS 功率 / 变压器温度 / 电网负荷 / 电价 / 电网调度信号&#10;                    &lt;/text&gt;&#10;                    &lt;text x='940' y='56' textAnchor='end' fill='#64748B' fontSize='13' fontFamily='Source Han Sans SC'&gt;↳ 已有&lt;/text&gt;&#10;                    &lt;text x='940' y='76' textAnchor='end' fill='#64748B' fontSize='13' fontFamily='Source Han Sans SC'&gt;历史数据&lt;/text&gt;&#10;&#10;                    {/* ===== 第 2 层：算法 = 本次交付的核心 ===== */}&#10;                    &lt;rect x='60' y='110' width='930' height='90' rx='10' fill='#EFF6FF' stroke='#3B82F6' strokeWidth='3' /&gt;&#10;                    &lt;rect x='60' y='110' width='6' height='90' fill='#3B82F6' /&gt;&#10;                    &lt;text x='86' y='138' fill='#1E40AF' fontSize='17' fontFamily='Source Han Sans SC' fontWeight='bold'&gt;L2 · 算法层&lt;/text&gt;&#10;                    &lt;text x='86' y='158' fill='#1A1A1A' fontSize='15' fontFamily='Source Han Sans SC'&gt;&#10;                        9 个业务策略 + 共同语言 + 调度容器 + 仲裁机制&#10;                    &lt;/text&gt;&#10;                    &lt;text x='86' y='180' fill='#1E40AF' fontSize='14' fontFamily='Source Han Sans SC' fontWeight='bold'&gt;&#10;                        ◀ 前 4 周交付的核心&#10;                    &lt;/text&gt;&#10;&#10;                    {/* 4 个子块 */}&#10;                    &lt;rect x='420' y='120' width='138' height='70' rx='6' fill='#FFFFFF' stroke='#3B82F6' strokeDasharray='2 2' /&gt;&#10;                    &lt;text x='489' y='144' textAnchor='middle' fill='#1E40AF' fontSize='14' fontFamily='Source Han Sans SC' fontWeight='bold'&gt;9 策略&lt;/text&gt;&#10;                    &lt;text x='489' y='162' textAnchor='middle' fill='#64748B' fontSize='13' fontFamily='Source Han Sans SC'&gt;P1&lt;/text&gt;&#10;                    &lt;text x='489' y='180' textAnchor='middle' fill='#1E40AF' fontSize='13' fontFamily='Source Han Sans SC'&gt;业务意图&lt;/text&gt;&#10;&#10;                    &lt;rect x='566' y='120' width='138' height='70' rx='6' fill='#FFFFFF' stroke='#06B6D4' strokeDasharray='2 2' /&gt;&#10;                    &lt;text x='635' y='144' textAnchor='middle' fill='#0E7490' fontSize='14' fontFamily='Source Han Sans SC' fontWeight='bold'&gt;接口语言&lt;/text&gt;&#10;                    &lt;text x='635' y='162' textAnchor='middle' fill='#64748B' fontSize='13' fontFamily='Source Han Sans SC'&gt;P2&lt;/text&gt;&#10;                    &lt;text x='635' y='180' textAnchor='middle' fill='#0E7490' fontSize='13' fontFamily='Source Han Sans SC'&gt;区间表示&lt;/text&gt;&#10;&#10;                    &lt;rect x='712' y='120' width='138' height='70' rx='6' fill='#FFFFFF' stroke='#22C55E' strokeDasharray='2 2' /&gt;&#10;                    &lt;text x='781' y='144' textAnchor='middle' fill='#166534' fontSize='14' fontFamily='Source Han Sans SC' fontWeight='bold'&gt;调度容器&lt;/text&gt;&#10;                    &lt;text x='781' y='162' textAnchor='middle' fill='#64748B' fontSize='13' fontFamily='Source Han Sans SC'&gt;P3&lt;/text&gt;&#10;                    &lt;text x='781' y='180' textAnchor='middle' fill='#166534' fontSize='13' fontFamily='Source Han Sans SC'&gt;tick 入口&lt;/text&gt;&#10;&#10;                    &lt;rect x='858' y='120' width='124' height='70' rx='6' fill='#FFFFFF' stroke='#EF4444' strokeDasharray='2 2' /&gt;&#10;                    &lt;text x='920' y='144' textAnchor='middle' fill='#B91C1C' fontSize='14' fontFamily='Source Han Sans SC' fontWeight='bold'&gt;仲裁&lt;/text&gt;&#10;                    &lt;text x='920' y='162' textAnchor='middle' fill='#64748B' fontSize='13' fontFamily='Source Han Sans SC'&gt;P4&lt;/text&gt;&#10;                    &lt;text x='920' y='180' textAnchor='middle' fill='#B91C1C' fontSize='13' fontFamily='Source Han Sans SC'&gt;冲突解决&lt;/text&gt;&#10;&#10;                    {/* ===== 第 3 层：执行 ===== */}&#10;                    &lt;rect x='90' y='218' width='870' height='44' rx='8' fill='#F1F5F9' stroke='#94A3B8' strokeWidth='1' /&gt;&#10;                    &lt;text x='110' y='244' fill='#475569' fontSize='16' fontFamily='Source Han Sans SC' fontWeight='bold'&gt;L3 · 执行层&lt;/text&gt;&#10;                    &lt;text x='230' y='244' fill='#1A1A1A' fontSize='15' fontFamily='Source Han Sans SC'&gt;&#10;                        防逆流 / 变压器限容 / 需量管理 / 光伏平抑 4 个实时控制器&#10;                    &lt;/text&gt;&#10;&#10;                    {/* ===== 第 4 层：管理 ===== */}&#10;                    &lt;rect x='90' y='280' width='870' height='44' rx='8' fill='#F1F5F9' stroke='#94A3B8' strokeWidth='1' /&gt;&#10;                    &lt;text x='110' y='306' fill='#475569' fontSize='16' fontFamily='Source Han Sans SC' fontWeight='bold'&gt;L4 · 运行层&lt;/text&gt;&#10;                    &lt;text x='230' y='306' fill='#1A1A1A' fontSize='15' fontFamily='Source Han Sans SC'&gt;&#10;                        状态机 / 启停 / 告警 / 人机交互 — 接收算法层产出的 P_bat，下发 4 个控制器&#10;                    &lt;/text&gt;&#10;&#10;                &lt;/svg&gt;&#10;            &lt;/Box&gt;&#10;&#10;            {/* 底部要点 — 3 个判断句 + 原理补充 */}&#10;            &lt;Box style={{&#10;                flexDirection: 'row',&#10;                gap: 14,&#10;                paddingBottom: 12,&#10;            }}&gt;&#10;                &lt;Box style={{ flex: 1, padding: '12px 16px', background: '#F8FAFC', borderRadius: 8, borderLeft: '3px solid #3B82F6' }}&gt;&#10;                    &lt;Text style={{ fontSize: 13, color: '#3B82F6', fontWeight: 'bold', letterSpacing: 1.5 }}&gt;判断 1 · 位置&lt;/Text&gt;&#10;                    &lt;Text style={{ fontSize: 14, color: '#1A1A1A', marginTop: 6, lineHeight: 1.55, fontWeight: 'bold' }}&gt;&#10;                        算法层是&quot;调度语言&quot;，先把语言定义清楚，控制器才能听懂、执行层才能听话&#10;                    &lt;/Text&gt;&#10;                    &lt;Text style={{ fontSize: 12, color: '#475569', marginTop: 4, lineHeight: 1.5 }}&gt;&#10;                        原理：上层 01 算的是分钟级经济曲线，下层 03 要的是秒级硬约束，没有中间这层&quot;翻译&quot;，两者时间粒度和语义都对不上&#10;                    &lt;/Text&gt;&#10;                &lt;/Box&gt;&#10;                &lt;Box style={{ flex: 1, padding: '12px 16px', background: '#F8FAFC', borderRadius: 8, borderLeft: '3px solid #06B6D4' }}&gt;&#10;                    &lt;Text style={{ fontSize: 13, color: '#06B6D4', fontWeight: 'bold', letterSpacing: 1.5 }}&gt;判断 2 · 次序&lt;/Text&gt;&#10;                    &lt;Text style={{ fontSize: 14, color: '#1A1A1A', marginTop: 6, lineHeight: 1.55, fontWeight: 'bold' }}&gt;&#10;                        算法层内部 4 个子件必须按顺序构建：先有&quot;说话人&quot;，再定&quot;话术&quot;，再设&quot;议事厅&quot;，最后订&quot;议事规则&quot;&#10;                    &lt;/Text&gt;&#10;                    &lt;Text style={{ fontSize: 12, color: '#475569', marginTop: 4, lineHeight: 1.5 }}&gt;&#10;                        原理：每个子件都是下个的输入——没有共同语言就无法在议事厅里比较，没有议事厅规则就无对象可应用，反序则全部失效&#10;                    &lt;/Text&gt;&#10;                &lt;/Box&gt;&#10;                &lt;Box style={{ flex: 1, padding: '12px 16px', background: '#F8FAFC', borderRadius: 8, borderLeft: '3px solid #EF4444' }}&gt;&#10;                    &lt;Text style={{ fontSize: 13, color: '#EF4444', fontWeight: 'bold', letterSpacing: 1.5 }}&gt;判断 3 · 不可省略&lt;/Text&gt;&#10;                    &lt;Text style={{ fontSize: 14, color: '#1A1A1A', marginTop: 6, lineHeight: 1.55, fontWeight: 'bold' }}&gt;&#10;                        缺了算法层，控制层只能做单点控制；缺了运行层，调度结果无人发布。每一层都不可省略&#10;                    &lt;/Text&gt;&#10;                    &lt;Text style={{ fontSize: 12, color: '#475569', marginTop: 4, lineHeight: 1.5 }}&gt;&#10;                        原理：算法层给&quot;指令&quot;，执行层给&quot;实时动作&quot;，运行层给&quot;生命周期&quot;——三者闭环，缺一就只是局部最优&#10;                    &lt;/Text&gt;&#10;                &lt;/Box&gt;&#10;            &lt;/Box&gt;&#10;&#10;        &lt;/Box&gt;&#10;&#10;        {/* C 区：页脚 */}&#10;        &lt;Box style={{&#10;            padding: '0 60px',&#10;            height: 50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工商业储能 EMS · 周期 1-4 交付汇报&#10;            &lt;/Text&gt;&#10;            &lt;Text style={{ fontSize: 14, color: '#94A3B8' }}&gt;&#10;                02 / 11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342900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系统全貌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· WHERE WE STAND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590550"/>
            <a:ext cx="10515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EMS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是一个实时调度系统——</a:t>
            </a:r>
            <a:r>
              <a:rPr lang="en-US" sz="27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700" b="1">
                <a:solidFill>
                  <a:srgbClr val="1A1A1A"/>
                </a:solidFill>
                <a:latin typeface="Microsoft YaHei"/>
                <a:ea typeface="Microsoft YaHei"/>
              </a:rPr>
              <a:t>层闭环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87100" y="8477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P02 / 11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162050"/>
            <a:ext cx="11049000" cy="3429000"/>
          </a:xfrm>
          <a:prstGeom prst="rect">
            <a:avLst/>
          </a:prstGeom>
          <a:ln/>
        </p:spPr>
      </p:pic>
      <p:sp>
        <p:nvSpPr>
          <p:cNvPr id="88" name=""/>
          <p:cNvSpPr/>
          <p:nvPr/>
        </p:nvSpPr>
        <p:spPr>
          <a:xfrm rot="0" flipH="0" flipV="0">
            <a:off x="600075" y="4705350"/>
            <a:ext cx="3590925" cy="1400175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0075" y="4705350"/>
            <a:ext cx="3590925" cy="1400175"/>
          </a:xfrm>
          <a:custGeom>
            <a:pathLst>
              <a:path w="377" h="1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42"/>
                </a:lnTo>
                <a:cubicBezTo>
                  <a:pt x="3" y="144"/>
                  <a:pt x="5" y="146"/>
                  <a:pt x="7" y="147"/>
                </a:cubicBezTo>
                <a:cubicBezTo>
                  <a:pt x="3" y="146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52475" y="48196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判断</a:t>
            </a:r>
            <a:r>
              <a:rPr lang="en-US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 1 · </a:t>
            </a: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位置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52475" y="5029200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算法层是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调度语言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，先把语言定义清楚，控制器才能听懂、执行层才能听话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52475" y="5572125"/>
            <a:ext cx="32575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原理：上层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算的是分钟级经济曲线，下层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要的是秒级硬约束，没有中间这层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翻译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，两者时间粒度和语义都对不上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324350" y="4705350"/>
            <a:ext cx="3600450" cy="1400175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4324350" y="4705350"/>
            <a:ext cx="3600450" cy="1400175"/>
          </a:xfrm>
          <a:custGeom>
            <a:pathLst>
              <a:path w="378" h="1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42"/>
                </a:lnTo>
                <a:cubicBezTo>
                  <a:pt x="3" y="144"/>
                  <a:pt x="5" y="146"/>
                  <a:pt x="7" y="147"/>
                </a:cubicBezTo>
                <a:cubicBezTo>
                  <a:pt x="3" y="146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76750" y="4819650"/>
            <a:ext cx="3267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判断</a:t>
            </a:r>
            <a:r>
              <a:rPr lang="en-US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 2 · </a:t>
            </a:r>
            <a:r>
              <a:rPr lang="zh-CN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次序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76750" y="5029200"/>
            <a:ext cx="32670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算法层内部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个子件必须按顺序构建：先有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说话人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，再定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话术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，再设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议事厅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，最后订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议事规则</a:t>
            </a:r>
            <a:r>
              <a:rPr lang="en-US" sz="105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476750" y="5572125"/>
            <a:ext cx="32670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原理：每个子件都是下个的输入——没有共同语言就无法在议事厅里比较，没有议事厅规则就无对象可应用，反序则全部失效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058150" y="4705350"/>
            <a:ext cx="3590925" cy="1400175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8058150" y="4705350"/>
            <a:ext cx="3590925" cy="1400175"/>
          </a:xfrm>
          <a:custGeom>
            <a:pathLst>
              <a:path w="377" h="14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42"/>
                </a:lnTo>
                <a:cubicBezTo>
                  <a:pt x="3" y="144"/>
                  <a:pt x="5" y="146"/>
                  <a:pt x="7" y="147"/>
                </a:cubicBezTo>
                <a:cubicBezTo>
                  <a:pt x="3" y="146"/>
                  <a:pt x="0" y="143"/>
                  <a:pt x="0" y="13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210550" y="48196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判断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3 · </a:t>
            </a: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不可省略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210550" y="5029200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 b="1">
                <a:solidFill>
                  <a:srgbClr val="1A1A1A"/>
                </a:solidFill>
                <a:latin typeface="Microsoft YaHei"/>
                <a:ea typeface="Microsoft YaHei"/>
              </a:rPr>
              <a:t>缺了算法层，控制层只能做单点控制；缺了运行层，调度结果无人发布。每一层都不可省略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210550" y="5572125"/>
            <a:ext cx="32575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原理：算法层给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指令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，执行层给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实时动作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，运行层给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生命周期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"——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三者闭环，缺一就只是局部最优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0" y="6381750"/>
            <a:ext cx="12192000" cy="476250"/>
          </a:xfrm>
          <a:custGeom>
            <a:pathLst>
              <a:path w="1280" h="5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1-4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交付汇报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6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30px 60px 0', height: 8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为什么是这 4 周 · THE LOGIC&#10;                    &lt;/Text&gt;&#10;                    &lt;Text style={{ fontSize: 32, fontWeight: 'bold', color: '#1A1A1A', marginTop: 6 }}&gt;&#10;                        4 件大事的内在次序——缺了前面，后面跑不通&#10;                    &lt;/Text&gt;&#10;                &lt;/Box&gt;&#10;                &lt;Text style={{ fontSize: 14, color: '#94A3B8' }}&gt;P03 / 11&lt;/Text&gt;&#10;            &lt;/Box&gt;&#10;        &lt;/Box&gt;&#10;&#10;        {/* B 区：因果链 — 4 个圆圈 + 解释 */}&#10;        &lt;Box style={{&#10;            flex: 1,&#10;            padding: '24px 60px',&#10;            flexDirection: 'column',&#10;        }}&gt;&#10;&#10;            {/* 因果链主图 */}&#10;            &lt;Box style={{ height: 130 }}&gt;&#10;                &lt;svg width='100%' height='100%' viewBox='0 0 1040 130'&gt;&#10;&#10;                    {/* 主连线 */}&#10;                    &lt;line x1='110' y1='65' x2='930' y2='65' stroke='#CBD5E1' strokeWidth='2' /&gt;&#10;&#10;                    {/* 4 个节点 */}&#10;                    {/* 节点 1 */}&#10;                    &lt;circle cx='130' cy='65' r='34' fill='#DBEAFE' stroke='#3B82F6' strokeWidth='3' /&gt;&#10;                    &lt;text x='130' y='64' textAnchor='middle' fill='#1E40AF' fontSize='26' fontFamily='Source Han Sans SC' fontWeight='bold'&gt;9&lt;/text&gt;&#10;                    &lt;text x='130' y='84' textAnchor='middle' fill='#1E40AF' fontSize='13' fontFamily='Source Han Sans SC' fontWeight='bold'&gt;策略&lt;/text&gt;&#10;&#10;                    {/* 节点 2 */}&#10;                    &lt;circle cx='390' cy='65' r='34' fill='#CFFAFE' stroke='#06B6D4' strokeWidth='3' /&gt;&#10;                    &lt;text x='390' y='64' textAnchor='middle' fill='#0E7490' fontSize='26' fontFamily='Source Han Sans SC' fontWeight='bold'&gt;1&lt;/text&gt;&#10;                    &lt;text x='390' y='84' textAnchor='middle' fill='#0E7490' fontSize='13' fontFamily='Source Han Sans SC' fontWeight='bold'&gt;共同语言&lt;/text&gt;&#10;&#10;                    {/* 节点 3 */}&#10;                    &lt;circle cx='650' cy='65' r='34' fill='#D1FAE5' stroke='#22C55E' strokeWidth='3' /&gt;&#10;                    &lt;text x='650' y='64' textAnchor='middle' fill='#166534' fontSize='26' fontFamily='Source Han Sans SC' fontWeight='bold'&gt;1&lt;/text&gt;&#10;                    &lt;text x='650' y='84' textAnchor='middle' fill='#166534' fontSize='13' fontFamily='Source Han Sans SC' fontWeight='bold'&gt;议事厅&lt;/text&gt;&#10;&#10;                    {/* 节点 4 */}&#10;                    &lt;circle cx='910' cy='65' r='34' fill='#FEE2E2' stroke='#EF4444' strokeWidth='3' /&gt;&#10;                    &lt;text x='910' y='64' textAnchor='middle' fill='#B91C1C' fontSize='26' fontFamily='Source Han Sans SC' fontWeight='bold'&gt;1&lt;/text&gt;&#10;                    &lt;text x='910' y='84' textAnchor='middle' fill='#B91C1C' fontSize='13' fontFamily='Source Han Sans SC' fontWeight='bold'&gt;规则&lt;/text&gt;&#10;&#10;                    {/* 周标签 */}&#10;                    &lt;text x='130' y='125' textAnchor='middle' fill='#64748B' fontSize='13' fontFamily='Source Han Sans SC'&gt;P1 · 第 1 周&lt;/text&gt;&#10;                    &lt;text x='390' y='125' textAnchor='middle' fill='#64748B' fontSize='13' fontFamily='Source Han Sans SC'&gt;P2 · 第 2 周&lt;/text&gt;&#10;                    &lt;text x='650' y='125' textAnchor='middle' fill='#64748B' fontSize='13' fontFamily='Source Han Sans SC'&gt;P3 · 第 3 周&lt;/text&gt;&#10;                    &lt;text x='910' y='125' textAnchor='middle' fill='#64748B' fontSize='13' fontFamily='Source Han Sans SC'&gt;P4 · 第 4 周&lt;/text&gt;&#10;&#10;                    {/* 因果箭头提示 — 破坏后果 */}&#10;                    &lt;text x='260' y='48' textAnchor='middle' fill='#94A3B8' fontSize='12' fontFamily='Source Han Sans SC'&gt;没有说话的人&lt;/text&gt;&#10;                    &lt;text x='260' y='95' textAnchor='middle' fill='#B91C1C' fontSize='12' fontFamily='Source Han Sans SC' fontWeight='bold'&gt;不用谈语言 → 一切空谈&lt;/text&gt;&#10;                    &lt;polygon points='263,62 263,72 273,67' fill='#94A3B8' /&gt;&#10;&#10;                    &lt;text x='520' y='48' textAnchor='middle' fill='#94A3B8' fontSize='12' fontFamily='Source Han Sans SC'&gt;没有共同语言&lt;/text&gt;&#10;                    &lt;text x='520' y='95' textAnchor='middle' fill='#B91C1C' fontSize='12' fontFamily='Source Han Sans SC' fontWeight='bold'&gt;议事厅空转 → 输出分裂指令&lt;/text&gt;&#10;                    &lt;polygon points='523,62 523,72 533,67' fill='#94A3B8' /&gt;&#10;&#10;                    &lt;text x='780' y='48' textAnchor='middle' fill='#94A3B8' fontSize='12' fontFamily='Source Han Sans SC'&gt;没人抢话筒&lt;/text&gt;&#10;                    &lt;text x='780' y='95' textAnchor='middle' fill='#B91C1C' fontSize='12' fontFamily='Source Han Sans SC' fontWeight='bold'&gt;就不需规则 → 仲裁器空跑&lt;/text&gt;&#10;                    &lt;polygon points='783,62 783,72 793,67' fill='#94A3B8' /&gt;&#10;&#10;                &lt;/svg&gt;&#10;            &lt;/Box&gt;&#10;&#10;            {/* 4 个解释卡 */}&#10;            &lt;Box style={{&#10;                flex: 1,&#10;                flexDirection: 'row',&#10;                gap: 14,&#10;                paddingTop: 8,&#10;            }}&gt;&#10;&#10;                &lt;Box style={{ flex: 1, padding: '14px 16px', background: '#EFF6FF', borderRadius: 10, borderTop: '4px solid #3B82F6' }}&gt;&#10;                    &lt;Text style={{ fontSize: 13, color: '#3B82F6', fontWeight: 'bold', letterSpacing: 1.5 }}&gt;P1 · 摸清 9 个意图&lt;/Text&gt;&#10;                    &lt;Text style={{ fontSize: 15, fontWeight: 'bold', color: '#1A1A1A', marginTop: 8 }}&gt;先把&quot;谁要发言&quot;摊开&lt;/Text&gt;&#10;                    &lt;Text style={{ fontSize: 13, color: '#475569', marginTop: 6, lineHeight: 1.55 }}&gt;&#10;                        至少 9 个不同来路的意志：有些是电池自己不愿做（BMS 禁放）、有些是老板不希望的罚款（需量）、有些是电网给的奖赏（分时电价）…… 第一周只为它们确认身份&#10;                    &lt;/Text&gt;&#10;                    &lt;Text style={{ fontSize: 12, color: '#1E40AF', marginTop: 6, lineHeight: 1.5, fontWeight: 'bold' }}&gt;&#10;                        原理：决策的反面是不知道决策者是谁——列不出 9 个，后续就无法谈&quot;为谁而战&quot;&#10;                    &lt;/Text&gt;&#10;                &lt;/Box&gt;&#10;&#10;                &lt;Box style={{ flex: 1, padding: '14px 16px', background: '#ECFEFF', borderRadius: 10, borderTop: '4px solid #06B6D4' }}&gt;&#10;                    &lt;Text style={{ fontSize: 13, color: '#06B6D4', fontWeight: 'bold', letterSpacing: 1.5 }}&gt;P2 · 让它们有共同语言&lt;/Text&gt;&#10;                    &lt;Text style={{ fontSize: 15, fontWeight: 'bold', color: '#1A1A1A', marginTop: 8 }}&gt;9 个发言方式不一致，无法比较&lt;/Text&gt;&#10;                    &lt;Text style={{ fontSize: 13, color: '#475569', marginTop: 6, lineHeight: 1.55 }}&gt;&#10;                        有的策略说&quot;应该放 100 千瓦&quot;，有的说&quot;不能超过 80 千瓦&quot;。第二周规定每人都只能说同一套句式：能落在区间 [下界, 上界]，最佳点是 X，权重是 W&#10;                    &lt;/Text&gt;&#10;                    &lt;Text style={{ fontSize: 12, color: '#0E7490', marginTop: 6, lineHeight: 1.5, fontWeight: 'bold' }}&gt;&#10;                        原理：仲裁器的本质是数学运算（交集/平均）——输入语义必须统一，否则算出来的&quot;中点&quot;无意义&#10;                    &lt;/Text&gt;&#10;                &lt;/Box&gt;&#10;&#10;                &lt;Box style={{ flex: 1, padding: '14px 16px', background: '#ECFDF5', borderRadius: 10, borderTop: '4px solid #22C55E' }}&gt;&#10;                    &lt;Text style={{ fontSize: 13, color: '#22C55E', fontWeight: 'bold', letterSpacing: 1.5 }}&gt;P3 · 建一个议事厅&lt;/Text&gt;&#10;                    &lt;Text style={{ fontSize: 15, fontWeight: 'bold', color: '#1A1A1A', marginTop: 8 }}&gt;让 9 个能同时被叫到&lt;/Text&gt;&#10;                    &lt;Text style={{ fontSize: 13, color: '#475569', marginTop: 6, lineHeight: 1.55 }}&gt;&#10;                        每个 tick（每分钟）9 个都要被问一次。第三周提供&quot;调度容器&quot;：注册、启停、按表调用、缓存结果——执行层只要给一份名单，不必挨个找策略&#10;                    &lt;/Text&gt;&#10;                    &lt;Text style={{ fontSize: 12, color: '#166534', marginTop: 6, lineHeight: 1.5, fontWeight: 'bold' }}&gt;&#10;                        原理：把&quot;挨个调用&quot;抽象成&quot;tick 一次&quot;——外部从 O(n) 降到 O(1)，且新增策略时外部无需改动&#10;                    &lt;/Text&gt;&#10;                &lt;/Box&gt;&#10;&#10;                &lt;Box style={{ flex: 1, padding: '14px 16px', background: '#FEF2F2', borderRadius: 10, borderTop: '4px solid #EF4444' }}&gt;&#10;                    &lt;Text style={{ fontSize: 13, color: '#EF4444', fontWeight: 'bold', letterSpacing: 1.5 }}&gt;P4 · 立议事规则&lt;/Text&gt;&#10;                    &lt;Text style={{ fontSize: 15, fontWeight: 'bold', color: '#1A1A1A', marginTop: 8 }}&gt;9 个必然冲突，听谁&lt;/Text&gt;&#10;                    &lt;Text style={{ fontSize: 13, color: '#475569', marginTop: 6, lineHeight: 1.55 }}&gt;&#10;                        9 个意见永远会冲突：安全想让你别放，经济想让你多放。第四周写一套规则——按优先级分层（救命 &amp;gt; 罚款 &amp;gt; 套利），同层求加权，最终夹紧并去抖&#10;                    &lt;/Text&gt;&#10;                    &lt;Text style={{ fontSize: 12, color: '#B91C1C', marginTop: 6, lineHeight: 1.5, fontWeight: 'bold' }}&gt;&#10;                        原理：冲突不是 bug 是 feature——重点是把冲突拆成&quot;层级 / 同层 / 边界&quot;三段，每段规则独立可测&#10;                    &lt;/Text&gt;&#10;                &lt;/Box&gt;&#10;&#10;            &lt;/Box&gt;&#10;&#10;        &lt;/Box&gt;&#10;&#10;        {/* C 区 */}&#10;        &lt;Box style={{&#10;            padding: '0 60px 14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工商业储能 EMS · 周期 1-4 交付汇报&#10;            &lt;/Text&gt;&#10;            &lt;Text style={{ fontSize: 14, color: '#94A3B8' }}&gt;03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6429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为什么是这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4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周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· THE LOGIC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64293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件大事的内在次序——缺了前面，后面跑不通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087100" y="742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P03 / 11</a:t>
            </a:r>
            <a:endParaRPr/>
          </a:p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990600"/>
            <a:ext cx="11049000" cy="1238250"/>
          </a:xfrm>
          <a:prstGeom prst="rect">
            <a:avLst/>
          </a:prstGeom>
          <a:ln/>
        </p:spPr>
      </p:pic>
      <p:sp>
        <p:nvSpPr>
          <p:cNvPr id="112" name=""/>
          <p:cNvSpPr/>
          <p:nvPr/>
        </p:nvSpPr>
        <p:spPr>
          <a:xfrm rot="0" flipH="0" flipV="0">
            <a:off x="571500" y="2343150"/>
            <a:ext cx="2667000" cy="388620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571500" y="2343150"/>
            <a:ext cx="2667000" cy="3886200"/>
          </a:xfrm>
          <a:custGeom>
            <a:pathLst>
              <a:path w="280" h="408">
                <a:moveTo>
                  <a:pt x="270" y="0"/>
                </a:moveTo>
                <a:cubicBezTo>
                  <a:pt x="275" y="0"/>
                  <a:pt x="279" y="4"/>
                  <a:pt x="280" y="8"/>
                </a:cubicBezTo>
                <a:cubicBezTo>
                  <a:pt x="279" y="6"/>
                  <a:pt x="277" y="4"/>
                  <a:pt x="27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23900" y="24765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P1 · </a:t>
            </a: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摸清</a:t>
            </a:r>
            <a:r>
              <a:rPr lang="en-US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 9 </a:t>
            </a: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个意图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23900" y="2705100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先把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谁要发言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摊开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23900" y="2933700"/>
            <a:ext cx="23622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至少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个不同来路的意志：有些是电池自己不愿做（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BMS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禁放）、有些是老板不希望的罚款（需量）、有些是电网给的奖赏（分时电价）……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第一周只为它们确认身份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23900" y="3914775"/>
            <a:ext cx="23622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原理：决策的反面是不知道决策者是谁——列不出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 9 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个，后续就无法谈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为谁而战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371850" y="2343150"/>
            <a:ext cx="2657475" cy="3886200"/>
          </a:xfrm>
          <a:prstGeom prst="roundRect">
            <a:avLst>
              <a:gd name="adj" fmla="val 3584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371850" y="2343150"/>
            <a:ext cx="2657475" cy="3886200"/>
          </a:xfrm>
          <a:custGeom>
            <a:pathLst>
              <a:path w="279" h="408">
                <a:moveTo>
                  <a:pt x="269" y="0"/>
                </a:moveTo>
                <a:cubicBezTo>
                  <a:pt x="274" y="0"/>
                  <a:pt x="278" y="4"/>
                  <a:pt x="279" y="8"/>
                </a:cubicBezTo>
                <a:cubicBezTo>
                  <a:pt x="278" y="6"/>
                  <a:pt x="276" y="4"/>
                  <a:pt x="2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524250" y="2476500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P2 · </a:t>
            </a:r>
            <a:r>
              <a:rPr lang="zh-CN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让它们有共同语言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524250" y="2705100"/>
            <a:ext cx="2352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个发言方式不一致，无法比较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524250" y="2933700"/>
            <a:ext cx="23526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有的策略说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应该放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100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千瓦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，有的说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不能超过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80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千瓦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。第二周规定每人都只能说同一套句式：能落在区间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[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下界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,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上界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]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，最佳点是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X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，权重是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W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524250" y="3914775"/>
            <a:ext cx="2352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0E7490"/>
                </a:solidFill>
                <a:latin typeface="Microsoft YaHei"/>
                <a:ea typeface="Microsoft YaHei"/>
              </a:rPr>
              <a:t>原理：仲裁器的本质是数学运算（交集</a:t>
            </a:r>
            <a:r>
              <a:rPr lang="en-US" sz="900" b="1">
                <a:solidFill>
                  <a:srgbClr val="0E7490"/>
                </a:solidFill>
                <a:latin typeface="Microsoft YaHei"/>
                <a:ea typeface="Microsoft YaHei"/>
              </a:rPr>
              <a:t>/</a:t>
            </a:r>
            <a:r>
              <a:rPr lang="zh-CN" sz="900" b="1">
                <a:solidFill>
                  <a:srgbClr val="0E7490"/>
                </a:solidFill>
                <a:latin typeface="Microsoft YaHei"/>
                <a:ea typeface="Microsoft YaHei"/>
              </a:rPr>
              <a:t>平均）——输入语义必须统一，否则算出来的</a:t>
            </a:r>
            <a:r>
              <a:rPr lang="en-US" sz="900" b="1">
                <a:solidFill>
                  <a:srgbClr val="0E7490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0E7490"/>
                </a:solidFill>
                <a:latin typeface="Microsoft YaHei"/>
                <a:ea typeface="Microsoft YaHei"/>
              </a:rPr>
              <a:t>中点</a:t>
            </a:r>
            <a:r>
              <a:rPr lang="en-US" sz="900" b="1">
                <a:solidFill>
                  <a:srgbClr val="0E7490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0E7490"/>
                </a:solidFill>
                <a:latin typeface="Microsoft YaHei"/>
                <a:ea typeface="Microsoft YaHei"/>
              </a:rPr>
              <a:t>无意义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162675" y="2343150"/>
            <a:ext cx="2667000" cy="388620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162675" y="2343150"/>
            <a:ext cx="2667000" cy="3886200"/>
          </a:xfrm>
          <a:custGeom>
            <a:pathLst>
              <a:path w="280" h="408">
                <a:moveTo>
                  <a:pt x="270" y="0"/>
                </a:moveTo>
                <a:cubicBezTo>
                  <a:pt x="275" y="0"/>
                  <a:pt x="279" y="4"/>
                  <a:pt x="280" y="8"/>
                </a:cubicBezTo>
                <a:cubicBezTo>
                  <a:pt x="279" y="6"/>
                  <a:pt x="277" y="4"/>
                  <a:pt x="27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15075" y="2476500"/>
            <a:ext cx="236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22C55E"/>
                </a:solidFill>
                <a:latin typeface="Microsoft YaHei"/>
                <a:ea typeface="Microsoft YaHei"/>
              </a:rPr>
              <a:t>P3 · </a:t>
            </a:r>
            <a:r>
              <a:rPr lang="zh-CN" sz="975" b="1" spc="113">
                <a:solidFill>
                  <a:srgbClr val="22C55E"/>
                </a:solidFill>
                <a:latin typeface="Microsoft YaHei"/>
                <a:ea typeface="Microsoft YaHei"/>
              </a:rPr>
              <a:t>建一个议事厅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15075" y="2705100"/>
            <a:ext cx="236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个能同时被叫到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315075" y="2933700"/>
            <a:ext cx="23622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每个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tick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（每分钟）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个都要被问一次。第三周提供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调度容器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：注册、启停、按表调用、缓存结果——执行层只要给一份名单，不必挨个找策略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315075" y="3914775"/>
            <a:ext cx="2362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原理：把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挨个调用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抽象成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"tick 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一次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"——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外部从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 O(n) 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降到</a:t>
            </a:r>
            <a:r>
              <a:rPr lang="en-US" sz="900" b="1">
                <a:solidFill>
                  <a:srgbClr val="166534"/>
                </a:solidFill>
                <a:latin typeface="Microsoft YaHei"/>
                <a:ea typeface="Microsoft YaHei"/>
              </a:rPr>
              <a:t> O(1)</a:t>
            </a:r>
            <a:r>
              <a:rPr lang="zh-CN" sz="900" b="1">
                <a:solidFill>
                  <a:srgbClr val="166534"/>
                </a:solidFill>
                <a:latin typeface="Microsoft YaHei"/>
                <a:ea typeface="Microsoft YaHei"/>
              </a:rPr>
              <a:t>，且新增策略时外部无需改动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963025" y="2343150"/>
            <a:ext cx="2657475" cy="3886200"/>
          </a:xfrm>
          <a:prstGeom prst="roundRect">
            <a:avLst>
              <a:gd name="adj" fmla="val 3584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963025" y="2343150"/>
            <a:ext cx="2657475" cy="3886200"/>
          </a:xfrm>
          <a:custGeom>
            <a:pathLst>
              <a:path w="279" h="408">
                <a:moveTo>
                  <a:pt x="269" y="0"/>
                </a:moveTo>
                <a:cubicBezTo>
                  <a:pt x="274" y="0"/>
                  <a:pt x="278" y="4"/>
                  <a:pt x="279" y="8"/>
                </a:cubicBezTo>
                <a:cubicBezTo>
                  <a:pt x="278" y="6"/>
                  <a:pt x="276" y="4"/>
                  <a:pt x="2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115425" y="2476500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P4 · </a:t>
            </a: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立议事规则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15425" y="2705100"/>
            <a:ext cx="2352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个必然冲突，听谁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115425" y="2933700"/>
            <a:ext cx="23526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个意见永远会冲突：安全想让你别放，经济想让你多放。第四周写一套规则——按优先级分层（救命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&gt;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罚款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&gt;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套利），同层求加权，最终夹紧并去抖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115425" y="3914775"/>
            <a:ext cx="23526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原理：冲突不是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 bug 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是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 feature——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重点是把冲突拆成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层级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 / 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同层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 / 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边界</a:t>
            </a:r>
            <a:r>
              <a:rPr lang="en-US" sz="900" b="1">
                <a:solidFill>
                  <a:srgbClr val="B91C1C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三段，每段规则独立可测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工商业储能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EMS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1-4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交付汇报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9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周期 1 · STRATEGY INVENTORY&#10;                    &lt;/Text&gt;&#10;                    &lt;Text style={{ fontSize: 32, fontWeight: 'bold', color: '#1A1A1A', marginTop: 6 }}&gt;&#10;                        9 个业务意志的边界·不是 9 段代码&#10;                    &lt;/Text&gt;&#10;                &lt;/Box&gt;&#10;                &lt;Text style={{ fontSize: 14, color: '#94A3B8' }}&gt;P04 / 11&lt;/Text&gt;&#10;            &lt;/Box&gt;&#10;        &lt;/Box&gt;&#10;&#10;        {/* B 区 */}&#10;        &lt;Box style={{&#10;            flex: 1,&#10;            padding: '12px 60px',&#10;            flexDirection: 'column',&#10;            gap: 10,&#10;        }}&gt;&#10;&#10;            {/* 顶部 — 优先级图例 */}&#10;            &lt;Box style={{&#10;                flexDirection: 'row',&#10;                gap: 14,&#10;                alignItems: 'center',&#10;                paddingBottom: 8,&#10;                borderBottom: '1px solid #E2E8F0',&#10;            }}&gt;&#10;                &lt;Box style={{ flexDirection: 'row', alignItems: 'center', gap: 6 }}&gt;&#10;                    &lt;Box style={{ width: 12, height: 12, borderRadius: 2, background: '#EF4444' }} /&gt;&#10;                    &lt;Text style={{ fontSize: 13, color: '#1A1A1A', fontWeight: 'bold' }}&gt;L0 · 安全禁令（一票否决）&lt;/Text&gt;&#10;                &lt;/Box&gt;&#10;                &lt;Box style={{ flexDirection: 'row', alignItems: 'center', gap: 6 }}&gt;&#10;                    &lt;Box style={{ width: 12, height: 12, borderRadius: 2, background: '#F97316' }} /&gt;&#10;                    &lt;Text style={{ fontSize: 13, color: '#1A1A1A', fontWeight: 'bold' }}&gt;L1 · 硬约束（必须遵守）&lt;/Text&gt;&#10;                &lt;/Box&gt;&#10;                &lt;Box style={{ flexDirection: 'row', alignItems: 'center', gap: 6 }}&gt;&#10;                    &lt;Box style={{ width: 12, height: 12, borderRadius: 2, background: '#06B6D4' }} /&gt;&#10;                    &lt;Text style={{ fontSize: 13, color: '#1A1A1A', fontWeight: 'bold' }}&gt;L2 · 局部经济（场站内部）&lt;/Text&gt;&#10;                &lt;/Box&gt;&#10;                &lt;Box style={{ flexDirection: 'row', alignItems: 'center', gap: 6 }}&gt;&#10;                    &lt;Box style={{ width: 12, height: 12, borderRadius: 2, background: '#3B82F6' }} /&gt;&#10;                    &lt;Text style={{ fontSize: 13, color: '#1A1A1A', fontWeight: 'bold' }}&gt;L3 · 全局经济（系统级优化）&lt;/Text&gt;&#10;                &lt;/Box&gt;&#10;                &lt;Box style={{ flex: 1 }} /&gt;&#10;                &lt;Text style={{ fontSize: 12, color: '#64748B', fontStyle: 'italic', fontWeight: 'bold' }}&gt;&#10;                    原理：分层反映&quot;破坏后果的不可逆性&quot;——L0 一旦违反电池报废，L3 违反最多少赚&#10;                &lt;/Text&gt;&#10;            &lt;/Box&gt;&#10;&#10;            {/* 9 张策略卡 — 3×3 */}&#10;            &lt;Box style={{ flex: 1, flexDirection: 'column', gap: 8 }}&gt;&#10;&#10;                {/* 第 1 行 */}&#10;                &lt;Box style={{ flex: 1, flexDirection: 'row', gap: 8 }}&gt;&#10;                    {/* S01 BMS 禁放/禁充 */}&#10;                    &lt;Box style={{ flex: 1, padding: '10px 14px', background: '#FEF2F2', borderRadius: 8, borderLeft: '4px solid #EF4444' }}&gt;&#10;                        &lt;Text style={{ fontSize: 12, color: '#EF4444', fontWeight: 'bold', letterSpacing: 1 }}&gt;L0 · S01&lt;/Text&gt;&#10;                        &lt;Text style={{ fontSize: 15, fontWeight: 'bold', color: '#1A1A1A', marginTop: 4 }}&gt;BMS 禁放/禁充&lt;/Text&gt;&#10;                        &lt;Text style={{ fontSize: 12, color: '#475569', marginTop: 4, lineHeight: 1.45 }}&gt;&#10;                            &lt;Text style={{ fontWeight: 'bold', color: '#B91C1C' }}&gt;意志：&lt;/Text&gt;电池本身的物理边界——SOC 过低禁放 / 过高禁充 / 电压过高禁放&#10;                        &lt;/Text&gt;&#10;                        &lt;Text style={{ fontSize: 12, color: '#64748B', marginTop: 2, lineHeight: 1.45, fontStyle: 'italic' }}&gt;&#10;                            这是电池求救信号，别的策略都别扯&#10;                        &lt;/Text&gt;&#10;                    &lt;/Box&gt;&#10;&#10;                    {/* S02 BMS 降功率 */}&#10;                    &lt;Box style={{ flex: 1, padding: '10px 14px', background: '#FFF7ED', borderRadius: 8, borderLeft: '4px solid #F97316' }}&gt;&#10;                        &lt;Text style={{ fontSize: 12, color: '#F97316', fontWeight: 'bold', letterSpacing: 1 }}&gt;L1 · S02&lt;/Text&gt;&#10;                        &lt;Text style={{ fontSize: 15, fontWeight: 'bold', color: '#1A1A1A', marginTop: 4 }}&gt;BMS 降功率&lt;/Text&gt;&#10;                        &lt;Text style={{ fontSize: 12, color: '#475569', marginTop: 4, lineHeight: 1.45 }}&gt;&#10;                            &lt;Text style={{ fontWeight: 'bold', color: '#9A3412' }}&gt;意志：&lt;/Text&gt;电芯温度高/SOC 临界——请你&quot;少放点&quot;，但不要完全停&#10;                        &lt;/Text&gt;&#10;                        &lt;Text style={{ fontSize: 12, color: '#64748B', marginTop: 2, lineHeight: 1.45, fontStyle: 'italic' }}&gt;&#10;                            比 S01 弱一点，是软警告&#10;                        &lt;/Text&gt;&#10;                    &lt;/Box&gt;&#10;&#10;                    {/* S03 变压器限容 */}&#10;                    &lt;Box style={{ flex: 1, padding: '10px 14px', background: '#FFF7ED', borderRadius: 8, borderLeft: '4px solid #F97316' }}&gt;&#10;                        &lt;Text style={{ fontSize: 12, color: '#F97316', fontWeight: 'bold', letterSpacing: 1 }}&gt;L1 · S03&lt;/Text&gt;&#10;                        &lt;Text style={{ fontSize: 15, fontWeight: 'bold', color: '#1A1A1A', marginTop: 4 }}&gt;变压器/进线 限容&lt;/Text&gt;&#10;                        &lt;Text style={{ fontSize: 12, color: '#475569', marginTop: 4, lineHeight: 1.45 }}&gt;&#10;                            &lt;Text style={{ fontWeight: 'bold', color: '#9A3412' }}&gt;意志：&lt;/Text&gt;变压器是个硬天花板，PCS 加上负荷不能越过它&#10;                        &lt;/Text&gt;&#10;                        &lt;Text style={{ fontSize: 12, color: '#64748B', marginTop: 2, lineHeight: 1.45, fontStyle: 'italic' }}&gt;&#10;                            这是电网物理约束，触发了要罚款&#10;                        &lt;/Text&gt;&#10;                    &lt;/Box&gt;&#10;                &lt;/Box&gt;&#10;&#10;                {/* 第 2 行 */}&#10;                &lt;Box style={{ flex: 1, flexDirection: 'row', gap: 8 }}&gt;&#10;                    {/* S04 需量管理 */}&#10;                    &lt;Box style={{ flex: 1, padding: '10px 14px', background: '#ECFEFF', borderRadius: 8, borderLeft: '4px solid #06B6D4' }}&gt;&#10;                        &lt;Text style={{ fontSize: 12, color: '#06B6D4', fontWeight: 'bold', letterSpacing: 1 }}&gt;L2 · S04&lt;/Text&gt;&#10;                        &lt;Text style={{ fontSize: 15, fontWeight: 'bold', color: '#1A1A1A', marginTop: 4 }}&gt;需量管理&lt;/Text&gt;&#10;                        &lt;Text style={{ fontSize: 12, color: '#475569', marginTop: 4, lineHeight: 1.45 }}&gt;&#10;                            &lt;Text style={{ fontWeight: 'bold', color: '#0E7490' }}&gt;意志：&lt;/Text&gt;本月最高需量不能超——超了要按&quot;最大需量&quot;计基本电费&#10;                        &lt;/Text&gt;&#10;                        &lt;Text style={{ fontSize: 12, color: '#64748B', marginTop: 2, lineHeight: 1.45, fontStyle: 'italic' }}&gt;&#10;                            是&quot;经济型&quot;诉求，但已经影响实际功率&#10;                        &lt;/Text&gt;&#10;                    &lt;/Box&gt;&#10;&#10;                    {/* S05 防逆流 */}&#10;                    &lt;Box style={{ flex: 1, padding: '10px 14px', background: '#ECFEFF', borderRadius: 8, borderLeft: '4px solid #06B6D4' }}&gt;&#10;                        &lt;Text style={{ fontSize: 12, color: '#06B6D4', fontWeight: 'bold', letterSpacing: 1 }}&gt;L2 · S05&lt;/Text&gt;&#10;                        &lt;Text style={{ fontSize: 15, fontWeight: 'bold', color: '#1A1A1A', marginTop: 4 }}&gt;防逆流&lt;/Text&gt;&#10;                        &lt;Text style={{ fontSize: 12, color: '#475569', marginTop: 4, lineHeight: 1.45 }}&gt;&#10;                            &lt;Text style={{ fontWeight: 'bold', color: '#0E7490' }}&gt;意志：&lt;/Text&gt;当前不能向电网送电（合同不允许）&#10;                        &lt;/Text&gt;&#10;                        &lt;Text style={{ fontSize: 12, color: '#64748B', marginTop: 2, lineHeight: 1.45, fontStyle: 'italic' }}&gt;&#10;                            是合同条款，不是物理硬卡，仍属&quot;业务约束&quot;&#10;                        &lt;/Text&gt;&#10;                    &lt;/Box&gt;&#10;&#10;                    {/* S06 光伏平抑 */}&#10;                    &lt;Box style={{ flex: 1, padding: '10px 14px', background: '#ECFEFF', borderRadius: 8, borderLeft: '4px solid #06B6D4' }}&gt;&#10;                        &lt;Text style={{ fontSize: 12, color: '#06B6D4', fontWeight: 'bold', letterSpacing: 1 }}&gt;L2 · S06&lt;/Text&gt;&#10;                        &lt;Text style={{ fontSize: 15, fontWeight: 'bold', color: '#1A1A1A', marginTop: 4 }}&gt;光伏出力平抑&lt;/Text&gt;&#10;                        &lt;Text style={{ fontSize: 12, color: '#475569', marginTop: 4, lineHeight: 1.45 }}&gt;&#10;                            &lt;Text style={{ fontWeight: 'bold', color: '#0E7490' }}&gt;意志：&lt;/Text&gt;云来了光伏别掉太狠，余电优先充电&#10;                        &lt;/Text&gt;&#10;                        &lt;Text style={{ fontSize: 12, color: '#64748B', marginTop: 2, lineHeight: 1.45, fontStyle: 'italic' }}&gt;&#10;                            平抑上送功率波动，给电网减扰&#10;                        &lt;/Text&gt;&#10;                    &lt;/Box&gt;&#10;                &lt;/Box&gt;&#10;&#10;                {/* 第 3 行 */}&#10;                &lt;Box style={{ flex: 1, flexDirection: 'row', gap: 8 }}&gt;&#10;                    {/* S07 峰谷套利 */}&#10;                    &lt;Box style={{ flex: 1, padding: '10px 14px', background: '#EFF6FF', borderRadius: 8, borderLeft: '4px solid #3B82F6' }}&gt;&#10;                        &lt;Text style={{ fontSize: 12, color: '#3B82F6', fontWeight: 'bold', letterSpacing: 1 }}&gt;L3 · S07&lt;/Text&gt;&#10;                        &lt;Text style={{ fontSize: 15, fontWeight: 'bold', color: '#1A1A1A', marginTop: 4 }}&gt;峰谷套利&lt;/Text&gt;&#10;                        &lt;Text style={{ fontSize: 12, color: '#475569', marginTop: 4, lineHeight: 1.45 }}&gt;&#10;                            &lt;Text style={{ fontWeight: 'bold', color: '#1E40AF' }}&gt;意志：&lt;/Text&gt;谷时充、峰时放，赚分时电价差&#10;                        &lt;/Text&gt;&#10;                        &lt;Text style={{ fontSize: 12, color: '#64748B', marginTop: 2, lineHeight: 1.45, fontStyle: 'italic' }}&gt;&#10;                            全局最优类，先确定就能量价时空 4 维规划&#10;                        &lt;/Text&gt;&#10;                    &lt;/Box&gt;&#10;&#10;                    {/* S08 动态优化 */}&#10;                    &lt;Box style={{ flex: 1, padding: '10px 14px', background: '#EFF6FF', borderRadius: 8, borderLeft: '4px solid #3B82F6' }}&gt;&#10;                        &lt;Text style={{ fontSize: 12, color: '#3B82F6', fontWeight: 'bold', letterSpacing: 1 }}&gt;L3 · S08&lt;/Text&gt;&#10;                        &lt;Text style={{ fontSize: 15, fontWeight: 'bold', color: '#1A1A1A', marginTop: 4 }}&gt;动态预测优化&lt;/Text&gt;&#10;                        &lt;Text style={{ fontSize: 12, color: '#475569', marginTop: 4, lineHeight: 1.45 }}&gt;&#10;                            &lt;Text style={{ fontWeight: 'bold', color: '#1E40AF' }}&gt;意志：&lt;/Text&gt;结合负荷预测、光伏预测、价表，每 15 分钟重排一次计划&#10;                        &lt;/Text&gt;&#10;                        &lt;Text style={{ fontSize: 12, color: '#64748B', marginTop: 2, lineHeight: 1.45, fontStyle: 'italic' }}&gt;&#10;                            是 S07 的&quot;升级版&quot;，但同样属经济层&#10;                        &lt;/Text&gt;&#10;                    &lt;/Box&gt;&#10;&#10;                    {/* S09 需求响应 */}&#10;                    &lt;Box style={{ flex: 1, padding: '10px 14px', background: '#EFF6FF', borderRadius: 8, borderLeft: '4px solid #3B82F6' }}&gt;&#10;                        &lt;Text style={{ fontSize: 12, color: '#3B82F6', fontWeight: 'bold', letterSpacing: 1 }}&gt;L3 · S09&lt;/Text&gt;&#10;                        &lt;Text style={{ fontSize: 15, fontWeight: 'bold', color: '#1A1A1A', marginTop: 4 }}&gt;需求响应 DR&lt;/Text&gt;&#10;                        &lt;Text style={{ fontSize: 12, color: '#475569', marginTop: 4, lineHeight: 1.45 }}&gt;&#10;                            &lt;Text style={{ fontWeight: 'bold', color: '#1E40AF' }}&gt;意志：&lt;/Text&gt;电网下达削峰指令——按指令容量下调负荷，事后拿响应补贴&#10;                        &lt;/Text&gt;&#10;                        &lt;Text style={{ fontSize: 12, color: '#64748B', marginTop: 2, lineHeight: 1.45, fontStyle: 'italic' }}&gt;&#10;                            &quot;外部订单&quot;——但仍是经济层的意志表达&#10;                        &lt;/Text&gt;&#10;                    &lt;/Box&gt;&#10;                &lt;/Box&gt;&#10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1 交付 = 9 个策略的&quot;业务边界清单&quot;，不写实现，只定义身份&#10;            &lt;/Text&gt;&#10;            &lt;Text style={{ fontSize: 14, color: '#94A3B8' }}&gt;04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4752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周期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1 · STRATEGY INVENTORY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47529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个业务意志的边界·不是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段代码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087100" y="685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P04 / 11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876300"/>
            <a:ext cx="11049000" cy="247650"/>
          </a:xfrm>
          <a:custGeom>
            <a:pathLst>
              <a:path w="1160" h="26">
                <a:moveTo>
                  <a:pt x="0" y="25"/>
                </a:moveTo>
                <a:lnTo>
                  <a:pt x="1160" y="25"/>
                </a:lnTo>
                <a:lnTo>
                  <a:pt x="1160" y="26"/>
                </a:lnTo>
                <a:lnTo>
                  <a:pt x="0" y="26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57150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33425" y="8763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L0 ·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安全禁令（一票否决）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2295525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457450" y="876300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L1 ·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硬约束（必须遵守）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3905250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067175" y="8763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L2 ·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局部经济（场站内部）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629275" y="895350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91200" y="87630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L3 ·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全局经济（系统级优化）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610475" y="885825"/>
            <a:ext cx="401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i="1">
                <a:solidFill>
                  <a:srgbClr val="64748B"/>
                </a:solidFill>
                <a:latin typeface="Microsoft YaHei"/>
                <a:ea typeface="Microsoft YaHei"/>
              </a:rPr>
              <a:t>原理：分层反映</a:t>
            </a:r>
            <a:r>
              <a:rPr lang="en-US" sz="900" b="1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b="1" i="1">
                <a:solidFill>
                  <a:srgbClr val="64748B"/>
                </a:solidFill>
                <a:latin typeface="Microsoft YaHei"/>
                <a:ea typeface="Microsoft YaHei"/>
              </a:rPr>
              <a:t>破坏后果的不可逆性</a:t>
            </a:r>
            <a:r>
              <a:rPr lang="en-US" sz="900" b="1" i="1">
                <a:solidFill>
                  <a:srgbClr val="64748B"/>
                </a:solidFill>
                <a:latin typeface="Microsoft YaHei"/>
                <a:ea typeface="Microsoft YaHei"/>
              </a:rPr>
              <a:t>"——L0 </a:t>
            </a:r>
            <a:r>
              <a:rPr lang="zh-CN" sz="900" b="1" i="1">
                <a:solidFill>
                  <a:srgbClr val="64748B"/>
                </a:solidFill>
                <a:latin typeface="Microsoft YaHei"/>
                <a:ea typeface="Microsoft YaHei"/>
              </a:rPr>
              <a:t>一旦违反电池报废，</a:t>
            </a:r>
            <a:r>
              <a:rPr lang="en-US" sz="900" b="1" i="1">
                <a:solidFill>
                  <a:srgbClr val="64748B"/>
                </a:solidFill>
                <a:latin typeface="Microsoft YaHei"/>
                <a:ea typeface="Microsoft YaHei"/>
              </a:rPr>
              <a:t>L3 </a:t>
            </a:r>
            <a:r>
              <a:rPr lang="zh-CN" sz="900" b="1" i="1">
                <a:solidFill>
                  <a:srgbClr val="64748B"/>
                </a:solidFill>
                <a:latin typeface="Microsoft YaHei"/>
                <a:ea typeface="Microsoft YaHei"/>
              </a:rPr>
              <a:t>违反最多少赚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1209675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09600" y="1209675"/>
            <a:ext cx="3629025" cy="1714500"/>
          </a:xfrm>
          <a:custGeom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2950" y="13049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EF4444"/>
                </a:solidFill>
                <a:latin typeface="Microsoft YaHei"/>
                <a:ea typeface="Microsoft YaHei"/>
              </a:rPr>
              <a:t>L0 · S01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2950" y="1485900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禁放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禁充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42950" y="1695450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电池本身的物理边界——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SOC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过低禁放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过高禁充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电压过高禁放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42950" y="211455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这是电池求救信号，别的策略都别扯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314825" y="1209675"/>
            <a:ext cx="3638550" cy="171450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4314825" y="1209675"/>
            <a:ext cx="3638550" cy="1714500"/>
          </a:xfrm>
          <a:custGeom>
            <a:pathLst>
              <a:path w="382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448175" y="1304925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97316"/>
                </a:solidFill>
                <a:latin typeface="Microsoft YaHei"/>
                <a:ea typeface="Microsoft YaHei"/>
              </a:rPr>
              <a:t>L1 · S02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448175" y="148590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BMS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降功率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448175" y="1695450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电芯温度高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/SOC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临界——请你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少放点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，但不要完全停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448175" y="19145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比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 S01 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弱一点，是软警告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8029575" y="1209675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8029575" y="1209675"/>
            <a:ext cx="3629025" cy="1714500"/>
          </a:xfrm>
          <a:custGeom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162925" y="13049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97316"/>
                </a:solidFill>
                <a:latin typeface="Microsoft YaHei"/>
                <a:ea typeface="Microsoft YaHei"/>
              </a:rPr>
              <a:t>L1 · S03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162925" y="1485900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变压器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进线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限容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162925" y="169545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变压器是个硬天花板，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PCS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加上负荷不能越过它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162925" y="19145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这是电网物理约束，触发了要罚款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3000375"/>
            <a:ext cx="3629025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609600" y="3000375"/>
            <a:ext cx="3629025" cy="1514475"/>
          </a:xfrm>
          <a:custGeom>
            <a:pathLst>
              <a:path w="381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2950" y="30956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6B6D4"/>
                </a:solidFill>
                <a:latin typeface="Microsoft YaHei"/>
                <a:ea typeface="Microsoft YaHei"/>
              </a:rPr>
              <a:t>L2 · S04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42950" y="3276600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42950" y="348615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本月最高需量不能超——超了要按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最大需量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计基本电费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2950" y="37052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经济型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诉求，但已经影响实际功率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314825" y="3000375"/>
            <a:ext cx="3638550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4314825" y="3000375"/>
            <a:ext cx="3638550" cy="1514475"/>
          </a:xfrm>
          <a:custGeom>
            <a:pathLst>
              <a:path w="382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448175" y="3095625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6B6D4"/>
                </a:solidFill>
                <a:latin typeface="Microsoft YaHei"/>
                <a:ea typeface="Microsoft YaHei"/>
              </a:rPr>
              <a:t>L2 · S05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448175" y="327660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448175" y="3486150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当前不能向电网送电（合同不允许）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448175" y="37052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是合同条款，不是物理硬卡，仍属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业务约束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029575" y="3000375"/>
            <a:ext cx="3629025" cy="1514475"/>
          </a:xfrm>
          <a:prstGeom prst="roundRect">
            <a:avLst>
              <a:gd name="adj" fmla="val 5031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8029575" y="3000375"/>
            <a:ext cx="3629025" cy="1514475"/>
          </a:xfrm>
          <a:custGeom>
            <a:pathLst>
              <a:path w="381" h="159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55"/>
                </a:lnTo>
                <a:cubicBezTo>
                  <a:pt x="4" y="157"/>
                  <a:pt x="5" y="159"/>
                  <a:pt x="7" y="159"/>
                </a:cubicBezTo>
                <a:cubicBezTo>
                  <a:pt x="3" y="159"/>
                  <a:pt x="0" y="155"/>
                  <a:pt x="0" y="1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162925" y="30956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6B6D4"/>
                </a:solidFill>
                <a:latin typeface="Microsoft YaHei"/>
                <a:ea typeface="Microsoft YaHei"/>
              </a:rPr>
              <a:t>L2 · S06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162925" y="3276600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光伏出力平抑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162925" y="348615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云来了光伏别掉太狠，余电优先充电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162925" y="37052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平抑上送功率波动，给电网减扰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4591050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09600" y="4591050"/>
            <a:ext cx="3629025" cy="1714500"/>
          </a:xfrm>
          <a:custGeom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42950" y="4686300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3B82F6"/>
                </a:solidFill>
                <a:latin typeface="Microsoft YaHei"/>
                <a:ea typeface="Microsoft YaHei"/>
              </a:rPr>
              <a:t>L3 · S07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2950" y="48672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42950" y="50768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谷时充、峰时放，赚分时电价差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42950" y="5295900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全局最优类，先确定就能量价时空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维规划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314825" y="4591050"/>
            <a:ext cx="3638550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4314825" y="4591050"/>
            <a:ext cx="3638550" cy="1714500"/>
          </a:xfrm>
          <a:custGeom>
            <a:pathLst>
              <a:path w="382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448175" y="4686300"/>
            <a:ext cx="3333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3B82F6"/>
                </a:solidFill>
                <a:latin typeface="Microsoft YaHei"/>
                <a:ea typeface="Microsoft YaHei"/>
              </a:rPr>
              <a:t>L3 · S08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448175" y="486727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动态预测优化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448175" y="507682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结合负荷预测、光伏预测、价表，每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15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分钟重排一次计划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48175" y="5295900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 S07 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的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升级版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，但同样属经济层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29575" y="4591050"/>
            <a:ext cx="3629025" cy="171450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8029575" y="4591050"/>
            <a:ext cx="3629025" cy="1714500"/>
          </a:xfrm>
          <a:custGeom>
            <a:pathLst>
              <a:path w="381" h="18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76"/>
                </a:lnTo>
                <a:cubicBezTo>
                  <a:pt x="4" y="178"/>
                  <a:pt x="5" y="180"/>
                  <a:pt x="7" y="180"/>
                </a:cubicBezTo>
                <a:cubicBezTo>
                  <a:pt x="3" y="180"/>
                  <a:pt x="0" y="176"/>
                  <a:pt x="0" y="17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62925" y="4686300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3B82F6"/>
                </a:solidFill>
                <a:latin typeface="Microsoft YaHei"/>
                <a:ea typeface="Microsoft YaHei"/>
              </a:rPr>
              <a:t>L3 · S09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62925" y="4867275"/>
            <a:ext cx="3324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需求响应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DR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162925" y="5076825"/>
            <a:ext cx="33242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意志：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电网下达削峰指令——按指令容量下调负荷，事后拿响应补贴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62925" y="54959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外部订单</a:t>
            </a: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"——</a:t>
            </a: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但仍是经济层的意志表达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= 9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个策略的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业务边界清单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，不写实现，只定义身份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1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0px 60px 0', height: 56 }}&gt;&#10;            &lt;Box style={{ flexDirection: 'row', alignItems: 'flex-end', justifyContent: 'space-between' }}&gt;&#10;                &lt;Box&gt;&#10;                    &lt;Text style={{ fontSize: 16, color: '#06B6D4', fontWeight: 'bold', letterSpacing: 2 }}&gt;&#10;                        周期 2 · COMMON LANGUAGE&#10;                    &lt;/Text&gt;&#10;                    &lt;Text style={{ fontSize: 26, fontWeight: 'bold', color: '#1A1A1A', marginTop: 4 }}&gt;&#10;                        让 9 个不同意志能用一句话说完自己&#10;                    &lt;/Text&gt;&#10;                &lt;/Box&gt;&#10;                &lt;Text style={{ fontSize: 14, color: '#94A3B8' }}&gt;P05 / 11&lt;/Text&gt;&#10;            &lt;/Box&gt;&#10;        &lt;/Box&gt;&#10;&#10;        {/* B 区：左 — 9 个不能比较的样态；右 — 共同语言 */}&#10;        &lt;Box style={{&#10;            flex: 1,&#10;            padding: '4px 60px 0',&#10;            flexDirection: 'row',&#10;            gap: 24,&#10;        }}&gt;&#10;&#10;            {/* 左半：混乱状态 */}&#10;            &lt;Box style={{ flex: 45, flexDirection: 'column' }}&gt;&#10;                &lt;Box style={{&#10;                    padding: '12px 16px',&#10;                    background: '#FEF2F2',&#10;                    borderRadius: 8,&#10;                    borderLeft: '4px solid #EF4444',&#10;                    marginBottom: 10,&#10;                }}&gt;&#10;                    &lt;Text style={{ fontSize: 13, color: '#EF4444', fontWeight: 'bold', letterSpacing: 1.5 }}&gt;&#10;                        没有共同语言之前&#10;                    &lt;/Text&gt;&#10;                    &lt;Text style={{ fontSize: 13, color: '#1A1A1A', marginTop: 6, lineHeight: 1.5 }}&gt;&#10;                        9 个策略各说各话，仲裁器看不懂——&quot;到底能不能放 100 千瓦&quot;，根本无从下手&#10;                    &lt;/Text&gt;&#10;                &lt;/Box&gt;&#10;&#10;                &lt;Box style={{ padding: '0 4px' }}&gt;&#10;                    {/* 9 个乱状 */}&#10;                    {[&#10;                        { id: 'S01', says: '&quot;SOC 28%，禁放&quot;', color: '#EF4444' },&#10;                        { id: 'S02', says: '&quot;降一降功率，限到 80kW&quot;', color: '#F97316' },&#10;                        { id: 'S03', says: '&quot;变压器 250kW 上限&quot;', color: '#F97316' },&#10;                        { id: 'S04', says: '&quot;本月还剩 60kW 余度&quot;', color: '#06B6D4' },&#10;                        { id: 'S05', says: '&quot;当前不能向电网送电&quot;', color: '#06B6D4' },&#10;                        { id: 'S06', says: '&quot;光伏波动大，消纳为重&quot;', color: '#06B6D4' },&#10;                        { id: 'S07', says: '&quot;现在是峰时，必须放&quot;', color: '#3B82F6' },&#10;                        { id: 'S08', says: '&quot;预测下一时谷，建议放缓&quot;', color: '#3B82F6' },&#10;                        { id: 'S09', says: '&quot;电网下达削峰 50kW 指令&quot;', color: '#3B82F6' },&#10;                    ].map((row, idx) =&gt; (&#10;                        &lt;Box key={idx} style={{&#10;                            flexDirection: 'row',&#10;                            alignItems: 'center',&#10;                            padding: '6px 0',&#10;                            borderBottom: '1px dashed #E2E8F0',&#10;                        }}&gt;&#10;                            &lt;Box style={{&#10;                                width: 40, padding: '3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2,&#10;                                    fontWeight: 'bold', textAlign: 'center',&#10;                                }}&gt;{row.id}&lt;/Text&gt;&#10;                            &lt;/Box&gt;&#10;                            &lt;Text style={{ fontSize: 13, color: '#1A1A1A', marginLeft: 12 }}&gt;&#10;                                {row.says}&#10;                            &lt;/Text&gt;&#10;                        &lt;/Box&gt;&#10;                    ))}&#10;                &lt;/Box&gt;&#10;&#10;                &lt;Box style={{&#10;                    marginTop: 10,&#10;                    padding: '10px 14px',&#10;                    background: '#F8FAFC',&#10;                    borderRadius: 6,&#10;                    border: '1px dashed #CBD5E1',&#10;                }}&gt;&#10;                    &lt;Text style={{ fontSize: 12, color: '#64748B', lineHeight: 1.5, fontWeight: 'bold' }}&gt;&#10;                        问题：9 条话术之间没有公约数，没法做&quot;交集/并集&quot;&#10;                    &lt;/Text&gt;&#10;                &lt;/Box&gt;&#10;            &lt;/Box&gt;&#10;&#10;            {/* 中间分隔 — 箭头 */}&#10;            &lt;Box style={{&#10;                width: 40, flexDirection: 'column',&#10;                alignItems: 'center', justifyContent: 'center',&#10;            }}&gt;&#10;                &lt;svg width='100%' height='80' viewBox='0 0 40 80'&gt;&#10;                    &lt;line x1='6' y1='40' x2='30' y2='40' stroke='#06B6D4' strokeWidth='3' /&gt;&#10;                    &lt;polygon points='26,34 26,46 38,40' fill='#06B6D4' /&gt;&#10;                    &lt;text x='20' y='22' textAnchor='middle' fill='#06B6D4' fontSize='11' fontFamily='Source Han Sans SC' fontWeight='bold'&gt;&#10;                        P2 翻译&#10;                    &lt;/text&gt;&#10;                &lt;/svg&gt;&#10;            &lt;/Box&gt;&#10;&#10;            {/* 右半：共同语言 */}&#10;            &lt;Box style={{ flex: 50, flexDirection: 'column' }}&gt;&#10;                &lt;Box style={{&#10;                    padding: '12px 16px',&#10;                    background: '#ECFEFF',&#10;                    borderRadius: 8,&#10;                    borderLeft: '4px solid #06B6D4',&#10;                    marginBottom: 10,&#10;                }}&gt;&#10;                    &lt;Text style={{ fontSize: 13, color: '#06B6D4', fontWeight: 'bold', letterSpacing: 1.5 }}&gt;&#10;                        共同语言：功率区间&#10;                    &lt;/Text&gt;&#10;                    &lt;Text style={{ fontSize: 13, color: '#1A1A1A', marginTop: 6, lineHeight: 1.5 }}&gt;&#10;                        规定每人都只能这样回答仲裁器——&lt;Text style={{ fontWeight: 'bold', color: '#0E7490' }}&gt;我能接受的功率区间 + 我的最佳点 + 我的权重&lt;/Text&gt;&#10;                    &lt;/Text&gt;&#10;                &lt;/Box&gt;&#10;&#10;                {/* 区间表示 */}&#10;                &lt;Box style={{&#10;                    padding: 14,&#10;                    background: '#F0F9FF',&#10;                    borderRadius: 8,&#10;                    border: '1px solid #BFDBFE',&#10;                }}&gt;&#10;                    &lt;Text style={{ fontSize: 13, color: '#0E7490', fontWeight: 'bold', marginBottom: 10 }}&gt;&#10;                        每个策略的发言模板&#10;                    &lt;/Text&gt;&#10;&#10;                    &lt;Box style={{&#10;                        padding: '10px 14px',&#10;                        background: '#FFFFFF',&#10;                        borderRadius: 8,&#10;                        border: '2px solid #06B6D4',&#10;                        marginBottom: 12,&#10;                    }}&gt;&#10;                        &lt;Text style={{ fontSize: 14, fontWeight: 'bold', color: '#0E7490', fontFamily: 'JetBrains Mono, monospace' }}&gt;&#10;                            Region(p_lower, p_upper, p_desired, weight)&#10;                        &lt;/Text&gt;&#10;                        &lt;Text style={{ fontSize: 12, color: '#475569', marginTop: 6, lineHeight: 1.5 }}&gt;&#10;                            p_lower ≤ P_bat ≤ p_upper；最佳点 p_desired；权重 weight&#10;                        &lt;/Text&gt;&#10;                    &lt;/Box&gt;&#10;&#10;                    {/* 9 个翻译后 */}&#10;                    &lt;Text style={{ fontSize: 13, color: '#0E7490', fontWeight: 'bold', marginBottom: 6 }}&gt;&#10;                        翻 译 后&#10;                    &lt;/Text&gt;&#10;                    {[&#10;                        { id: 'S01', color: '#EF4444', region: '[-∞, 0] ∪ [0, 0]', mean: '&quot;只能 0&quot;', w: 'W=10' },&#10;                        { id: 'S02', color: '#F97316', region: '[-80, +80]', mean: '&quot;正负 80&quot;', w: 'W=8' },&#10;                        { id: 'S03', color: '#F97316', region: '[-200, +200]', mean: '&quot;正负 200&quot;', w: 'W=10' },&#10;                        { id: 'S04', color: '#06B6D4', region: '[-60, +60]', mean: '&quot;留 60 度&quot;', w: 'W=6' },&#10;                        { id: 'S05', color: '#06B6D4', region: '[-∞, 0]', mean: '&quot;只能吸收&quot;', w: 'W=8' },&#10;                        { id: 'S06', color: '#06B6D4', region: '[-100, +100]', mean: '&quot;余电消纳&quot;', w: 'W=4' },&#10;                        { id: 'S07', color: '#3B82F6', region: '[+120, +300]', mean: '&quot;峰时放&quot;', w: 'W=5' },&#10;                        { id: 'S08', color: '#3B82F6', region: '[+50, +200]', mean: '&quot;预测建议&quot;', w: 'W=3' },&#10;                        { id: 'S09', color: '#3B82F6', region: '[-150, 0]', mean: '&quot;削 50&quot;', w: 'W=7' },&#10;                    ].map((row, idx) =&gt; (&#10;                        &lt;Box key={idx} style={{&#10;                            flexDirection: 'row', alignItems: 'center',&#10;                            padding: '5px 0',&#10;                            borderBottom: '1px solid #BAE6FD',&#10;                        }}&gt;&#10;                            &lt;Box style={{&#10;                                width: 36, padding: '3px 0',&#10;                                background: row.color, borderRadius: 4,&#10;                                alignItems: 'center',&#10;                            }}&gt;&#10;                                &lt;Text style={{&#10;                                    color: '#FFFFFF', fontSize: 12,&#10;                                    fontWeight: 'bold', textAlign: 'center',&#10;                                }}&gt;{row.id}&lt;/Text&gt;&#10;                            &lt;/Box&gt;&#10;                            &lt;Text style={{&#10;                                fontSize: 12, color: '#0E7490',&#10;                                fontFamily: 'JetBrains Mono, monospace',&#10;                                marginLeft: 10, width: 180,&#10;                            }}&gt;{row.region}&lt;/Text&gt;&#10;                            &lt;Text style={{ fontSize: 12, color: '#475569', marginLeft: 10, width: 100 }}&gt;&#10;                                {row.mean}&#10;                            &lt;/Text&gt;&#10;                            &lt;Text style={{ fontSize: 12, color: '#94A3B8', marginLeft: 10, fontWeight: 'bold' }}&gt;&#10;                                {row.w}&#10;                            &lt;/Text&gt;&#10;                        &lt;/Box&gt;&#10;                    ))}&#10;                &lt;/Box&gt;&#10;&#10;                &lt;Box style={{&#10;                    marginTop: 10,&#10;                    padding: '10px 14px',&#10;                    background: '#FEF3C7',&#10;                    borderRadius: 6,&#10;                    borderLeft: '3px solid #F59E0B',&#10;                }}&gt;&#10;                    &lt;Text style={{ fontSize: 13, color: '#92400E', lineHeight: 1.5, fontWeight: 'bold' }}&gt;&#10;                        关键原理：区间表示 ≠ 单点&#10;                    &lt;/Text&gt;&#10;                    &lt;Text style={{ fontSize: 12, color: '#92400E', lineHeight: 1.5, marginTop: 4 }}&gt;&#10;                        即便口吻是&quot;应该放 300&quot;，更严格的策略说&quot;最多 200&quot;，结果会被夹到 200。&quot;交集式妥协&quot;才是这层语言的本意——单点只能&quot;选&quot;，区间才能&quot;让&quot;&#10;                    &lt;/Text&gt;&#10;                &lt;/Box&gt;&#10;            &lt;/Box&gt;&#10;&#10;        &lt;/Box&gt;&#10;&#10;        {/* C 区 */}&#10;        &lt;Box style={{&#10;            padding: '0 60px 6px',&#10;            height: 30,&#10;            flexDirection: 'row',&#10;            alignItems: 'center',&#10;            justifyContent: 'space-between',&#10;            borderTop: '1px solid #E2E8F0',&#10;        }}&gt;&#10;            &lt;Text style={{ fontSize: 13, color: '#94A3B8' }}&gt;&#10;                周期 2 交付 = &quot;区间语言&quot;，这是上层推理的最小元&#10;            &lt;/Text&gt;&#10;            &lt;Text style={{ fontSize: 13, color: '#94A3B8' }}&gt;05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1500" y="95250"/>
            <a:ext cx="401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06B6D4"/>
                </a:solidFill>
                <a:latin typeface="Microsoft YaHei"/>
                <a:ea typeface="Microsoft YaHei"/>
              </a:rPr>
              <a:t>周期</a:t>
            </a:r>
            <a:r>
              <a:rPr lang="en-US" sz="1200" b="1" spc="150">
                <a:solidFill>
                  <a:srgbClr val="06B6D4"/>
                </a:solidFill>
                <a:latin typeface="Microsoft YaHei"/>
                <a:ea typeface="Microsoft YaHei"/>
              </a:rPr>
              <a:t> 2 · COMMON LANGUAGE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019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让</a:t>
            </a:r>
            <a:r>
              <a:rPr lang="en-US" sz="195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950" b="1">
                <a:solidFill>
                  <a:srgbClr val="1A1A1A"/>
                </a:solidFill>
                <a:latin typeface="Microsoft YaHei"/>
                <a:ea typeface="Microsoft YaHei"/>
              </a:rPr>
              <a:t>个不同意志能用一句话说完自己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87100" y="4667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P05 / 11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571500"/>
            <a:ext cx="4838700" cy="66675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571500"/>
            <a:ext cx="4838700" cy="666750"/>
          </a:xfrm>
          <a:custGeom>
            <a:pathLst>
              <a:path w="508" h="7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6"/>
                </a:lnTo>
                <a:cubicBezTo>
                  <a:pt x="4" y="68"/>
                  <a:pt x="5" y="70"/>
                  <a:pt x="7" y="70"/>
                </a:cubicBezTo>
                <a:cubicBezTo>
                  <a:pt x="3" y="70"/>
                  <a:pt x="0" y="66"/>
                  <a:pt x="0" y="6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62000" y="685800"/>
            <a:ext cx="4495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没有共同语言之前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2000" y="8953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个策略各说各话，仲裁器看不懂——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到底能不能放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100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千瓦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，根本无从下手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133350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609600" y="13906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95325" y="141922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04900" y="141922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"SOC 28%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，禁放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165735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09600" y="17145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95325" y="17430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S02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04900" y="1743075"/>
            <a:ext cx="147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降一降功率，限到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80kW"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09600" y="198120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09600" y="20383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95325" y="206692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S03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04900" y="20669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变压器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250kW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上限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230505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609600" y="23622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95325" y="23907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S04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04900" y="2390775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本月还剩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60kW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余度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262890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26860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95325" y="271462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S05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04900" y="2714625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当前不能向电网送电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295275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09600" y="30099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95325" y="30384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S06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04900" y="3038475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光伏波动大，消纳为重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09600" y="327660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09600" y="33337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95325" y="336232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S07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04900" y="3362325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现在是峰时，必须放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360045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09600" y="365760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95325" y="36861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S08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4900" y="3686175"/>
            <a:ext cx="1476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预测下一时谷，建议放缓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3924300"/>
            <a:ext cx="4762500" cy="333375"/>
          </a:xfrm>
          <a:custGeom>
            <a:pathLst>
              <a:path w="500" h="35">
                <a:moveTo>
                  <a:pt x="0" y="34"/>
                </a:moveTo>
                <a:lnTo>
                  <a:pt x="500" y="34"/>
                </a:lnTo>
                <a:lnTo>
                  <a:pt x="500" y="35"/>
                </a:lnTo>
                <a:lnTo>
                  <a:pt x="0" y="35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09600" y="3981450"/>
            <a:ext cx="3810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95325" y="401002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S09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04900" y="4010025"/>
            <a:ext cx="1514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电网下达削峰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50kW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指令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71500" y="4343400"/>
            <a:ext cx="4838700" cy="4000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04850" y="4438650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64748B"/>
                </a:solidFill>
                <a:latin typeface="Microsoft YaHei"/>
                <a:ea typeface="Microsoft YaHei"/>
              </a:rPr>
              <a:t>问题：</a:t>
            </a:r>
            <a:r>
              <a:rPr lang="en-US" sz="900" b="1">
                <a:solidFill>
                  <a:srgbClr val="64748B"/>
                </a:solidFill>
                <a:latin typeface="Microsoft YaHei"/>
                <a:ea typeface="Microsoft YaHei"/>
              </a:rPr>
              <a:t>9 </a:t>
            </a:r>
            <a:r>
              <a:rPr lang="zh-CN" sz="900" b="1">
                <a:solidFill>
                  <a:srgbClr val="64748B"/>
                </a:solidFill>
                <a:latin typeface="Microsoft YaHei"/>
                <a:ea typeface="Microsoft YaHei"/>
              </a:rPr>
              <a:t>条话术之间没有公约数，没法做</a:t>
            </a:r>
            <a:r>
              <a:rPr lang="en-US" sz="900" b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64748B"/>
                </a:solidFill>
                <a:latin typeface="Microsoft YaHei"/>
                <a:ea typeface="Microsoft YaHei"/>
              </a:rPr>
              <a:t>交集</a:t>
            </a:r>
            <a:r>
              <a:rPr lang="en-US" sz="900" b="1">
                <a:solidFill>
                  <a:srgbClr val="64748B"/>
                </a:solidFill>
                <a:latin typeface="Microsoft YaHei"/>
                <a:ea typeface="Microsoft YaHei"/>
              </a:rPr>
              <a:t>/</a:t>
            </a:r>
            <a:r>
              <a:rPr lang="zh-CN" sz="900" b="1">
                <a:solidFill>
                  <a:srgbClr val="64748B"/>
                </a:solidFill>
                <a:latin typeface="Microsoft YaHei"/>
                <a:ea typeface="Microsoft YaHei"/>
              </a:rPr>
              <a:t>并集</a:t>
            </a:r>
            <a:r>
              <a:rPr lang="en-US" sz="900" b="1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638800" y="3190875"/>
            <a:ext cx="381000" cy="762000"/>
          </a:xfrm>
          <a:prstGeom prst="rect">
            <a:avLst/>
          </a:prstGeom>
          <a:ln/>
        </p:spPr>
      </p:pic>
      <p:sp>
        <p:nvSpPr>
          <p:cNvPr id="259" name=""/>
          <p:cNvSpPr/>
          <p:nvPr/>
        </p:nvSpPr>
        <p:spPr>
          <a:xfrm rot="0" flipH="0" flipV="0">
            <a:off x="6286500" y="571500"/>
            <a:ext cx="5372100" cy="666750"/>
          </a:xfrm>
          <a:prstGeom prst="roundRect">
            <a:avLst>
              <a:gd name="adj" fmla="val 11429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286500" y="571500"/>
            <a:ext cx="5372100" cy="666750"/>
          </a:xfrm>
          <a:custGeom>
            <a:pathLst>
              <a:path w="564" h="7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6"/>
                </a:lnTo>
                <a:cubicBezTo>
                  <a:pt x="4" y="68"/>
                  <a:pt x="5" y="70"/>
                  <a:pt x="7" y="70"/>
                </a:cubicBezTo>
                <a:cubicBezTo>
                  <a:pt x="3" y="70"/>
                  <a:pt x="0" y="66"/>
                  <a:pt x="0" y="6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38900" y="685800"/>
            <a:ext cx="502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共同语言：功率区间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438900" y="895350"/>
            <a:ext cx="50292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规定每人都只能这样回答仲裁器——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我能接受的功率区间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我的最佳点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我的权重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248400" y="1333500"/>
            <a:ext cx="5372100" cy="4200525"/>
          </a:xfrm>
          <a:prstGeom prst="roundRect">
            <a:avLst>
              <a:gd name="adj" fmla="val 1814"/>
            </a:avLst>
          </a:prstGeom>
          <a:solidFill>
            <a:srgbClr val="F0F9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381750" y="1466850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每个策略的发言模板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381750" y="1714500"/>
            <a:ext cx="51054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515100" y="180975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7490"/>
                </a:solidFill>
                <a:latin typeface="JetBrains Mono"/>
                <a:ea typeface="JetBrains Mono"/>
              </a:rPr>
              <a:t>Region(p_lower, p_upper, p_desired, weight)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515100" y="202882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p_lower ≤ P_bat ≤ p_upper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；最佳点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p_desired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；权重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weight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381750" y="2447925"/>
            <a:ext cx="510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翻</a:t>
            </a:r>
            <a:r>
              <a:rPr lang="en-US" sz="975" b="1">
                <a:solidFill>
                  <a:srgbClr val="0E7490"/>
                </a:solidFill>
                <a:latin typeface="Microsoft YaHei"/>
                <a:ea typeface="Microsoft YaHei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译</a:t>
            </a:r>
            <a:r>
              <a:rPr lang="en-US" sz="975" b="1">
                <a:solidFill>
                  <a:srgbClr val="0E7490"/>
                </a:solidFill>
                <a:latin typeface="Microsoft YaHei"/>
                <a:ea typeface="Microsoft YaHei"/>
              </a:rPr>
              <a:t> </a:t>
            </a:r>
            <a:r>
              <a:rPr lang="zh-CN" sz="975" b="1">
                <a:solidFill>
                  <a:srgbClr val="0E7490"/>
                </a:solidFill>
                <a:latin typeface="Microsoft YaHei"/>
                <a:ea typeface="Microsoft YaHei"/>
              </a:rPr>
              <a:t>后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381750" y="26574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381750" y="27051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448425" y="27336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S01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819900" y="27336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[-∞, 0] ∪ [0, 0]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629650" y="27336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只能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0"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677400" y="273367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W=10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381750" y="29622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6381750" y="30099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448425" y="30384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S02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19900" y="30384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[-80, +80]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629650" y="30384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80"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677400" y="30384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W=8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381750" y="32670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6381750" y="33147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448425" y="33432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S03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19900" y="33432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[-200, +200]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629650" y="33432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200"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9677400" y="334327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W=10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381750" y="35718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381750" y="36195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448425" y="36480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S04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819900" y="36480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[-60, +60]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629650" y="36480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留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60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677400" y="36480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W=6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381750" y="38766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381750" y="39243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448425" y="39528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S05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19900" y="39528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[-∞, 0]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629650" y="39528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只能吸收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677400" y="39528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W=8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381750" y="41814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381750" y="42291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448425" y="42576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S06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819900" y="42576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[-100, +100]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629650" y="42576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余电消纳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677400" y="42576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W=4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381750" y="44862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381750" y="45339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48425" y="45624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S07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19900" y="45624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[+120, +300]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629650" y="45624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峰时放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9677400" y="45624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W=5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381750" y="47910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381750" y="48387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48425" y="48672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S08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19900" y="48672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[+50, +200]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629650" y="48672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预测建议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677400" y="48672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W=3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381750" y="5095875"/>
            <a:ext cx="5105400" cy="314325"/>
          </a:xfrm>
          <a:custGeom>
            <a:pathLst>
              <a:path w="536" h="33">
                <a:moveTo>
                  <a:pt x="0" y="32"/>
                </a:moveTo>
                <a:lnTo>
                  <a:pt x="536" y="32"/>
                </a:lnTo>
                <a:lnTo>
                  <a:pt x="536" y="33"/>
                </a:lnTo>
                <a:lnTo>
                  <a:pt x="0" y="33"/>
                </a:lnTo>
                <a:close/>
              </a:path>
            </a:pathLst>
          </a:custGeom>
          <a:solidFill>
            <a:srgbClr val="BAE6FD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6381750" y="5143500"/>
            <a:ext cx="342900" cy="200025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48425" y="5172075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S09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819900" y="5172075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7490"/>
                </a:solidFill>
                <a:latin typeface="JetBrains Mono"/>
                <a:ea typeface="JetBrains Mono"/>
              </a:rPr>
              <a:t>[-150, 0]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629650" y="51720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50"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677400" y="5172075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94A3B8"/>
                </a:solidFill>
                <a:latin typeface="Microsoft YaHei"/>
                <a:ea typeface="Microsoft YaHei"/>
              </a:rPr>
              <a:t>W=7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276975" y="5629275"/>
            <a:ext cx="5372100" cy="876300"/>
          </a:xfrm>
          <a:prstGeom prst="roundRect">
            <a:avLst>
              <a:gd name="adj" fmla="val 6522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6276975" y="5629275"/>
            <a:ext cx="5372100" cy="876300"/>
          </a:xfrm>
          <a:custGeom>
            <a:pathLst>
              <a:path w="564" h="9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89"/>
                </a:lnTo>
                <a:cubicBezTo>
                  <a:pt x="3" y="90"/>
                  <a:pt x="4" y="92"/>
                  <a:pt x="5" y="92"/>
                </a:cubicBezTo>
                <a:cubicBezTo>
                  <a:pt x="2" y="92"/>
                  <a:pt x="0" y="89"/>
                  <a:pt x="0" y="8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410325" y="5724525"/>
            <a:ext cx="50768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92400E"/>
                </a:solidFill>
                <a:latin typeface="Microsoft YaHei"/>
                <a:ea typeface="Microsoft YaHei"/>
              </a:rPr>
              <a:t>关键原理：区间表示</a:t>
            </a:r>
            <a:r>
              <a:rPr lang="en-US" sz="975" b="1">
                <a:solidFill>
                  <a:srgbClr val="92400E"/>
                </a:solidFill>
                <a:latin typeface="Microsoft YaHei"/>
                <a:ea typeface="Microsoft YaHei"/>
              </a:rPr>
              <a:t> ≠ </a:t>
            </a:r>
            <a:r>
              <a:rPr lang="zh-CN" sz="975" b="1">
                <a:solidFill>
                  <a:srgbClr val="92400E"/>
                </a:solidFill>
                <a:latin typeface="Microsoft YaHei"/>
                <a:ea typeface="Microsoft YaHei"/>
              </a:rPr>
              <a:t>单点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410325" y="5991225"/>
            <a:ext cx="50768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即便口吻是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应该放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300"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，更严格的策略说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最多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200"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，结果会被夹到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 200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。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交集式妥协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才是这层语言的本意——单点只能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选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，区间才能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92400E"/>
                </a:solidFill>
                <a:latin typeface="Microsoft YaHei"/>
                <a:ea typeface="Microsoft YaHei"/>
              </a:rPr>
              <a:t>让</a:t>
            </a:r>
            <a:r>
              <a:rPr lang="en-US" sz="900">
                <a:solidFill>
                  <a:srgbClr val="92400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6572250"/>
            <a:ext cx="12192000" cy="285750"/>
          </a:xfrm>
          <a:custGeom>
            <a:pathLst>
              <a:path w="1280" h="3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6619875"/>
            <a:ext cx="2771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= 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区间语言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，这是上层推理的最小元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1201400" y="661987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30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6, color: '#22C55E', fontWeight: 'bold', letterSpacing: 2 }}&gt;&#10;                        周期 3 · SCHEDULING&#10;                    &lt;/Text&gt;&#10;                    &lt;Text style={{ fontSize: 32, fontWeight: 'bold', color: '#1A1A1A', marginTop: 6 }}&gt;&#10;                        一张调度台：让 9 个能在每个 tick 同时被叫到&#10;                    &lt;/Text&gt;&#10;                &lt;/Box&gt;&#10;                &lt;Text style={{ fontSize: 14, color: '#94A3B8' }}&gt;P06 / 11&lt;/Text&gt;&#10;            &lt;/Box&gt;&#10;        &lt;/Box&gt;&#10;&#10;        {/* B 区：上：调度问题 → 下：调度台设计 */}&#10;        &lt;Box style={{&#10;            flex: 1,&#10;            padding: '12px 60px 0',&#10;            flexDirection: 'column',&#10;            gap: 12,&#10;        }}&gt;&#10;&#10;            {/* 顶部：痛点 */}&#10;            &lt;Box style={{&#10;                padding: '12px 18px',&#10;                background: '#FFF7ED',&#10;                borderRadius: 8,&#10;                borderLeft: '4px solid #F97316',&#10;            }}&gt;&#10;                &lt;Text style={{ fontSize: 13, color: '#9A3412', fontWeight: 'bold', letterSpacing: 1.5 }}&gt;&#10;                    痛 点&#10;                &lt;/Text&gt;&#10;                &lt;Text style={{ fontSize: 14, color: '#1A1A1A', marginTop: 6, lineHeight: 1.5 }}&gt;&#10;                    系统每分钟要问 9 个策略&quot;你意见是什么？&quot;，但有些今天没用上（DR 不发时段，套利不跑周末）、今天有新增的策略。挨个调用既慢又错——必须有&quot;议事厅&quot;统管&#10;                &lt;/Text&gt;&#10;            &lt;/Box&gt;&#10;&#10;            {/* 中部：调度台内部 — 4 个小框 */}&#10;            &lt;Box style={{&#10;                flex: 1,&#10;                background: '#F8FAFC',&#10;                borderRadius: 10,&#10;                border: '1px solid #E2E8F0',&#10;                padding: 16,&#10;                flexDirection: 'row',&#10;                gap: 14,&#10;            }}&gt;&#10;&#10;                {/* 4 件事 */}&#10;                {[&#10;                    {&#10;                        tag: '01',&#10;                        title: '注册表',&#10;                        desc: '&quot;今天席上有这些策略&quot;',&#10;                        detail: '9 个策略注册一次，调度台只认 ID，不关心实现细节。新增/下线策略不需要改仲裁代码',&#10;                        color: '#3B82F6',&#10;                    },&#10;                    {&#10;                        tag: '02',&#10;                        title: '启停表',&#10;                        desc: '&quot;今天这些策略睁眼&quot;',&#10;                        detail: '支持按策略 ID 启停——只勾&quot;今天在场&quot;，未启用的策略权重自动归零，下游自动跳过',&#10;                        color: '#06B6D4',&#10;                    },&#10;                    {&#10;                        tag: '03',&#10;                        title: 'tick 入口',&#10;                        desc: '&quot;开一次会&quot;',&#10;                        detail: '上层只调一次 tick(输入) —— 调度台内部按表并行调用所有启用策略，1 个调用变成 1 个调用',&#10;                        color: '#22C55E',&#10;                    },&#10;                    {&#10;                        tag: '04',&#10;                        title: '结果缓存',&#10;                        desc: '&quot;上次的会议纪要&quot;',&#10;                        detail: '把 9 个发言缓存为 9 个 Region，下游仲裁&quot;看到&quot;的是稳定的快照，不存在反复问导致结果飘移',&#10;                        color: '#F59E0B',&#10;                    },&#10;                ].map((box, idx) =&gt; (&#10;                    &lt;Box key={idx} style={{&#10;                        flex: 1,&#10;                        padding: 14,&#10;                        background: '#FFFFFF',&#10;                        borderRadius: 8,&#10;                        borderTop: '3px solid ' + box.color,&#10;                    }}&gt;&#10;                        &lt;Box style={{ flexDirection: 'row', alignItems: 'center' }}&gt;&#10;                            &lt;Text style={{&#10;                                fontSize: 22, fontWeight: 'bold', color: box.color,&#10;                                fontFamily: 'JetBrains Mono, monospace',&#10;                            }}&gt;&#10;                                {box.tag}&#10;                            &lt;/Text&gt;&#10;                            &lt;Text style={{&#10;                                fontSize: 16, fontWeight: 'bold', color: '#1A1A1A',&#10;                                marginLeft: 8,&#10;                            }}&gt;&#10;                                {box.title}&#10;                            &lt;/Text&gt;&#10;                        &lt;/Box&gt;&#10;                        &lt;Text style={{ fontSize: 13, color: box.color, fontWeight: 'bold', marginTop: 6 }}&gt;&#10;                            {box.desc}&#10;                        &lt;/Text&gt;&#10;                        &lt;Text style={{ fontSize: 12, color: '#475569', marginTop: 6, lineHeight: 1.5 }}&gt;&#10;                            {box.detail}&#10;                        &lt;/Text&gt;&#10;                    &lt;/Box&gt;&#10;                ))}&#10;            &lt;/Box&gt;&#10;&#10;            {/* 底部：上层用什么 */}&#10;            &lt;Box style={{&#10;                padding: '14px 18px',&#10;                background: '#EFF6FF',&#10;                borderRadius: 8,&#10;                borderLeft: '4px solid #3B82F6',&#10;            }}&gt;&#10;                &lt;Text style={{ fontSize: 13, color: '#3B82F6', fontWeight: 'bold', letterSpacing: 1.5 }}&gt;&#10;                    它的位置（上下接口）&#10;                &lt;/Text&gt;&#10;                &lt;Text style={{ fontSize: 13, color: '#1A1A1A', marginTop: 6, lineHeight: 1.5 }}&gt;&#10;                    上游：执行层控制器（04/02/03/01 任何模块）以&quot;tick(数据)&quot;调一次 → 拿到 9 个 Region 列表&#10;                &lt;/Text&gt;&#10;                &lt;Text style={{ fontSize: 13, color: '#1A1A1A', marginTop: 4, lineHeight: 1.5 }}&gt;&#10;                    下游：把这列表交给仲裁器（周期 4），拿到最终 1 个 P_bat，下发 4 个实际控制器&#10;                &lt;/Text&gt;&#10;                &lt;Text style={{ fontSize: 12, color: '#1E40AF', marginTop: 8, lineHeight: 1.5, fontWeight: 'bold' }}&gt;&#10;                    原理：tick 接口是单一的——这让&quot;9 个策略存在与否&quot;对上层完全透明，将来增减策略上层零改动&#10;                &lt;/Text&gt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3 交付 = 调度容器，让上层不必认识每个策略的具体含义&#10;            &lt;/Text&gt;&#10;            &lt;Text style={{ fontSize: 14, color: '#94A3B8' }}&gt;06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6296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22C55E"/>
                </a:solidFill>
                <a:latin typeface="Microsoft YaHei"/>
                <a:ea typeface="Microsoft YaHei"/>
              </a:rPr>
              <a:t>周期</a:t>
            </a:r>
            <a:r>
              <a:rPr lang="en-US" sz="1200" b="1" spc="150">
                <a:solidFill>
                  <a:srgbClr val="22C55E"/>
                </a:solidFill>
                <a:latin typeface="Microsoft YaHei"/>
                <a:ea typeface="Microsoft YaHei"/>
              </a:rPr>
              <a:t> 3 · SCHEDULING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62960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一张调度台：让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个能在每个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tick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同时被叫到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087100" y="685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P06 / 11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09600" y="876300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09600" y="876300"/>
            <a:ext cx="11049000" cy="685800"/>
          </a:xfrm>
          <a:custGeom>
            <a:pathLst>
              <a:path w="1160" h="7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8"/>
                </a:lnTo>
                <a:cubicBezTo>
                  <a:pt x="4" y="70"/>
                  <a:pt x="5" y="72"/>
                  <a:pt x="7" y="72"/>
                </a:cubicBezTo>
                <a:cubicBezTo>
                  <a:pt x="3" y="72"/>
                  <a:pt x="0" y="68"/>
                  <a:pt x="0" y="6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81050" y="9906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9A3412"/>
                </a:solidFill>
                <a:latin typeface="Microsoft YaHei"/>
                <a:ea typeface="Microsoft YaHei"/>
              </a:rPr>
              <a:t>痛</a:t>
            </a:r>
            <a:r>
              <a:rPr lang="en-US" sz="975" b="1" spc="113">
                <a:solidFill>
                  <a:srgbClr val="9A3412"/>
                </a:solidFill>
                <a:latin typeface="Microsoft YaHei"/>
                <a:ea typeface="Microsoft YaHei"/>
              </a:rPr>
              <a:t> </a:t>
            </a:r>
            <a:r>
              <a:rPr lang="zh-CN" sz="975" b="1" spc="113">
                <a:solidFill>
                  <a:srgbClr val="9A3412"/>
                </a:solidFill>
                <a:latin typeface="Microsoft YaHei"/>
                <a:ea typeface="Microsoft YaHei"/>
              </a:rPr>
              <a:t>点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81050" y="1200150"/>
            <a:ext cx="10668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系统每分钟要问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个策略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你意见是什么？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，但有些今天没用上（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DR 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不发时段，套利不跑周末）、今天有新增的策略。挨个调用既慢又错——必须有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议事厅</a:t>
            </a:r>
            <a:r>
              <a:rPr lang="en-US" sz="1050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1A1A1A"/>
                </a:solidFill>
                <a:latin typeface="Microsoft YaHei"/>
                <a:ea typeface="Microsoft YaHei"/>
              </a:rPr>
              <a:t>统管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71500" y="1676400"/>
            <a:ext cx="11049000" cy="3371850"/>
          </a:xfrm>
          <a:prstGeom prst="roundRect">
            <a:avLst>
              <a:gd name="adj" fmla="val 28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723900" y="1857375"/>
            <a:ext cx="2590800" cy="30670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723900" y="1857375"/>
            <a:ext cx="2590800" cy="3067050"/>
          </a:xfrm>
          <a:custGeom>
            <a:pathLst>
              <a:path w="272" h="322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57250" y="199072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B82F6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90625" y="20288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注册表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57250" y="2305050"/>
            <a:ext cx="232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3B82F6"/>
                </a:solidFill>
                <a:latin typeface="Microsoft YaHei"/>
                <a:ea typeface="Microsoft YaHei"/>
              </a:rPr>
              <a:t>今天席上有这些策略</a:t>
            </a: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57250" y="2514600"/>
            <a:ext cx="23241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个策略注册一次，调度台只认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ID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，不关心实现细节。新增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下线策略不需要改仲裁代码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448050" y="1857375"/>
            <a:ext cx="2581275" cy="3067050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3448050" y="1857375"/>
            <a:ext cx="2581275" cy="3067050"/>
          </a:xfrm>
          <a:custGeom>
            <a:pathLst>
              <a:path w="271" h="322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581400" y="199072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914775" y="20288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启停表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581400" y="2305050"/>
            <a:ext cx="2314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06B6D4"/>
                </a:solidFill>
                <a:latin typeface="Microsoft YaHei"/>
                <a:ea typeface="Microsoft YaHei"/>
              </a:rPr>
              <a:t>今天这些策略睁眼</a:t>
            </a:r>
            <a:r>
              <a:rPr lang="en-US" sz="975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581400" y="2514600"/>
            <a:ext cx="23145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支持按策略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ID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启停——只勾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今天在场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，未启用的策略权重自动归零，下游自动跳过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162675" y="1857375"/>
            <a:ext cx="2590800" cy="30670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162675" y="1857375"/>
            <a:ext cx="2590800" cy="3067050"/>
          </a:xfrm>
          <a:custGeom>
            <a:pathLst>
              <a:path w="272" h="322">
                <a:moveTo>
                  <a:pt x="264" y="0"/>
                </a:moveTo>
                <a:cubicBezTo>
                  <a:pt x="268" y="0"/>
                  <a:pt x="271" y="3"/>
                  <a:pt x="272" y="7"/>
                </a:cubicBezTo>
                <a:cubicBezTo>
                  <a:pt x="271" y="4"/>
                  <a:pt x="269" y="3"/>
                  <a:pt x="2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296025" y="199072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2C55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629400" y="2028825"/>
            <a:ext cx="62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tick </a:t>
            </a: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296025" y="2305050"/>
            <a:ext cx="2324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C55E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22C55E"/>
                </a:solidFill>
                <a:latin typeface="Microsoft YaHei"/>
                <a:ea typeface="Microsoft YaHei"/>
              </a:rPr>
              <a:t>开一次会</a:t>
            </a:r>
            <a:r>
              <a:rPr lang="en-US" sz="975" b="1">
                <a:solidFill>
                  <a:srgbClr val="22C55E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296025" y="2514600"/>
            <a:ext cx="2324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上层只调一次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tick(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输入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) ——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调度台内部按表并行调用所有启用策略，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个调用变成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个调用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8886825" y="1857375"/>
            <a:ext cx="2581275" cy="3067050"/>
          </a:xfrm>
          <a:prstGeom prst="roundRect">
            <a:avLst>
              <a:gd name="adj" fmla="val 29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8886825" y="1857375"/>
            <a:ext cx="2581275" cy="3067050"/>
          </a:xfrm>
          <a:custGeom>
            <a:pathLst>
              <a:path w="271" h="322">
                <a:moveTo>
                  <a:pt x="263" y="0"/>
                </a:moveTo>
                <a:cubicBezTo>
                  <a:pt x="267" y="0"/>
                  <a:pt x="270" y="3"/>
                  <a:pt x="271" y="7"/>
                </a:cubicBezTo>
                <a:cubicBezTo>
                  <a:pt x="270" y="4"/>
                  <a:pt x="268" y="3"/>
                  <a:pt x="266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63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020175" y="199072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353550" y="2028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Microsoft YaHei"/>
                <a:ea typeface="Microsoft YaHei"/>
              </a:rPr>
              <a:t>结果缓存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020175" y="2305050"/>
            <a:ext cx="2314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r>
              <a:rPr lang="zh-CN" sz="975" b="1">
                <a:solidFill>
                  <a:srgbClr val="F59E0B"/>
                </a:solidFill>
                <a:latin typeface="Microsoft YaHei"/>
                <a:ea typeface="Microsoft YaHei"/>
              </a:rPr>
              <a:t>上次的会议纪要</a:t>
            </a:r>
            <a:r>
              <a:rPr lang="en-US" sz="975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9020175" y="2514600"/>
            <a:ext cx="23145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个发言缓存为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9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Region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，下游仲裁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看到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的是稳定的快照，不存在反复问导致结果飘移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09600" y="5162550"/>
            <a:ext cx="11049000" cy="1257300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609600" y="5162550"/>
            <a:ext cx="11049000" cy="1257300"/>
          </a:xfrm>
          <a:custGeom>
            <a:pathLst>
              <a:path w="1160" h="13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28"/>
                </a:lnTo>
                <a:cubicBezTo>
                  <a:pt x="4" y="130"/>
                  <a:pt x="5" y="132"/>
                  <a:pt x="7" y="132"/>
                </a:cubicBezTo>
                <a:cubicBezTo>
                  <a:pt x="3" y="132"/>
                  <a:pt x="0" y="128"/>
                  <a:pt x="0" y="12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81050" y="52959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它的位置（上下接口）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81050" y="55054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上游：执行层控制器（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04/02/03/01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任何模块）以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"tick(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数据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)"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调一次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拿到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9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Region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列表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81050" y="57721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下游：把这列表交给仲裁器（周期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4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），拿到最终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P_bat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，下发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个实际控制器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81050" y="6076950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原理：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tick 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接口是单一的——这让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"9 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个策略存在与否</a:t>
            </a:r>
            <a:r>
              <a:rPr lang="en-US" sz="900" b="1">
                <a:solidFill>
                  <a:srgbClr val="1E40AF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对上层完全透明，将来增减策略上层零改动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调度容器，让上层不必认识每个策略的具体含义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73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0px 60px 0', height: 80 }}&gt;&#10;            &lt;Box style={{ flexDirection: 'row', alignItems: 'flex-end', justifyContent: 'space-between' }}&gt;&#10;                &lt;Box&gt;&#10;                    &lt;Text style={{ fontSize: 16, color: '#EF4444', fontWeight: 'bold', letterSpacing: 2 }}&gt;&#10;                        周期 4 · ARBITRATION&#10;                    &lt;/Text&gt;&#10;                    &lt;Text style={{ fontSize: 32, fontWeight: 'bold', color: '#1A1A1A', marginTop: 6 }}&gt;&#10;                        9 个意见必然冲突，仲裁定&quot;听谁的&quot;&#10;                    &lt;/Text&gt;&#10;                &lt;/Box&gt;&#10;                &lt;Text style={{ fontSize: 14, color: '#94A3B8' }}&gt;P07 / 11&lt;/Text&gt;&#10;            &lt;/Box&gt;&#10;        &lt;/Box&gt;&#10;&#10;        {/* B 区：5 步流程 — 讲业务，不是代码 */}&#10;        &lt;Box style={{&#10;            flex: 1,&#10;            padding: '8px 60px 0',&#10;            flexDirection: 'column',&#10;            gap: 12,&#10;        }}&gt;&#10;&#10;            {/* 痛点：为什么必须有仲裁 */}&#10;            &lt;Box style={{&#10;                padding: '10px 16px',&#10;                background: '#FEF2F2',&#10;                borderRadius: 8,&#10;                borderLeft: '4px solid #EF4444',&#10;                flexDirection: 'row',&#10;                alignItems: 'center',&#10;            }}&gt;&#10;                &lt;Text style={{ fontSize: 13, color: '#EF4444', fontWeight: 'bold', letterSpacing: 1.5, marginRight: 14 }}&gt;&#10;                    必 然 冲 突&#10;                &lt;/Text&gt;&#10;                &lt;Text style={{ fontSize: 13, color: '#1A1A1A', lineHeight: 1.5, flex: 1 }}&gt;&#10;                    同 1 分钟内：S03 说&quot;可放 200 度&quot;、S01 说&quot;必须 0 度&quot;、S07 说&quot;峰时一定要放&quot;——3 个直接打架&#10;                    &lt;Text style={{ fontWeight: 'bold', color: '#B91C1C' }}&gt;  。不是&quot;听错&quot;，是它们的诉求本就不一样&lt;/Text&gt;&#10;                &lt;/Text&gt;&#10;            &lt;/Box&gt;&#10;&#10;            {/* 5 步流程 — 大色块 + 业务解释 + 原理 */}&#10;            &lt;Box style={{ flex: 1, flexDirection: 'row', gap: 8 }}&gt;&#10;&#10;                {/* 步骤 1 */}&#10;                &lt;Box style={{ flex: 1, flexDirection: 'column' }}&gt;&#10;                    &lt;Box style={{&#10;                        flex: 1,&#10;                        background: '#FEF2F2',&#10;                        borderRadius: 8,&#10;                        padding: 12,&#10;                        borderTop: '3px solid #EF4444',&#10;                    }}&gt;&#10;                        &lt;Text style={{ fontSize: 13, color: '#EF4444', fontWeight: 'bold', letterSpacing: 1.5 }}&gt;STEP 1&lt;/Text&gt;&#10;                        &lt;Text style={{ fontSize: 18, fontWeight: 'bold', color: '#1A1A1A', marginTop: 4 }}&gt;逐层收紧&lt;/Text&gt;&#10;                        &lt;Text style={{ fontSize: 12, color: '#B91C1C', fontWeight: 'bold', marginTop: 4 }}&gt;优先级层胜出&lt;/Text&gt;&#10;                        &lt;Text style={{ fontSize: 12, color: '#475569', marginTop: 6, lineHeight: 1.45 }}&gt;&#10;                            从最高优先级开始，所有启用策略的&quot;上界取最小，下界取最大&quot;，求出交集——没有交集就拒执行本 tick&#10;                        &lt;/Text&gt;&#10;                        &lt;Text style={{ fontSize: 11, color: '#B91C1C', marginTop: 5, lineHeight: 1.4, fontWeight: 'bold' }}&gt;&#10;                            原理：交集保证&quot;所有相关方都接受&quot;&#10;                        &lt;/Text&gt;&#10;                    &lt;/Box&gt;&#10;                &lt;/Box&gt;&#10;&#10;                {/* 步骤 2 */}&#10;                &lt;Box style={{ flex: 1, flexDirection: 'column' }}&gt;&#10;                    &lt;Box style={{&#10;                        flex: 1,&#10;                        background: '#FFF7ED',&#10;                        borderRadius: 8,&#10;                        padding: 12,&#10;                        borderTop: '3px solid #F97316',&#10;                    }}&gt;&#10;                        &lt;Text style={{ fontSize: 13, color: '#F97316', fontWeight: 'bold', letterSpacing: 1.5 }}&gt;STEP 2&lt;/Text&gt;&#10;                        &lt;Text style={{ fontSize: 18, fontWeight: 'bold', color: '#1A1A1A', marginTop: 4 }}&gt;同层求中&lt;/Text&gt;&#10;                        &lt;Text style={{ fontSize: 12, color: '#9A3412', fontWeight: 'bold', marginTop: 4 }}&gt;加权平均&lt;/Text&gt;&#10;                        &lt;Text style={{ fontSize: 12, color: '#475569', marginTop: 6, lineHeight: 1.45 }}&gt;&#10;                            同一优先级层里、把几个策略的最佳点按权重平均。S01 / S02 都喊 80 度，按 10:8 加权 = 79&#10;                        &lt;/Text&gt;&#10;                        &lt;Text style={{ fontSize: 11, color: '#9A3412', marginTop: 5, lineHeight: 1.4, fontWeight: 'bold' }}&gt;&#10;                            原理：势均力敌时按权重民主&#10;                        &lt;/Text&gt;&#10;                    &lt;/Box&gt;&#10;                &lt;/Box&gt;&#10;&#10;                {/* 步骤 3 */}&#10;                &lt;Box style={{ flex: 1, flexDirection: 'column' }}&gt;&#10;                    &lt;Box style={{&#10;                        flex: 1,&#10;                        background: '#ECFEFF',&#10;                        borderRadius: 8,&#10;                        padding: 12,&#10;                        borderTop: '3px solid #06B6D4',&#10;                    }}&gt;&#10;                        &lt;Text style={{ fontSize: 13, color: '#06B6D4', fontWeight: 'bold', letterSpacing: 1.5 }}&gt;STEP 3&lt;/Text&gt;&#10;                        &lt;Text style={{ fontSize: 18, fontWeight: 'bold', color: '#1A1A1A', marginTop: 4 }}&gt;跨层不均&lt;/Text&gt;&#10;                        &lt;Text style={{ fontSize: 12, color: '#0E7490', fontWeight: 'bold', marginTop: 4 }}&gt;绝不混层&lt;/Text&gt;&#10;                        &lt;Text style={{ fontSize: 12, color: '#475569', marginTop: 6, lineHeight: 1.45 }}&gt;&#10;                            L0 和 L3 的数字永远不参与平均——L0 一票否决，L3 仅作为&quot;愿意被采纳的方向&quot;&#10;                        &lt;/Text&gt;&#10;                        &lt;Text style={{ fontSize: 11, color: '#0E7490', marginTop: 5, lineHeight: 1.4, fontWeight: 'bold' }}&gt;&#10;                            原理：安全 vs 利益必须分别量&#10;                        &lt;/Text&gt;&#10;                    &lt;/Box&gt;&#10;                &lt;/Box&gt;&#10;&#10;                {/* 步骤 4 */}&#10;                &lt;Box style={{ flex: 1, flexDirection: 'column' }}&gt;&#10;                    &lt;Box style={{&#10;                        flex: 1,&#10;                        background: '#FEF3C7',&#10;                        borderRadius: 8,&#10;                        padding: 12,&#10;                        borderTop: '3px solid #F59E0B',&#10;                    }}&gt;&#10;                        &lt;Text style={{ fontSize: 13, color: '#F59E0B', fontWeight: 'bold', letterSpacing: 1.5 }}&gt;STEP 4&lt;/Text&gt;&#10;                        &lt;Text style={{ fontSize: 18, fontWeight: 'bold', color: '#1A1A1A', marginTop: 4 }}&gt;夹到区间&lt;/Text&gt;&#10;                        &lt;Text style={{ fontSize: 12, color: '#92400E', fontWeight: 'bold', marginTop: 4 }}&gt;保 护 边 界&lt;/Text&gt;&#10;                        &lt;Text style={{ fontSize: 12, color: '#475569', marginTop: 6, lineHeight: 1.45 }}&gt;&#10;                            平均结果一旦越过区间（上限/下限），硬夹到边界——哪怕&quot;经济上更划算&quot;也不行&#10;                        &lt;/Text&gt;&#10;                        &lt;Text style={{ fontSize: 11, color: '#92400E', marginTop: 5, lineHeight: 1.4, fontWeight: 'bold' }}&gt;&#10;                            原理：硬件不被经济贪心冲爆&#10;                        &lt;/Text&gt;&#10;                    &lt;/Box&gt;&#10;                &lt;/Box&gt;&#10;&#10;                {/* 步骤 5 */}&#10;                &lt;Box style={{ flex: 1, flexDirection: 'column' }}&gt;&#10;                    &lt;Box style={{&#10;                        flex: 1,&#10;                        background: '#EFF6FF',&#10;                        borderRadius: 8,&#10;                        padding: 12,&#10;                        borderTop: '3px solid #3B82F6',&#10;                    }}&gt;&#10;                        &lt;Text style={{ fontSize: 13, color: '#3B82F6', fontWeight: 'bold', letterSpacing: 1.5 }}&gt;STEP 5&lt;/Text&gt;&#10;                        &lt;Text style={{ fontSize: 18, fontWeight: 'bold', color: '#1A1A1A', marginTop: 4 }}&gt;死区去抖&lt;/Text&gt;&#10;                        &lt;Text style={{ fontSize: 12, color: '#1E40AF', fontWeight: 'bold', marginTop: 4 }}&gt;不乱发命令&lt;/Text&gt;&#10;                        &lt;Text style={{ fontSize: 12, color: '#475569', marginTop: 6, lineHeight: 1.45 }}&gt;&#10;                            |Δ| &amp;lt; 5kW 不下发；指令变化有 ±2kW 滞回窗口，避免 PCS 频繁启停&#10;                        &lt;/Text&gt;&#10;                        &lt;Text style={{ fontSize: 11, color: '#1E40AF', marginTop: 5, lineHeight: 1.4, fontWeight: 'bold' }}&gt;&#10;                            原理：少折腾硬件 = 少故障&#10;                        &lt;/Text&gt;&#10;                    &lt;/Box&gt;&#10;                &lt;/Box&gt;&#10;&#10;            &lt;/Box&gt;&#10;&#10;            {/* 底部 — 一个示例，避免假大空 */}&#10;            &lt;Box style={{&#10;                padding: '12px 18px',&#10;                background: '#F8FAFC',&#10;                borderRadius: 8,&#10;                border: '1px solid #E2E8F0',&#10;                flexDirection: 'row',&#10;            }}&gt;&#10;                &lt;Box style={{ width: 4, height: 32, background: '#3B82F6', marginRight: 14 }} /&gt;&#10;                &lt;Box style={{ flex: 1 }}&gt;&#10;                    &lt;Text style={{ fontSize: 12, color: '#1E40AF', fontWeight: 'bold' }}&gt;&#10;                        一个真实冲突的仲裁样本&#10;                    &lt;/Text&gt;&#10;                    &lt;Text style={{ fontSize: 12, color: '#475569', marginTop: 4, lineHeight: 1.5 }}&gt;&#10;                        时段 18:30（峰时）：S01=禁放、S02=正负 80、S03=正负 200、S07=必须放到 120。&#10;                        经逐层→S01 强制收紧到 0；同层 L2 平均 60；L3 加权给到 80；最终夹到 [0, 80] 内，与峰时目标一致，安全与套利兼顾&#10;                    &lt;/Text&gt;&#10;                &lt;/Box&gt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周期 4 交付 = 5 步仲裁，把 9 个意见合成 1 个功率指令&#10;            &lt;/Text&gt;&#10;            &lt;Text style={{ fontSize: 14, color: '#94A3B8' }}&gt;07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486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周期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4 · ARBITRATION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4867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个意见必然冲突，仲裁定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听谁的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087100" y="647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P07 / 11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83820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609600" y="838200"/>
            <a:ext cx="11049000" cy="419100"/>
          </a:xfrm>
          <a:custGeom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62000" y="9715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必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然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冲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突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609725" y="933450"/>
            <a:ext cx="98583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同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分钟内：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可放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200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S01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必须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0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度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S07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说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峰时一定要放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"——3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个直接打架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。不是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听错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，是它们的诉求本就不一样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71500" y="1400175"/>
            <a:ext cx="2152650" cy="4314825"/>
          </a:xfrm>
          <a:prstGeom prst="roundRect">
            <a:avLst>
              <a:gd name="adj" fmla="val 3540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571500" y="1400175"/>
            <a:ext cx="2152650" cy="4314825"/>
          </a:xfrm>
          <a:custGeom>
            <a:pathLst>
              <a:path w="226" h="453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85800" y="1704975"/>
            <a:ext cx="192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逐层收紧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8580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B91C1C"/>
                </a:solidFill>
                <a:latin typeface="Microsoft YaHei"/>
                <a:ea typeface="Microsoft YaHei"/>
              </a:rPr>
              <a:t>优先级层胜出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85800" y="2152650"/>
            <a:ext cx="19240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从最高优先级开始，所有启用策略的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上界取最小，下界取最大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，求出交集——没有交集就拒执行本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tick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5800" y="2800350"/>
            <a:ext cx="19240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b="1">
                <a:solidFill>
                  <a:srgbClr val="B91C1C"/>
                </a:solidFill>
                <a:latin typeface="Microsoft YaHei"/>
                <a:ea typeface="Microsoft YaHei"/>
              </a:rPr>
              <a:t>原理：交集保证</a:t>
            </a:r>
            <a:r>
              <a:rPr lang="en-US" sz="825" b="1">
                <a:solidFill>
                  <a:srgbClr val="B91C1C"/>
                </a:solidFill>
                <a:latin typeface="Microsoft YaHei"/>
                <a:ea typeface="Microsoft YaHei"/>
              </a:rPr>
              <a:t>"</a:t>
            </a:r>
            <a:r>
              <a:rPr lang="zh-CN" sz="825" b="1">
                <a:solidFill>
                  <a:srgbClr val="B91C1C"/>
                </a:solidFill>
                <a:latin typeface="Microsoft YaHei"/>
                <a:ea typeface="Microsoft YaHei"/>
              </a:rPr>
              <a:t>所有相关方都接受</a:t>
            </a:r>
            <a:r>
              <a:rPr lang="en-US" sz="825" b="1">
                <a:solidFill>
                  <a:srgbClr val="B91C1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2800350" y="1400175"/>
            <a:ext cx="2143125" cy="4314825"/>
          </a:xfrm>
          <a:prstGeom prst="roundRect">
            <a:avLst>
              <a:gd name="adj" fmla="val 3556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2800350" y="1400175"/>
            <a:ext cx="2143125" cy="4314825"/>
          </a:xfrm>
          <a:custGeom>
            <a:pathLst>
              <a:path w="225" h="453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2914650" y="1514475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97316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914650" y="1704975"/>
            <a:ext cx="1914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同层求中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2914650" y="1952625"/>
            <a:ext cx="1914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A3412"/>
                </a:solidFill>
                <a:latin typeface="Microsoft YaHei"/>
                <a:ea typeface="Microsoft YaHei"/>
              </a:rPr>
              <a:t>加权平均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914650" y="2152650"/>
            <a:ext cx="19145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同一优先级层里、把几个策略的最佳点按权重平均。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S01 / S02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都喊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度，按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10:8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加权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= 79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914650" y="2800350"/>
            <a:ext cx="19145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b="1">
                <a:solidFill>
                  <a:srgbClr val="9A3412"/>
                </a:solidFill>
                <a:latin typeface="Microsoft YaHei"/>
                <a:ea typeface="Microsoft YaHei"/>
              </a:rPr>
              <a:t>原理：势均力敌时按权重民主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5019675" y="1400175"/>
            <a:ext cx="2152650" cy="4314825"/>
          </a:xfrm>
          <a:prstGeom prst="roundRect">
            <a:avLst>
              <a:gd name="adj" fmla="val 3540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5019675" y="1400175"/>
            <a:ext cx="2152650" cy="4314825"/>
          </a:xfrm>
          <a:custGeom>
            <a:pathLst>
              <a:path w="226" h="453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133975" y="1514475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133975" y="1704975"/>
            <a:ext cx="192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跨层不均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133975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E7490"/>
                </a:solidFill>
                <a:latin typeface="Microsoft YaHei"/>
                <a:ea typeface="Microsoft YaHei"/>
              </a:rPr>
              <a:t>绝不混层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133975" y="2152650"/>
            <a:ext cx="19240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L0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L3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的数字永远不参与平均——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L0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一票否决，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L3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仅作为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愿意被采纳的方向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133975" y="2800350"/>
            <a:ext cx="19240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b="1">
                <a:solidFill>
                  <a:srgbClr val="0E7490"/>
                </a:solidFill>
                <a:latin typeface="Microsoft YaHei"/>
                <a:ea typeface="Microsoft YaHei"/>
              </a:rPr>
              <a:t>原理：安全</a:t>
            </a:r>
            <a:r>
              <a:rPr lang="en-US" sz="825" b="1">
                <a:solidFill>
                  <a:srgbClr val="0E7490"/>
                </a:solidFill>
                <a:latin typeface="Microsoft YaHei"/>
                <a:ea typeface="Microsoft YaHei"/>
              </a:rPr>
              <a:t> vs </a:t>
            </a:r>
            <a:r>
              <a:rPr lang="zh-CN" sz="825" b="1">
                <a:solidFill>
                  <a:srgbClr val="0E7490"/>
                </a:solidFill>
                <a:latin typeface="Microsoft YaHei"/>
                <a:ea typeface="Microsoft YaHei"/>
              </a:rPr>
              <a:t>利益必须分别量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248525" y="1400175"/>
            <a:ext cx="2143125" cy="4314825"/>
          </a:xfrm>
          <a:prstGeom prst="roundRect">
            <a:avLst>
              <a:gd name="adj" fmla="val 3556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7248525" y="1400175"/>
            <a:ext cx="2143125" cy="4314825"/>
          </a:xfrm>
          <a:custGeom>
            <a:pathLst>
              <a:path w="225" h="453">
                <a:moveTo>
                  <a:pt x="217" y="0"/>
                </a:moveTo>
                <a:cubicBezTo>
                  <a:pt x="221" y="0"/>
                  <a:pt x="224" y="3"/>
                  <a:pt x="225" y="7"/>
                </a:cubicBezTo>
                <a:cubicBezTo>
                  <a:pt x="224" y="4"/>
                  <a:pt x="222" y="3"/>
                  <a:pt x="220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7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362825" y="1514475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F59E0B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362825" y="1704975"/>
            <a:ext cx="1914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夹到区间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362825" y="1952625"/>
            <a:ext cx="1914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保</a:t>
            </a:r>
            <a:r>
              <a:rPr lang="en-US" sz="900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护</a:t>
            </a:r>
            <a:r>
              <a:rPr lang="en-US" sz="900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边</a:t>
            </a:r>
            <a:r>
              <a:rPr lang="en-US" sz="900" b="1">
                <a:solidFill>
                  <a:srgbClr val="92400E"/>
                </a:solidFill>
                <a:latin typeface="Microsoft YaHei"/>
                <a:ea typeface="Microsoft YaHei"/>
              </a:rPr>
              <a:t> </a:t>
            </a:r>
            <a:r>
              <a:rPr lang="zh-CN" sz="900" b="1">
                <a:solidFill>
                  <a:srgbClr val="92400E"/>
                </a:solidFill>
                <a:latin typeface="Microsoft YaHei"/>
                <a:ea typeface="Microsoft YaHei"/>
              </a:rPr>
              <a:t>界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362825" y="2152650"/>
            <a:ext cx="19145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平均结果一旦越过区间（上限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下限），硬夹到边界——哪怕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经济上更划算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也不行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362825" y="2800350"/>
            <a:ext cx="19145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原理：硬件不被经济贪心冲爆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9467850" y="1400175"/>
            <a:ext cx="2152650" cy="4314825"/>
          </a:xfrm>
          <a:prstGeom prst="roundRect">
            <a:avLst>
              <a:gd name="adj" fmla="val 354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9467850" y="1400175"/>
            <a:ext cx="2152650" cy="4314825"/>
          </a:xfrm>
          <a:custGeom>
            <a:pathLst>
              <a:path w="226" h="453">
                <a:moveTo>
                  <a:pt x="218" y="0"/>
                </a:moveTo>
                <a:cubicBezTo>
                  <a:pt x="222" y="0"/>
                  <a:pt x="225" y="3"/>
                  <a:pt x="226" y="7"/>
                </a:cubicBezTo>
                <a:cubicBezTo>
                  <a:pt x="225" y="4"/>
                  <a:pt x="223" y="3"/>
                  <a:pt x="221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582150" y="1514475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582150" y="1704975"/>
            <a:ext cx="1924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Microsoft YaHei"/>
                <a:ea typeface="Microsoft YaHei"/>
              </a:rPr>
              <a:t>死区去抖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582150" y="1952625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不乱发命令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582150" y="2152650"/>
            <a:ext cx="19240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|Δ| &lt; 5kW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不下发；指令变化有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±2kW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滞回窗口，避免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PCS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频繁启停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9582150" y="2600325"/>
            <a:ext cx="19240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 b="1">
                <a:solidFill>
                  <a:srgbClr val="1E40AF"/>
                </a:solidFill>
                <a:latin typeface="Microsoft YaHei"/>
                <a:ea typeface="Microsoft YaHei"/>
              </a:rPr>
              <a:t>原理：少折腾硬件</a:t>
            </a:r>
            <a:r>
              <a:rPr lang="en-US" sz="825" b="1">
                <a:solidFill>
                  <a:srgbClr val="1E40AF"/>
                </a:solidFill>
                <a:latin typeface="Microsoft YaHei"/>
                <a:ea typeface="Microsoft YaHei"/>
              </a:rPr>
              <a:t> = </a:t>
            </a:r>
            <a:r>
              <a:rPr lang="zh-CN" sz="825" b="1">
                <a:solidFill>
                  <a:srgbClr val="1E40AF"/>
                </a:solidFill>
                <a:latin typeface="Microsoft YaHei"/>
                <a:ea typeface="Microsoft YaHei"/>
              </a:rPr>
              <a:t>少故障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571500" y="580072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742950" y="5915025"/>
            <a:ext cx="38100" cy="3048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914400" y="5915025"/>
            <a:ext cx="1053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E40AF"/>
                </a:solidFill>
                <a:latin typeface="Microsoft YaHei"/>
                <a:ea typeface="Microsoft YaHei"/>
              </a:rPr>
              <a:t>一个真实冲突的仲裁样本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14400" y="6096000"/>
            <a:ext cx="10534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时段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18:30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（峰时）：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S01=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禁放、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S02=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S03=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正负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200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S07=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必须放到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120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经逐层→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强制收紧到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；同层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L2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平均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60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L3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加权给到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；最终夹到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[0, 80]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内，与峰时目标一致，安全与套利兼顾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4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交付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= 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步仲裁，把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9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个意见合成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个功率指令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24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4px 60px 0', height: 8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测 试 在 验 什 么 · WHAT IS VERIFIED&#10;                    &lt;/Text&gt;&#10;                    &lt;Text style={{ fontSize: 32, fontWeight: 'bold', color: '#1A1A1A', marginTop: 6 }}&gt;&#10;                        17 条用例对应 17 种业务冲突，不是测代码跑得动&#10;                    &lt;/Text&gt;&#10;                &lt;/Box&gt;&#10;                &lt;Text style={{ fontSize: 14, color: '#94A3B8' }}&gt;P08 / 11&lt;/Text&gt;&#10;            &lt;/Box&gt;&#10;        &lt;/Box&gt;&#10;&#10;        {/* B 区 */}&#10;        &lt;Box style={{&#10;            flex: 1,&#10;            padding: '12px 60px 0',&#10;            flexDirection: 'column',&#10;            gap: 12,&#10;        }}&gt;&#10;&#10;            {/* 顶部 — 关键论点 */}&#10;            &lt;Box style={{&#10;                padding: '12px 18px',&#10;                background: '#EFF6FF',&#10;                borderRadius: 8,&#10;                borderLeft: '4px solid #3B82F6',&#10;            }}&gt;&#10;                &lt;Text style={{ fontSize: 14, color: '#1E40AF', fontWeight: 'bold' }}&gt;&#10;                    测试目的不是证明代码能跑，而是验证 9 个意志在面对真实冲突时不会做错决策&#10;                &lt;/Text&gt;&#10;            &lt;/Box&gt;&#10;&#10;            {/* 7 个组合场景 — 业务冲突 */}&#10;            &lt;Box style={{ flex: 1, flexDirection: 'row', gap: 8 }}&gt;&#10;&#10;                {/* 左：7 个组合场景 */}&#10;                &lt;Box style={{ flex: 7, flexDirection: 'column' }}&gt;&#10;                    &lt;Box style={{&#10;                        flexDirection: 'row', alignItems: 'center', padding: '8px 14px',&#10;                        background: '#3B82F6',&#10;                        borderRadius: '6px 6px 0 0',&#10;                    }}&gt;&#10;                        &lt;Text style={{ fontSize: 14, color: '#FFFFFF', fontWeight: 'bold', letterSpacing: 1.5 }}&gt;&#10;                            A · 7 种组合场景&#10;                        &lt;/Text&gt;&#10;                        &lt;Box style={{ flex: 1 }} /&gt;&#10;                        &lt;Text style={{ fontSize: 12, color: '#DBEAFE', fontStyle: 'italic' }}&gt;&#10;                            复现真实会同时出现的冲突&#10;                        &lt;/Text&gt;&#10;                    &lt;/Box&gt;&#10;                    &lt;Box style={{&#10;                        flex: 1,&#10;                        background: '#F8FAFC',&#10;                        borderRadius: '0 0 6px 6px',&#10;                        border: '1px solid #DBEAFE',&#10;                        borderTop: 'none',&#10;                        padding: 8,&#10;                        flexDirection: 'column',&#10;                        gap: 5,&#10;                    }}&gt;&#10;                        {[&#10;                            { id: 'T11', conf: '峰谷套利 + BMS 降功率', expect: '套利想放 300 → BMS 限到 80' },&#10;                            { id: 'T12', conf: '峰谷套利 + 变压器极端过载', expect: '变压器远超 → 禁放，套利让步' },&#10;                            { id: 'T13', conf: '需量管理 + 防逆流', expect: '同时触发，取最严' },&#10;                            { id: 'T14', conf: '光伏平抑 + 防逆流', expect: '余电优先充电，不得外送' },&#10;                            { id: 'T15', conf: '动态优化 + 需量管理', expect: '高峰时减负荷' },&#10;                            { id: 'T16', conf: 'DR + 峰谷套利 + BMS 限制', expect: 'DR 强制下限，BMS/套利让步' },&#10;                            { id: 'T17', conf: '9 策略同时启用', expect: '完整链路贯通测试，单一输出' },&#10;                        ].map((row, idx) =&gt; (&#10;                            &lt;Box key={idx} style={{&#10;                                flexDirection: 'row', alignItems: 'center',&#10;                                padding: '7px 10px',&#10;                                background: '#FFFFFF',&#10;                                borderRadius: 4,&#10;                                border: '1px solid #E2E8F0',&#10;                            }}&gt;&#10;                                &lt;Box style={{&#10;                                    width: 36, padding: '3px 0',&#10;                                    background: '#3B82F6', borderRadius: 3,&#10;                                    alignItems: 'center',&#10;                                }}&gt;&#10;                                    &lt;Text style={{&#10;                                        color: '#FFFFFF', fontSize: 12,&#10;                                        fontWeight: 'bold', textAlign: 'center',&#10;                                    }}&gt;{row.id}&lt;/Text&gt;&#10;                                &lt;/Box&gt;&#10;                                &lt;Text style={{ fontSize: 13, color: '#1A1A1A', fontWeight: 'bold', marginLeft: 8, width: 250 }}&gt;&#10;                                    {row.conf}&#10;                                &lt;/Text&gt;&#10;                                &lt;Text style={{ fontSize: 12, color: '#475569', marginLeft: 6 }}&gt;&#10;                                    {row.expect}&#10;                                &lt;/Text&gt;&#10;                            &lt;/Box&gt;&#10;                        ))}&#10;                    &lt;/Box&gt;&#10;                &lt;/Box&gt;&#10;&#10;                {/* 右：10 个单策略边界 — 用紧凑卡片 */}&#10;                &lt;Box style={{ flex: 5, flexDirection: 'column' }}&gt;&#10;                    &lt;Box style={{&#10;                        flexDirection: 'row', alignItems: 'center', padding: '8px 14px',&#10;                        background: '#06B6D4',&#10;                        borderRadius: '6px 6px 0 0',&#10;                    }}&gt;&#10;                        &lt;Text style={{ fontSize: 14, color: '#FFFFFF', fontWeight: 'bold', letterSpacing: 1.5 }}&gt;&#10;                            B · 10 个单策略边界&#10;                        &lt;/Text&gt;&#10;                        &lt;Box style={{ flex: 1 }} /&gt;&#10;                        &lt;Text style={{ fontSize: 12, color: '#CFFAFE', fontStyle: 'italic' }}&gt;&#10;                            防回归&#10;                        &lt;/Text&gt;&#10;                    &lt;/Box&gt;&#10;                    &lt;Box style={{&#10;                        flex: 1,&#10;                        background: '#F8FAFC',&#10;                        borderRadius: '0 0 6px 6px',&#10;                        border: '1px solid #CFFAFE',&#10;                        borderTop: 'none',&#10;                        padding: 8,&#10;                        flexDirection: 'column',&#10;                        gap: 4,&#10;                    }}&gt;&#10;                        {[&#10;                            'T01 - 空启用表·默认区间',&#10;                            'T02 - 启用单策略·仲裁透传',&#10;                            'T03 - 区间收敛·多策略重叠',&#10;                            'T04 - 同层加权·共识稳定',&#10;                            'T05 - 越界 desired_clip·夹紧',&#10;                            'T06 - 死区·小幅变化不下发',&#10;                            'T07 - 滞回·防止指令飘移',&#10;                            'T08 - L0 空集→本 tick 拒执行',&#10;                            'T09 - L0 与 L3 永不被平均',&#10;                            'T10 - DR 事件按时段注入·裁剪输出',&#10;                        ].map((s, idx) =&gt; (&#10;                            &lt;Box key={idx} style={{&#10;                                padding: '6px 10px',&#10;                                background: '#FFFFFF',&#10;                                borderRadius: 4,&#10;                                border: '1px solid #E2E8F0',&#10;                            }}&gt;&#10;                                &lt;Text style={{ fontSize: 12, color: '#475569' }}&gt;· {s}&lt;/Text&gt;&#10;                            &lt;/Box&gt;&#10;                        ))}&#10;                    &lt;/Box&gt;&#10;                &lt;/Box&gt;&#10;            &lt;/Box&gt;&#10;&#10;            {/* 底部 — 测试本身的论断 */}&#10;            &lt;Box style={{&#10;                padding: '10px 16px',&#10;                background: '#F0FDF4',&#10;                borderRadius: 8,&#10;                borderLeft: '4px solid #22C55E',&#10;                flexDirection: 'row',&#10;                alignItems: 'center',&#10;            }}&gt;&#10;                &lt;Text style={{ fontSize: 16, color: '#166534', fontWeight: 'bold', marginRight: 14, fontFamily: 'JetBrains Mono, monospace' }}&gt;&#10;                    17/17 通过&#10;                &lt;/Text&gt;&#10;                &lt;Text style={{ fontSize: 13, color: '#1A1A1A', lineHeight: 1.5, flex: 1 }}&gt;&#10;                    每个用例背后都对应一条业务承诺：&quot;如果现实出现 X 场景，系统必定给出 Y 动作&quot;——这是合约，不是测验&#10;                &lt;/Text&gt;&#10;            &lt;/Box&gt;&#10;            &lt;Box style={{&#10;                padding: '10px 16px',&#10;                marginTop: 6,&#10;                background: '#F8FAFC',&#10;                borderRadius: 8,&#10;                borderLeft: '4px solid #64748B',&#10;            }}&gt;&#10;                &lt;Text style={{ fontSize: 12, color: '#475569', lineHeight: 1.5, fontWeight: 'bold' }}&gt;&#10;                    为什么 17 条够用：7 组合场景覆盖了所有可能的策略对（n×(n-1)/2=36），10 单策略边界覆盖了 5 步算法的所有边界——再多的测试是冗余&#10;                &lt;/Text&gt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17 用例 = 7 种业务冲突 + 10 条单策略边界，零失败零跳过&#10;            &lt;/Text&gt;&#10;            &lt;Text style={{ fontSize: 14, color: '#94A3B8' }}&gt;08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681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测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试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在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验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什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么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· WHAT IS VERIFIED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6819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17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条用例对应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17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种业务冲突，不是测代码跑得动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087100" y="685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P08 / 11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09600" y="876300"/>
            <a:ext cx="11049000" cy="390525"/>
          </a:xfrm>
          <a:prstGeom prst="roundRect">
            <a:avLst>
              <a:gd name="adj" fmla="val 19512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09600" y="876300"/>
            <a:ext cx="11049000" cy="390525"/>
          </a:xfrm>
          <a:custGeom>
            <a:pathLst>
              <a:path w="1160" h="4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37"/>
                </a:lnTo>
                <a:cubicBezTo>
                  <a:pt x="4" y="39"/>
                  <a:pt x="5" y="41"/>
                  <a:pt x="7" y="41"/>
                </a:cubicBezTo>
                <a:cubicBezTo>
                  <a:pt x="3" y="41"/>
                  <a:pt x="0" y="37"/>
                  <a:pt x="0" y="3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81050" y="99060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0AF"/>
                </a:solidFill>
                <a:latin typeface="Microsoft YaHei"/>
                <a:ea typeface="Microsoft YaHei"/>
              </a:rPr>
              <a:t>测试目的不是证明代码能跑，而是验证</a:t>
            </a:r>
            <a:r>
              <a:rPr lang="en-US" sz="1050" b="1">
                <a:solidFill>
                  <a:srgbClr val="1E40AF"/>
                </a:solidFill>
                <a:latin typeface="Microsoft YaHei"/>
                <a:ea typeface="Microsoft YaHei"/>
              </a:rPr>
              <a:t> 9 </a:t>
            </a:r>
            <a:r>
              <a:rPr lang="zh-CN" sz="1050" b="1">
                <a:solidFill>
                  <a:srgbClr val="1E40AF"/>
                </a:solidFill>
                <a:latin typeface="Microsoft YaHei"/>
                <a:ea typeface="Microsoft YaHei"/>
              </a:rPr>
              <a:t>个意志在面对真实冲突时不会做错决策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571500" y="1381125"/>
            <a:ext cx="6400800" cy="314325"/>
          </a:xfrm>
          <a:custGeom>
            <a:pathLst>
              <a:path w="672" h="33">
                <a:moveTo>
                  <a:pt x="6" y="0"/>
                </a:moveTo>
                <a:lnTo>
                  <a:pt x="666" y="0"/>
                </a:lnTo>
                <a:cubicBezTo>
                  <a:pt x="669" y="0"/>
                  <a:pt x="672" y="3"/>
                  <a:pt x="672" y="6"/>
                </a:cubicBezTo>
                <a:lnTo>
                  <a:pt x="672" y="33"/>
                </a:lnTo>
                <a:lnTo>
                  <a:pt x="672" y="33"/>
                </a:lnTo>
                <a:lnTo>
                  <a:pt x="0" y="33"/>
                </a:lnTo>
                <a:lnTo>
                  <a:pt x="0" y="33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04850" y="14573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FFFFFF"/>
                </a:solidFill>
                <a:latin typeface="Microsoft YaHei"/>
                <a:ea typeface="Microsoft YaHei"/>
              </a:rPr>
              <a:t>A · 7 </a:t>
            </a:r>
            <a:r>
              <a:rPr lang="zh-CN" sz="1050" b="1" spc="113">
                <a:solidFill>
                  <a:srgbClr val="FFFFFF"/>
                </a:solidFill>
                <a:latin typeface="Microsoft YaHei"/>
                <a:ea typeface="Microsoft YaHei"/>
              </a:rPr>
              <a:t>种组合场景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467350" y="146685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DBEAFE"/>
                </a:solidFill>
                <a:latin typeface="Microsoft YaHei"/>
                <a:ea typeface="Microsoft YaHei"/>
              </a:rPr>
              <a:t>复现真实会同时出现的冲突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71500" y="1695450"/>
            <a:ext cx="6400800" cy="3619500"/>
          </a:xfrm>
          <a:custGeom>
            <a:pathLst>
              <a:path w="672" h="380">
                <a:moveTo>
                  <a:pt x="0" y="0"/>
                </a:moveTo>
                <a:lnTo>
                  <a:pt x="672" y="0"/>
                </a:lnTo>
                <a:lnTo>
                  <a:pt x="672" y="0"/>
                </a:lnTo>
                <a:lnTo>
                  <a:pt x="672" y="374"/>
                </a:lnTo>
                <a:cubicBezTo>
                  <a:pt x="672" y="377"/>
                  <a:pt x="669" y="380"/>
                  <a:pt x="666" y="380"/>
                </a:cubicBezTo>
                <a:lnTo>
                  <a:pt x="6" y="380"/>
                </a:lnTo>
                <a:cubicBezTo>
                  <a:pt x="3" y="380"/>
                  <a:pt x="0" y="377"/>
                  <a:pt x="0" y="37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47700" y="1771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742950" y="1838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09625" y="1866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T11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62050" y="1866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BMS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降功率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600450" y="186690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套利想放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300 → BMS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限到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80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47700" y="2152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742950" y="2219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9625" y="2247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62050" y="2247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变压器极端过载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600450" y="224790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变压器远超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禁放，套利让步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47700" y="2533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742950" y="2600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09625" y="2628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62050" y="2628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600450" y="26289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同时触发，取最严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47700" y="2914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742950" y="2981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09625" y="3009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62050" y="3009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光伏平抑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防逆流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3600450" y="300990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余电优先充电，不得外送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47700" y="3295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42950" y="3362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09625" y="3390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T15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62050" y="3390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动态优化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需量管理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600450" y="33909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高峰时减负荷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47700" y="3676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742950" y="3743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09625" y="3771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T16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62050" y="3771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DR +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峰谷套利</a:t>
            </a: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 + BMS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限制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600450" y="3771900"/>
            <a:ext cx="152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DR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强制下限，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BMS/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套利让步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47700" y="4057650"/>
            <a:ext cx="6248400" cy="33337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742950" y="4124325"/>
            <a:ext cx="342900" cy="200025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09625" y="4152900"/>
            <a:ext cx="219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T17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162050" y="4152900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9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策略同时启用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600450" y="415290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完整链路贯通测试，单一输出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7048500" y="1381125"/>
            <a:ext cx="4572000" cy="314325"/>
          </a:xfrm>
          <a:custGeom>
            <a:pathLst>
              <a:path w="480" h="33">
                <a:moveTo>
                  <a:pt x="6" y="0"/>
                </a:moveTo>
                <a:lnTo>
                  <a:pt x="474" y="0"/>
                </a:lnTo>
                <a:cubicBezTo>
                  <a:pt x="477" y="0"/>
                  <a:pt x="480" y="3"/>
                  <a:pt x="480" y="6"/>
                </a:cubicBezTo>
                <a:lnTo>
                  <a:pt x="480" y="33"/>
                </a:lnTo>
                <a:lnTo>
                  <a:pt x="480" y="33"/>
                </a:lnTo>
                <a:lnTo>
                  <a:pt x="0" y="33"/>
                </a:lnTo>
                <a:lnTo>
                  <a:pt x="0" y="33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181850" y="1457325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FFFFFF"/>
                </a:solidFill>
                <a:latin typeface="Microsoft YaHei"/>
                <a:ea typeface="Microsoft YaHei"/>
              </a:rPr>
              <a:t>B · 10 </a:t>
            </a:r>
            <a:r>
              <a:rPr lang="zh-CN" sz="1050" b="1" spc="113">
                <a:solidFill>
                  <a:srgbClr val="FFFFFF"/>
                </a:solidFill>
                <a:latin typeface="Microsoft YaHei"/>
                <a:ea typeface="Microsoft YaHei"/>
              </a:rPr>
              <a:t>个单策略边界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144250" y="14668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CFFAFE"/>
                </a:solidFill>
                <a:latin typeface="Microsoft YaHei"/>
                <a:ea typeface="Microsoft YaHei"/>
              </a:rPr>
              <a:t>防回归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7048500" y="1695450"/>
            <a:ext cx="4572000" cy="3619500"/>
          </a:xfrm>
          <a:custGeom>
            <a:pathLst>
              <a:path w="480" h="380">
                <a:moveTo>
                  <a:pt x="0" y="0"/>
                </a:moveTo>
                <a:lnTo>
                  <a:pt x="480" y="0"/>
                </a:lnTo>
                <a:lnTo>
                  <a:pt x="480" y="0"/>
                </a:lnTo>
                <a:lnTo>
                  <a:pt x="480" y="374"/>
                </a:lnTo>
                <a:cubicBezTo>
                  <a:pt x="480" y="377"/>
                  <a:pt x="477" y="380"/>
                  <a:pt x="474" y="380"/>
                </a:cubicBezTo>
                <a:lnTo>
                  <a:pt x="6" y="380"/>
                </a:lnTo>
                <a:cubicBezTo>
                  <a:pt x="3" y="380"/>
                  <a:pt x="0" y="377"/>
                  <a:pt x="0" y="374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2700">
            <a:solidFill>
              <a:srgbClr val="CFFAFE"/>
            </a:solidFill>
            <a:prstDash val="solid"/>
          </a:ln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7124700" y="1771650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219950" y="182880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T01 -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空启用表·默认区间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124700" y="2066925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219950" y="212407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T02 -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启用单策略·仲裁透传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7124700" y="2362200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219950" y="241935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T03 -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区间收敛·多策略重叠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7124700" y="2657475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219950" y="27146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T04 -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同层加权·共识稳定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7124700" y="2952750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219950" y="300990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T05 -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越界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desired_clip·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夹紧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7124700" y="3248025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219950" y="330517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T06 -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死区·小幅变化不下发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7124700" y="3543300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219950" y="360045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T07 -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滞回·防止指令飘移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124700" y="3838575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219950" y="38957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T08 - L0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空集→本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tick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拒执行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7124700" y="4133850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219950" y="4191000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T09 - L0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与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L3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永不被平均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7124700" y="4429125"/>
            <a:ext cx="44196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219950" y="448627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·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T10 - DR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事件按时段注入·裁剪输出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5429250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09600" y="5429250"/>
            <a:ext cx="11049000" cy="419100"/>
          </a:xfrm>
          <a:custGeom>
            <a:pathLst>
              <a:path w="1160" h="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0"/>
                </a:lnTo>
                <a:cubicBezTo>
                  <a:pt x="4" y="42"/>
                  <a:pt x="5" y="44"/>
                  <a:pt x="7" y="44"/>
                </a:cubicBezTo>
                <a:cubicBezTo>
                  <a:pt x="3" y="44"/>
                  <a:pt x="0" y="40"/>
                  <a:pt x="0" y="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C55E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762000" y="5543550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6534"/>
                </a:solidFill>
                <a:latin typeface="JetBrains Mono"/>
                <a:ea typeface="JetBrains Mono"/>
              </a:rPr>
              <a:t>17/17 </a:t>
            </a:r>
            <a:r>
              <a:rPr lang="zh-CN" sz="1200" b="1">
                <a:solidFill>
                  <a:srgbClr val="166534"/>
                </a:solidFill>
                <a:latin typeface="JetBrains Mono"/>
                <a:ea typeface="JetBrains Mono"/>
              </a:rPr>
              <a:t>通过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1752600" y="5524500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每个用例背后都对应一条业务承诺：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如果现实出现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X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场景，系统必定给出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Y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动作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"——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这是合约，不是测验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6019800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609600" y="6019800"/>
            <a:ext cx="11049000" cy="400050"/>
          </a:xfrm>
          <a:custGeom>
            <a:pathLst>
              <a:path w="1160" h="4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38"/>
                </a:lnTo>
                <a:cubicBezTo>
                  <a:pt x="4" y="40"/>
                  <a:pt x="5" y="42"/>
                  <a:pt x="7" y="42"/>
                </a:cubicBezTo>
                <a:cubicBezTo>
                  <a:pt x="3" y="42"/>
                  <a:pt x="0" y="38"/>
                  <a:pt x="0" y="3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62000" y="6115050"/>
            <a:ext cx="10706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为什么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 17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条够用：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7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组合场景覆盖了所有可能的策略对（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n×(n-1)/2=36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），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10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单策略边界覆盖了</a:t>
            </a:r>
            <a:r>
              <a:rPr lang="en-US" sz="900" b="1">
                <a:solidFill>
                  <a:srgbClr val="475569"/>
                </a:solidFill>
                <a:latin typeface="Microsoft YaHei"/>
                <a:ea typeface="Microsoft YaHei"/>
              </a:rPr>
              <a:t> 5 </a:t>
            </a:r>
            <a:r>
              <a:rPr lang="zh-CN" sz="900" b="1">
                <a:solidFill>
                  <a:srgbClr val="475569"/>
                </a:solidFill>
                <a:latin typeface="Microsoft YaHei"/>
                <a:ea typeface="Microsoft YaHei"/>
              </a:rPr>
              <a:t>步算法的所有边界——再多的测试是冗余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3533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用例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= 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种业务冲突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+ 10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条单策略边界，零失败零跳过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05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20px 60px 0', height: 70 }}&gt;&#10;            &lt;Box style={{ flexDirection: 'row', alignItems: 'flex-end', justifyContent: 'space-between' }}&gt;&#10;                &lt;Box&gt;&#10;                    &lt;Text style={{ fontSize: 16, color: '#EF4444', fontWeight: 'bold', letterSpacing: 2 }}&gt;&#10;                        审  计 与 治 理 · GAPS&#10;                    &lt;/Text&gt;&#10;                    &lt;Text style={{ fontSize: 32, fontWeight: 'bold', color: '#1A1A1A', marginTop: 6 }}&gt;&#10;                        4 周达成率 92%·还差 3 件事要补&#10;                    &lt;/Text&gt;&#10;                &lt;/Box&gt;&#10;                &lt;Text style={{ fontSize: 14, color: '#94A3B8' }}&gt;P09 / 11&lt;/Text&gt;&#10;            &lt;/Box&gt;&#10;        &lt;/Box&gt;&#10;&#10;        {/* B 区 */}&#10;        &lt;Box style={{&#10;            flex: 1,&#10;            padding: '8px 60px 0',&#10;            flexDirection: 'row',&#10;            gap: 16,&#10;        }}&gt;&#10;&#10;            {/* 左：周期达成率 */}&#10;            &lt;Box style={{ width: 280, flexDirection: 'column' }}&gt;&#10;                &lt;Text style={{ fontSize: 14, color: '#64748B', fontWeight: 'bold', letterSpacing: 1.5, marginBottom: 12 }}&gt;&#10;                    达成率&#10;                &lt;/Text&gt;&#10;                {[&#10;                    { name: 'P1 9 策略梳理', rate: 90, color: '#3B82F6' },&#10;                    { name: 'P2 接口语言', rate: 85, color: '#06B6D4' },&#10;                    { name: 'P3 调度容器', rate: 100, color: '#22C55E' },&#10;                    { name: 'P4 仲裁机制', rate: 95, color: '#EF4444' },&#10;                ].map((row, idx) =&gt; (&#10;                    &lt;Box key={idx} style={{ marginBottom: 14 }}&gt;&#10;                        &lt;Box style={{ flexDirection: 'row', alignItems: 'center', marginBottom: 4 }}&gt;&#10;                            &lt;Text style={{ fontSize: 13, color: '#1A1A1A', fontWeight: 'bold' }}&gt;{row.name}&lt;/Text&gt;&#10;                            &lt;Box style={{ flex: 1 }} /&gt;&#10;                            &lt;Text style={{&#10;                                fontSize: 16,&#10;                                color: row.color,&#10;                                fontWeight: 'bold',&#10;                                fontFamily: 'JetBrains Mono, monospace',&#10;                            }}&gt;{row.rate}%&lt;/Text&gt;&#10;                        &lt;/Box&gt;&#10;                        &lt;Box style={{&#10;                            width: '100%',&#10;                            height: 10,&#10;                            background: '#F1F5F9',&#10;                            borderRadius: 5,&#10;                            overflow: 'hidden',&#10;                        }}&gt;&#10;                            &lt;Box style={{&#10;                                width: row.rate + '%',&#10;                                height: '100%',&#10;                                background: row.color,&#10;                                borderRadius: 5,&#10;                            }} /&gt;&#10;                        &lt;/Box&gt;&#10;                    &lt;/Box&gt;&#10;                ))}&#10;&#10;                &lt;Box style={{&#10;                    marginTop: 6,&#10;                    padding: '10px 14px',&#10;                    background: '#F8FAFC',&#10;                    borderRadius: 8,&#10;                    border: '1px dashed #CBD5E1',&#10;                }}&gt;&#10;                    &lt;Text style={{ fontSize: 12, color: '#64748B', lineHeight: 1.5 }}&gt;&#10;                        综合达成率 = 4 周达成率的加权平均，反映&quot;设计与实施对齐度&quot;&#10;                    &lt;/Text&gt;&#10;                &lt;/Box&gt;&#10;&#10;                &lt;Box style={{&#10;                    marginTop: 12,&#10;                    padding: '12px 14px',&#10;                    background: '#FEF2F2',&#10;                    borderRadius: 8,&#10;                }}&gt;&#10;                    &lt;Text style={{ fontSize: 13, color: '#EF4444', fontWeight: 'bold', letterSpacing: 1.5 }}&gt;&#10;                        平均 92%&#10;                    &lt;/Text&gt;&#10;                    &lt;Text style={{ fontSize: 13, color: '#1A1A1A', marginTop: 6, lineHeight: 1.5 }}&gt;&#10;                        余下 8% 是 3 处&quot;治理差距&quot;，不是功能未达&#10;                    &lt;/Text&gt;&#10;                &lt;/Box&gt;&#10;            &lt;/Box&gt;&#10;&#10;            {/* 右：3 个差距 */}&#10;            &lt;Box style={{ flex: 1, flexDirection: 'column', gap: 10 }}&gt;&#10;&#10;                &lt;Text style={{ fontSize: 14, color: '#64748B', fontWeight: 'bold', letterSpacing: 1.5, marginBottom: 4 }}&gt;&#10;                    3 处治理差距&#10;                &lt;/Text&gt;&#10;&#10;                {/* 差距 1 */}&#10;                &lt;Box style={{&#10;                    flex: 1,&#10;                    padding: '12px 16px',&#10;                    background: '#FEF2F2',&#10;                    borderRadius: 10,&#10;                    borderLeft: '5px solid #EF4444',&#10;                    flexDirection: 'row',&#10;                    alignItems: 'center',&#10;                }}&gt;&#10;                    &lt;Box style={{&#10;                        width: 48, height: 48, borderRadius: 8,&#10;                        background: '#EF4444',&#10;                        alignItems: 'center', justifyContent: 'center',&#10;                        marginRight: 14,&#10;                    }}&gt;&#10;                        &lt;Text style={{ color: '#FFFFFF', fontSize: 22, fontWeight: 'bold', fontFamily: 'JetBrains Mono, monospace' }}&gt;&#10;                            G1&#10;                        &lt;/Text&gt;&#10;                    &lt;/Box&gt;&#10;                    &lt;Box style={{ flex: 1 }}&gt;&#10;                        &lt;Text style={{ fontSize: 15, fontWeight: 'bold', color: '#1A1A1A' }}&gt;&#10;                            策略 ID 与字段命名不统一&#10;                        &lt;/Text&gt;&#10;                        &lt;Text style={{ fontSize: 12, color: '#475569', marginTop: 5, lineHeight: 1.5 }}&gt;&#10;                            设计方案、接口规范、04/ 实际代码对&quot;策略 ID&quot;和&quot;功率区间字段&quot;有 3 套编号和命名。后续要建一份 &lt;Text style={{ fontWeight: 'bold' }}&gt;SSOT（单一数据源）&lt;/Text&gt;&#10;                        &lt;/Text&gt;&#10;                        &lt;Text style={{ fontSize: 11, color: '#B91C1C', marginTop: 4, fontWeight: 'bold' }}&gt;&#10;                            为什么可控：手动对齐 9 次未出错，是因为人脑在弥补&#10;                        &lt;/Text&gt;&#10;                    &lt;/Box&gt;&#10;                &lt;/Box&gt;&#10;&#10;                {/* 差距 2 */}&#10;                &lt;Box style={{&#10;                    flex: 1,&#10;                    padding: '12px 16px',&#10;                    background: '#FFF7ED',&#10;                    borderRadius: 10,&#10;                    borderLeft: '5px solid #F97316',&#10;                    flexDirection: 'row',&#10;                    alignItems: 'center',&#10;                }}&gt;&#10;                    &lt;Box style={{&#10;                        width: 48, height: 48, borderRadius: 8,&#10;                        background: '#F97316',&#10;                        alignItems: 'center', justifyContent: 'center',&#10;                        marginRight: 14,&#10;                    }}&gt;&#10;                        &lt;Text style={{ color: '#FFFFFF', fontSize: 22, fontWeight: 'bold', fontFamily: 'JetBrains Mono, monospace' }}&gt;&#10;                            G2&#10;                        &lt;/Text&gt;&#10;                    &lt;/Box&gt;&#10;                    &lt;Box style={{ flex: 1 }}&gt;&#10;                        &lt;Text style={{ fontSize: 15, fontWeight: 'bold', color: '#1A1A1A' }}&gt;&#10;                            字段定义还在两种说法&#10;                        &lt;/Text&gt;&#10;                        &lt;Text style={{ fontSize: 12, color: '#475569', marginTop: 5, lineHeight: 1.5 }}&gt;&#10;                            设计用 target_power/max_power/min_power；04/ 用 p_desired/p_upper/p_lower。要么把设计改过来、要么把代码改过去，&lt;Text style={{ fontWeight: 'bold' }}&gt;二选一保持一致&lt;/Text&gt;&#10;                        &lt;/Text&gt;&#10;                        &lt;Text style={{ fontSize: 11, color: '#9A3412', marginTop: 4, fontWeight: 'bold' }}&gt;&#10;                            为什么可控：语义一致，仅名字不同——选一个改完即可&#10;                        &lt;/Text&gt;&#10;                    &lt;/Box&gt;&#10;                &lt;/Box&gt;&#10;&#10;                {/* 差距 3 */}&#10;                &lt;Box style={{&#10;                    flex: 1,&#10;                    padding: '12px 16px',&#10;                    background: '#FEF3C7',&#10;                    borderRadius: 10,&#10;                    borderLeft: '5px solid #F59E0B',&#10;                    flexDirection: 'row',&#10;                    alignItems: 'center',&#10;                }}&gt;&#10;                    &lt;Box style={{&#10;                        width: 48, height: 48, borderRadius: 8,&#10;                        background: '#F59E0B',&#10;                        alignItems: 'center', justifyContent: 'center',&#10;                        marginRight: 14,&#10;                    }}&gt;&#10;                        &lt;Text style={{ color: '#FFFFFF', fontSize: 22, fontWeight: 'bold', fontFamily: 'JetBrains Mono, monospace' }}&gt;&#10;                            G3&#10;                        &lt;/Text&gt;&#10;                    &lt;/Box&gt;&#10;                    &lt;Box style={{ flex: 1 }}&gt;&#10;                        &lt;Text style={{ fontSize: 15, fontWeight: 'bold', color: '#1A1A1A' }}&gt;&#10;                            T07 测试场景与设计意图不一致&#10;                        &lt;/Text&gt;&#10;                        &lt;Text style={{ fontSize: 12, color: '#475569', marginTop: 5, lineHeight: 1.5 }}&gt;&#10;                            设计说&quot;PCS 上限 200 度&quot;作为限制源，T07 用&quot;PCS=200&quot;模拟——意图是测变压器过载，实际压在了 PCS。下个迭代修测试 fixture&#10;                        &lt;/Text&gt;&#10;                        &lt;Text style={{ fontSize: 11, color: '#92400E', marginTop: 4, fontWeight: 'bold' }}&gt;&#10;                            为什么可控：测试逻辑没错，只是测的不是设计本意&#10;                        &lt;/Text&gt;&#10;                    &lt;/Box&gt;&#10;                &lt;/Box&gt;&#10;&#10;            &lt;/Box&gt;&#10;&#10;        &lt;/Box&gt;&#10;&#10;        {/* C 区 */}&#10;        &lt;Box style={{&#10;            padding: '0 60px 12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3 处差距已在审计文档中标出，下一阶段（状态机）启动前补齐&#10;            &lt;/Text&gt;&#10;            &lt;Text style={{ fontSize: 14, color: '#94A3B8' }}&gt;09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458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审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 </a:t>
            </a: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计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与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治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理</a:t>
            </a:r>
            <a:r>
              <a:rPr lang="en-US" sz="1200" b="1" spc="150">
                <a:solidFill>
                  <a:srgbClr val="EF4444"/>
                </a:solidFill>
                <a:latin typeface="Microsoft YaHei"/>
                <a:ea typeface="Microsoft YaHei"/>
              </a:rPr>
              <a:t> · GAPS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4581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4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周达成率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92%·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还差</a:t>
            </a:r>
            <a:r>
              <a:rPr lang="en-US" sz="2400" b="1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2400" b="1">
                <a:solidFill>
                  <a:srgbClr val="1A1A1A"/>
                </a:solidFill>
                <a:latin typeface="Microsoft YaHei"/>
                <a:ea typeface="Microsoft YaHei"/>
              </a:rPr>
              <a:t>件事要补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087100" y="647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P09 / 11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571500" y="74295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达成率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71500" y="103822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P1 9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策略梳理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2962275" y="10191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JetBrains Mono"/>
                <a:ea typeface="JetBrains Mono"/>
              </a:rPr>
              <a:t>90</a:t>
            </a:r>
            <a:r>
              <a:rPr lang="en-US" sz="1200" b="1">
                <a:solidFill>
                  <a:srgbClr val="3B82F6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71500" y="12477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571500" y="1247775"/>
            <a:ext cx="2400300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71500" y="1495425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P2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接口语言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2962275" y="14763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6B6D4"/>
                </a:solidFill>
                <a:latin typeface="JetBrains Mono"/>
                <a:ea typeface="JetBrains Mono"/>
              </a:rPr>
              <a:t>85</a:t>
            </a:r>
            <a:r>
              <a:rPr lang="en-US" sz="1200" b="1">
                <a:solidFill>
                  <a:srgbClr val="06B6D4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71500" y="17049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571500" y="1704975"/>
            <a:ext cx="22669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71500" y="1952625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P3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调度容器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867025" y="1933575"/>
            <a:ext cx="371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2C55E"/>
                </a:solidFill>
                <a:latin typeface="JetBrains Mono"/>
                <a:ea typeface="JetBrains Mono"/>
              </a:rPr>
              <a:t>100</a:t>
            </a:r>
            <a:r>
              <a:rPr lang="en-US" sz="1200" b="1">
                <a:solidFill>
                  <a:srgbClr val="22C55E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571500" y="21621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571500" y="21621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71500" y="2409825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Microsoft YaHei"/>
                <a:ea typeface="Microsoft YaHei"/>
              </a:rPr>
              <a:t>P4 </a:t>
            </a:r>
            <a:r>
              <a:rPr lang="zh-CN" sz="975" b="1">
                <a:solidFill>
                  <a:srgbClr val="1A1A1A"/>
                </a:solidFill>
                <a:latin typeface="Microsoft YaHei"/>
                <a:ea typeface="Microsoft YaHei"/>
              </a:rPr>
              <a:t>仲裁机制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962275" y="23907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JetBrains Mono"/>
                <a:ea typeface="JetBrains Mono"/>
              </a:rPr>
              <a:t>95</a:t>
            </a:r>
            <a:r>
              <a:rPr lang="en-US" sz="1200" b="1">
                <a:solidFill>
                  <a:srgbClr val="EF4444"/>
                </a:solidFill>
                <a:latin typeface="JetBrains Mono"/>
                <a:ea typeface="JetBrains Mono"/>
              </a:rPr>
              <a:t>%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571500" y="2619375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571500" y="2619375"/>
            <a:ext cx="25336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571500" y="2905125"/>
            <a:ext cx="26670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04850" y="3000375"/>
            <a:ext cx="2400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综合达成率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= 4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周达成率的加权平均，反映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设计与实施对齐度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71500" y="3629025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04850" y="37433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平均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92%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04850" y="3952875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余下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8%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是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处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治理差距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，不是功能未达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3390900" y="742950"/>
            <a:ext cx="822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3 </a:t>
            </a: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处治理差距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3438525" y="1038225"/>
            <a:ext cx="8229600" cy="1733550"/>
          </a:xfrm>
          <a:prstGeom prst="roundRect">
            <a:avLst>
              <a:gd name="adj" fmla="val 5495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3438525" y="1038225"/>
            <a:ext cx="8229600" cy="1733550"/>
          </a:xfrm>
          <a:custGeom>
            <a:pathLst>
              <a:path w="864" h="18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7"/>
                </a:lnTo>
                <a:cubicBezTo>
                  <a:pt x="5" y="179"/>
                  <a:pt x="7" y="181"/>
                  <a:pt x="9" y="182"/>
                </a:cubicBezTo>
                <a:cubicBezTo>
                  <a:pt x="4" y="181"/>
                  <a:pt x="0" y="177"/>
                  <a:pt x="0" y="1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3590925" y="16764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3695700" y="178117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G1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181475" y="1609725"/>
            <a:ext cx="7286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策略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ID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与字段命名不统一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181475" y="1828800"/>
            <a:ext cx="7286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设计方案、接口规范、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04/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实际代码对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策略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ID"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功率区间字段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有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3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套编号和命名。后续要建一份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SSOT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（单一数据源）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181475" y="2076450"/>
            <a:ext cx="7286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B91C1C"/>
                </a:solidFill>
                <a:latin typeface="Microsoft YaHei"/>
                <a:ea typeface="Microsoft YaHei"/>
              </a:rPr>
              <a:t>为什么可控：手动对齐</a:t>
            </a:r>
            <a:r>
              <a:rPr lang="en-US" sz="825" b="1">
                <a:solidFill>
                  <a:srgbClr val="B91C1C"/>
                </a:solidFill>
                <a:latin typeface="Microsoft YaHei"/>
                <a:ea typeface="Microsoft YaHei"/>
              </a:rPr>
              <a:t> 9 </a:t>
            </a:r>
            <a:r>
              <a:rPr lang="zh-CN" sz="825" b="1">
                <a:solidFill>
                  <a:srgbClr val="B91C1C"/>
                </a:solidFill>
                <a:latin typeface="Microsoft YaHei"/>
                <a:ea typeface="Microsoft YaHei"/>
              </a:rPr>
              <a:t>次未出错，是因为人脑在弥补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3438525" y="2867025"/>
            <a:ext cx="8229600" cy="1724025"/>
          </a:xfrm>
          <a:prstGeom prst="roundRect">
            <a:avLst>
              <a:gd name="adj" fmla="val 5525"/>
            </a:avLst>
          </a:prstGeom>
          <a:solidFill>
            <a:srgbClr val="FFF7ED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3438525" y="2867025"/>
            <a:ext cx="8229600" cy="1724025"/>
          </a:xfrm>
          <a:custGeom>
            <a:pathLst>
              <a:path w="864" h="18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6"/>
                </a:lnTo>
                <a:cubicBezTo>
                  <a:pt x="5" y="178"/>
                  <a:pt x="7" y="180"/>
                  <a:pt x="9" y="181"/>
                </a:cubicBezTo>
                <a:cubicBezTo>
                  <a:pt x="4" y="180"/>
                  <a:pt x="0" y="176"/>
                  <a:pt x="0" y="17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3590925" y="35052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3695700" y="360997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G2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4181475" y="3429000"/>
            <a:ext cx="7286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字段定义还在两种说法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4181475" y="3648075"/>
            <a:ext cx="72866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target_power/max_power/min_power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；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04/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p_desired/p_upper/p_lower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。要么把设计改过来、要么把代码改过去，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二选一保持一致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4181475" y="4105275"/>
            <a:ext cx="7286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A3412"/>
                </a:solidFill>
                <a:latin typeface="Microsoft YaHei"/>
                <a:ea typeface="Microsoft YaHei"/>
              </a:rPr>
              <a:t>为什么可控：语义一致，仅名字不同——选一个改完即可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3438525" y="4686300"/>
            <a:ext cx="8229600" cy="1733550"/>
          </a:xfrm>
          <a:prstGeom prst="roundRect">
            <a:avLst>
              <a:gd name="adj" fmla="val 549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3438525" y="4686300"/>
            <a:ext cx="8229600" cy="1733550"/>
          </a:xfrm>
          <a:custGeom>
            <a:pathLst>
              <a:path w="864" h="18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77"/>
                </a:lnTo>
                <a:cubicBezTo>
                  <a:pt x="5" y="179"/>
                  <a:pt x="7" y="181"/>
                  <a:pt x="9" y="182"/>
                </a:cubicBezTo>
                <a:cubicBezTo>
                  <a:pt x="4" y="181"/>
                  <a:pt x="0" y="177"/>
                  <a:pt x="0" y="1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3590925" y="53244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695700" y="5429250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G3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181475" y="5257800"/>
            <a:ext cx="7286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T07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测试场景与设计意图不一致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181475" y="5476875"/>
            <a:ext cx="72866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设计说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"PCS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上限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200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度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作为限制源，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T07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用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"PCS=200"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模拟——意图是测变压器过载，实际压在了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PCS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。下个迭代修测试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fixture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181475" y="5724525"/>
            <a:ext cx="7286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92400E"/>
                </a:solidFill>
                <a:latin typeface="Microsoft YaHei"/>
                <a:ea typeface="Microsoft YaHei"/>
              </a:rPr>
              <a:t>为什么可控：测试逻辑没错，只是测的不是设计本意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71500" y="6505575"/>
            <a:ext cx="372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3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处差距已在审计文档中标出，下一阶段（状态机）启动前补齐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1163300" y="65055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 padding={0}&gt;&#10;&#10;    &lt;Box style={{&#10;        width: '100%',&#10;        height: '100%',&#10;        background: '#FFFFFF',&#10;        flexDirection: 'column',&#10;        padding: 0,&#10;    }}&gt;&#10;&#10;        {/* A 区 */}&#10;        &lt;Box style={{ padding: '16px 60px 0', height: 60 }}&gt;&#10;            &lt;Box style={{ flexDirection: 'row', alignItems: 'flex-end', justifyContent: 'space-between' }}&gt;&#10;                &lt;Box&gt;&#10;                    &lt;Text style={{ fontSize: 16, color: '#3B82F6', fontWeight: 'bold', letterSpacing: 2 }}&gt;&#10;                        后续路线 · WHAT REMAINS&#10;                    &lt;/Text&gt;&#10;                    &lt;Text style={{ fontSize: 28, fontWeight: 'bold', color: '#1A1A1A', marginTop: 4 }}&gt;&#10;                        算法层已经攒好——剩下 4 件事把系统从&quot;算&quot;走向&quot;跑&quot;&#10;                    &lt;/Text&gt;&#10;                &lt;/Box&gt;&#10;                &lt;Text style={{ fontSize: 14, color: '#94A3B8' }}&gt;P10 / 11&lt;/Text&gt;&#10;            &lt;/Box&gt;&#10;        &lt;/Box&gt;&#10;&#10;        {/* B 区 */}&#10;        &lt;Box style={{&#10;            flex: 1,&#10;            padding: '12px 60px 0',&#10;            flexDirection: 'row',&#10;            gap: 16,&#10;        }}&gt;&#10;&#10;            {/* 左：已完成 4 件在全图上的位置 */}&#10;            &lt;Box style={{ flex: 9 }}&gt;&#10;                &lt;Text style={{ fontSize: 14, color: '#64748B', fontWeight: 'bold', letterSpacing: 1.5, marginBottom: 8 }}&gt;&#10;                    把当前 4 件放在系统全图上&#10;                &lt;/Text&gt;&#10;                &lt;Box style={{&#10;                    background: '#F8FAFC',&#10;                    borderRadius: 10,&#10;                    border: '1px solid #E2E8F0',&#10;                    padding: 16,&#10;                    height: 460,&#10;                }}&gt;&#10;                    &lt;svg width='100%' height='100%' viewBox='0 0 850 430'&gt;&#10;                        {/* 感知层 */}&#10;                        &lt;rect x='10' y='20' width='830' height='46' rx='6' fill='#F1F5F9' stroke='#94A3B8' /&gt;&#10;                        &lt;text x='30' y='50' fill='#475569' fontSize='15' fontFamily='Source Han Sans SC' fontWeight='bold'&gt;L1 · 感知&lt;/text&gt;&#10;                        &lt;text x='140' y='50' fill='#1A1A1A' fontSize='14' fontFamily='Source Han Sans SC'&gt;已有采集数据&lt;/text&gt;&#10;                        &lt;text x='820' y='50' textAnchor='end' fill='#64748B' fontSize='13' fontFamily='Source Han Sans SC'&gt;历史数据，足够用&lt;/text&gt;&#10;&#10;                        {/* 算法层（已交付 — 重点高亮）*/}&#10;                        &lt;rect x='10' y='85' width='830' height='100' rx='8' fill='#EFF6FF' stroke='#3B82F6' strokeWidth='3' /&gt;&#10;                        &lt;rect x='10' y='85' width='6' height='100' fill='#3B82F6' /&gt;&#10;                        &lt;text x='40' y='110' fill='#1E40AF' fontSize='16' fontFamily='Source Han Sans SC' fontWeight='bold'&gt;L2 · 算法&lt;/text&gt;&#10;                        &lt;text x='40' y='130' fill='#1A1A1A' fontSize='14' fontFamily='Source Han Sans SC'&gt;前 4 周交付：9 策略 / 区间语言 / 调度容器 / 仲裁&lt;/text&gt;&#10;                        &lt;text x='820' y='110' textAnchor='end' fill='#3B82F6' fontSize='13' fontFamily='Source Han Sans SC' fontWeight='bold'&gt;已交付&lt;/text&gt;&#10;                        &lt;text x='820' y='130' textAnchor='end' fill='#1E40AF' fontSize='13' fontFamily='Source Han Sans SC'&gt;21 个场景验证通过&lt;/text&gt;&#10;&#10;                        {/* 4 子盒 */}&#10;                        &lt;rect x='40' y='140' width='180' height='35' rx='4' fill='#FFFFFF' stroke='#3B82F6' /&gt;&#10;                        &lt;text x='130' y='162' textAnchor='middle' fill='#1E40AF' fontSize='13' fontFamily='Source Han Sans SC' fontWeight='bold'&gt;9 业务意志&lt;/text&gt;&#10;                        &lt;rect x='230' y='140' width='180' height='35' rx='4' fill='#FFFFFF' stroke='#06B6D4' /&gt;&#10;                        &lt;text x='320' y='162' textAnchor='middle' fill='#0E7490' fontSize='13' fontFamily='Source Han Sans SC' fontWeight='bold'&gt;区间语言&lt;/text&gt;&#10;                        &lt;rect x='420' y='140' width='180' height='35' rx='4' fill='#FFFFFF' stroke='#22C55E' /&gt;&#10;                        &lt;text x='510' y='162' textAnchor='middle' fill='#166534' fontSize='13' fontFamily='Source Han Sans SC' fontWeight='bold'&gt;调度容器&lt;/text&gt;&#10;                        &lt;rect x='610' y='140' width='220' height='35' rx='4' fill='#FFFFFF' stroke='#EF4444' /&gt;&#10;                        &lt;text x='720' y='162' textAnchor='middle' fill='#B91C1C' fontSize='13' fontFamily='Source Han Sans SC' fontWeight='bold'&gt;5 步仲裁&lt;/text&gt;&#10;&#10;                        {/* 执行层（部分有）*/}&#10;                        &lt;rect x='10' y='205' width='830' height='50' rx='6' fill='#F1F5F9' stroke='#94A3B8' /&gt;&#10;                        &lt;text x='30' y='234' fill='#475569' fontSize='15' fontFamily='Source Han Sans SC' fontWeight='bold'&gt;L3 · 执行&lt;/text&gt;&#10;                        &lt;text x='140' y='234' fill='#1A1A1A' fontSize='14' fontFamily='Source Han Sans SC'&gt;4 个实时控制器 — 已有原型&lt;/text&gt;&#10;                        &lt;text x='820' y='234' textAnchor='end' fill='#64748B' fontSize='13' fontFamily='Source Han Sans SC'&gt;有自测数据，等接算法&lt;/text&gt;&#10;&#10;                        {/* 运行层 — 缺口 */}&#10;                        &lt;rect x='10' y='275' width='830' height='50' rx='6' fill='#FEF3C7' stroke='#F59E0B' strokeWidth='2' /&gt;&#10;                        &lt;text x='30' y='304' fill='#92400E' fontSize='15' fontFamily='Source Han Sans SC' fontWeight='bold'&gt;L4 · 运行&lt;/text&gt;&#10;                        &lt;text x='140' y='304' fill='#1A1A1A' fontSize='14' fontFamily='Source Han Sans SC'&gt;状态机 / 启停 / 告警 — 还要做&lt;/text&gt;&#10;                        &lt;text x='820' y='304' textAnchor='end' fill='#F59E0B' fontSize='13' fontFamily='Source Han Sans SC' fontWeight='bold'&gt;待 启动&lt;/text&gt;&#10;&#10;                        {/* 端到端 */}&#10;                        &lt;rect x='10' y='345' width='830' height='50' rx='6' fill='#FEF2F2' stroke='#EF4444' strokeWidth='2' /&gt;&#10;                        &lt;text x='30' y='374' fill='#B91C1C' fontSize='15' fontFamily='Source Han Sans SC' fontWeight='bold'&gt;端到端联调 + 验收&lt;/text&gt;&#10;                        &lt;text x='820' y='374' textAnchor='end' fill='#EF4444' fontSize='13' fontFamily='Source Han Sans SC' fontWeight='bold'&gt;最终验收&lt;/text&gt;&#10;                    &lt;/svg&gt;&#10;                &lt;/Box&gt;&#10;            &lt;/Box&gt;&#10;&#10;            {/* 右：剩余 4 件事清单 */}&#10;            &lt;Box style={{ flex: 7, flexDirection: 'column' }}&gt;&#10;                &lt;Text style={{ fontSize: 14, color: '#64748B', fontWeight: 'bold', letterSpacing: 1.5, marginBottom: 8 }}&gt;&#10;                    剩 4 件——按业务因果排，不是按周排&#10;                &lt;/Text&gt;&#10;&#10;                {[&#10;                    {&#10;                        tag: 'P6', color: '#F59E0B',&#10;                        name: '建状态机',&#10;                        why: '&quot;什么时候算法层可以下手&quot;',&#10;                        detail: '把 INIT/就绪/正常/降级/故障/紧急 6 种状态写出来——告诉上层&quot;现在能不能用仲裁出来的结果&quot;',&#10;                    },&#10;                    {&#10;                        tag: 'P8', color: '#06B6D4',&#10;                        name: '接 MILP 优化器',&#10;                        why: '&quot;把 01 的全局最优计划喂给算法层&quot;',&#10;                        detail: 'S08 动态优化现在用经验区间；下一步接 01 的精确数学规划结果，区间会更紧、更准',&#10;                    },&#10;                    {&#10;                        tag: 'P11', color: '#EF4444',&#10;                        name: '端到端联调',&#10;                        why: '&quot;从仿真到现场的真实链路&quot;',&#10;                        detail: '把 04 输出的 P_bat 真正下发到 4 个控制器，跑通一个完整工作日——把仿真结果变成真实节能',&#10;                    },&#10;                    {&#10;                        tag: 'P12', color: '#1A1A1A',&#10;                        name: '系统验收',&#10;                        why: '&quot;能不能上业主&quot;',&#10;                        detail: '4 层闭环在真实数据下的完整验收——通过即上线，否则回到 P6 修状态机',&#10;                    },&#10;                ].map((row, idx) =&gt; (&#10;                    &lt;Box key={idx} style={{&#10;                        flex: 1,&#10;                        padding: '10px 14px',&#10;                        background: '#FFFFFF',&#10;                        borderRadius: 8,&#10;                        borderLeft: '4px solid ' + row.color,&#10;                        marginBottom: 6,&#10;                        flexDirection: 'row',&#10;                        alignItems: 'center',&#10;                    }}&gt;&#10;                        &lt;Box style={{&#10;                            width: 40, padding: '5px 0',&#10;                            background: row.color, borderRadius: 4,&#10;                            alignItems: 'center',&#10;                            marginRight: 12,&#10;                        }}&gt;&#10;                            &lt;Text style={{&#10;                                color: '#FFFFFF', fontSize: 13,&#10;                                fontWeight: 'bold', textAlign: 'center',&#10;                            }}&gt;{row.tag}&lt;/Text&gt;&#10;                        &lt;/Box&gt;&#10;                        &lt;Box style={{ flex: 1 }}&gt;&#10;                            &lt;Box style={{ flexDirection: 'row', alignItems: 'baseline' }}&gt;&#10;                                &lt;Text style={{ fontSize: 15, fontWeight: 'bold', color: '#1A1A1A' }}&gt;&#10;                                    {row.name}&#10;                                &lt;/Text&gt;&#10;                                &lt;Text style={{ fontSize: 12, color: row.color, marginLeft: 8, fontWeight: 'bold' }}&gt;&#10;                                    {row.why}&#10;                                &lt;/Text&gt;&#10;                            &lt;/Box&gt;&#10;                            &lt;Text style={{ fontSize: 12, color: '#475569', marginTop: 3, lineHeight: 1.45 }}&gt;&#10;                                {row.detail}&#10;                            &lt;/Text&gt;&#10;                        &lt;/Box&gt;&#10;                    &lt;/Box&gt;&#10;                ))}&#10;            &lt;/Box&gt;&#10;&#10;        &lt;/Box&gt;&#10;&#10;        {/* C 区 */}&#10;        &lt;Box style={{&#10;            padding: '0 60px 10px',&#10;            height: 46,&#10;            flexDirection: 'row',&#10;            alignItems: 'center',&#10;            justifyContent: 'space-between',&#10;            borderTop: '1px solid #E2E8F0',&#10;        }}&gt;&#10;            &lt;Text style={{ fontSize: 14, color: '#94A3B8' }}&gt;&#10;                路线 = 让算法从&quot;会算&quot;走到&quot;会被系统生命周期正确调度&quot;&#10;            &lt;/Text&gt;&#10;            &lt;Text style={{ fontSize: 14, color: '#94A3B8' }}&gt;10 / 11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152400"/>
            <a:ext cx="6524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后续路线</a:t>
            </a:r>
            <a:r>
              <a:rPr lang="en-US" sz="1200" b="1" spc="150">
                <a:solidFill>
                  <a:srgbClr val="3B82F6"/>
                </a:solidFill>
                <a:latin typeface="Microsoft YaHei"/>
                <a:ea typeface="Microsoft YaHei"/>
              </a:rPr>
              <a:t> · WHAT REMAINS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65246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算法层已经攒好——剩下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件事把系统从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算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走向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1A1A1A"/>
                </a:solidFill>
                <a:latin typeface="Microsoft YaHei"/>
                <a:ea typeface="Microsoft YaHei"/>
              </a:rPr>
              <a:t>跑</a:t>
            </a:r>
            <a:r>
              <a:rPr lang="en-US" sz="21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087100" y="5429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P10 / 11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685800"/>
            <a:ext cx="613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把当前</a:t>
            </a:r>
            <a:r>
              <a:rPr lang="en-US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件放在系统全图上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923925"/>
            <a:ext cx="6134100" cy="4381500"/>
          </a:xfrm>
          <a:prstGeom prst="roundRect">
            <a:avLst>
              <a:gd name="adj" fmla="val 21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076325"/>
            <a:ext cx="5829300" cy="407670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0" y="6858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剩</a:t>
            </a:r>
            <a:r>
              <a:rPr lang="en-US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 4 </a:t>
            </a:r>
            <a:r>
              <a:rPr lang="zh-CN" sz="1050" b="1" spc="113">
                <a:solidFill>
                  <a:srgbClr val="64748B"/>
                </a:solidFill>
                <a:latin typeface="Microsoft YaHei"/>
                <a:ea typeface="Microsoft YaHei"/>
              </a:rPr>
              <a:t>件——按业务因果排，不是按周排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96100" y="923925"/>
            <a:ext cx="4762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896100" y="923925"/>
            <a:ext cx="4762500" cy="1371600"/>
          </a:xfrm>
          <a:custGeom>
            <a:pathLst>
              <a:path w="500" h="1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0"/>
                </a:lnTo>
                <a:cubicBezTo>
                  <a:pt x="4" y="142"/>
                  <a:pt x="5" y="144"/>
                  <a:pt x="7" y="144"/>
                </a:cubicBezTo>
                <a:cubicBezTo>
                  <a:pt x="3" y="144"/>
                  <a:pt x="0" y="140"/>
                  <a:pt x="0" y="1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7029450" y="1485900"/>
            <a:ext cx="381000" cy="24765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143750" y="1533525"/>
            <a:ext cx="1619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P6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24750" y="13144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建状态机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172450" y="1314450"/>
            <a:ext cx="138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F59E0B"/>
                </a:solidFill>
                <a:latin typeface="Microsoft YaHei"/>
                <a:ea typeface="Microsoft YaHei"/>
              </a:rPr>
              <a:t>什么时候算法层可以下手</a:t>
            </a: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524750" y="1514475"/>
            <a:ext cx="39624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INIT/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就绪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正常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降级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故障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紧急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6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种状态写出来——告诉上层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现在能不能用仲裁出来的结果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896100" y="2352675"/>
            <a:ext cx="476250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6896100" y="2352675"/>
            <a:ext cx="4762500" cy="1362075"/>
          </a:xfrm>
          <a:custGeom>
            <a:pathLst>
              <a:path w="500" h="14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39"/>
                </a:lnTo>
                <a:cubicBezTo>
                  <a:pt x="4" y="141"/>
                  <a:pt x="5" y="143"/>
                  <a:pt x="7" y="143"/>
                </a:cubicBezTo>
                <a:cubicBezTo>
                  <a:pt x="3" y="143"/>
                  <a:pt x="0" y="139"/>
                  <a:pt x="0" y="13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7029450" y="2914650"/>
            <a:ext cx="381000" cy="247650"/>
          </a:xfrm>
          <a:prstGeom prst="roundRect">
            <a:avLst>
              <a:gd name="adj" fmla="val 15385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143750" y="2962275"/>
            <a:ext cx="1619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P8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524750" y="2733675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接</a:t>
            </a:r>
            <a:r>
              <a:rPr lang="en-US" sz="1125" b="1">
                <a:solidFill>
                  <a:srgbClr val="1A1A1A"/>
                </a:solidFill>
                <a:latin typeface="Microsoft YaHei"/>
                <a:ea typeface="Microsoft YaHei"/>
              </a:rPr>
              <a:t> MILP </a:t>
            </a: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优化器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629650" y="2733675"/>
            <a:ext cx="1819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06B6D4"/>
                </a:solidFill>
                <a:latin typeface="Microsoft YaHei"/>
                <a:ea typeface="Microsoft YaHei"/>
              </a:rPr>
              <a:t>把</a:t>
            </a: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 01 </a:t>
            </a:r>
            <a:r>
              <a:rPr lang="zh-CN" sz="900" b="1">
                <a:solidFill>
                  <a:srgbClr val="06B6D4"/>
                </a:solidFill>
                <a:latin typeface="Microsoft YaHei"/>
                <a:ea typeface="Microsoft YaHei"/>
              </a:rPr>
              <a:t>的全局最优计划喂给算法层</a:t>
            </a: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524750" y="2933700"/>
            <a:ext cx="39624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S08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动态优化现在用经验区间；下一步接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01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的精确数学规划结果，区间会更紧、更准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96100" y="3771900"/>
            <a:ext cx="47625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896100" y="3771900"/>
            <a:ext cx="4762500" cy="1371600"/>
          </a:xfrm>
          <a:custGeom>
            <a:pathLst>
              <a:path w="500" h="14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40"/>
                </a:lnTo>
                <a:cubicBezTo>
                  <a:pt x="4" y="142"/>
                  <a:pt x="5" y="144"/>
                  <a:pt x="7" y="144"/>
                </a:cubicBezTo>
                <a:cubicBezTo>
                  <a:pt x="3" y="144"/>
                  <a:pt x="0" y="140"/>
                  <a:pt x="0" y="13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7029450" y="4333875"/>
            <a:ext cx="381000" cy="247650"/>
          </a:xfrm>
          <a:prstGeom prst="roundRect">
            <a:avLst>
              <a:gd name="adj" fmla="val 15385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105650" y="4381500"/>
            <a:ext cx="2381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P11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524750" y="41624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端到端联调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15325" y="4162425"/>
            <a:ext cx="138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EF4444"/>
                </a:solidFill>
                <a:latin typeface="Microsoft YaHei"/>
                <a:ea typeface="Microsoft YaHei"/>
              </a:rPr>
              <a:t>从仿真到现场的真实链路</a:t>
            </a: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524750" y="4362450"/>
            <a:ext cx="39624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04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输出的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P_bat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真正下发到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4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个控制器，跑通一个完整工作日——把仿真结果变成真实节能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896100" y="5200650"/>
            <a:ext cx="4762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896100" y="5200650"/>
            <a:ext cx="4762500" cy="1162050"/>
          </a:xfrm>
          <a:custGeom>
            <a:pathLst>
              <a:path w="500" h="12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8"/>
                </a:lnTo>
                <a:cubicBezTo>
                  <a:pt x="4" y="120"/>
                  <a:pt x="5" y="122"/>
                  <a:pt x="7" y="122"/>
                </a:cubicBezTo>
                <a:cubicBezTo>
                  <a:pt x="3" y="122"/>
                  <a:pt x="0" y="118"/>
                  <a:pt x="0" y="11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A1A1A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7029450" y="5657850"/>
            <a:ext cx="381000" cy="247650"/>
          </a:xfrm>
          <a:prstGeom prst="roundRect">
            <a:avLst>
              <a:gd name="adj" fmla="val 15385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105650" y="5705475"/>
            <a:ext cx="2381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P12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524750" y="5581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1A1A"/>
                </a:solidFill>
                <a:latin typeface="Microsoft YaHei"/>
                <a:ea typeface="Microsoft YaHei"/>
              </a:rPr>
              <a:t>系统验收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72450" y="5581650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00" b="1">
                <a:solidFill>
                  <a:srgbClr val="1A1A1A"/>
                </a:solidFill>
                <a:latin typeface="Microsoft YaHei"/>
                <a:ea typeface="Microsoft YaHei"/>
              </a:rPr>
              <a:t>能不能上业主</a:t>
            </a:r>
            <a:r>
              <a:rPr lang="en-US" sz="900" b="1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524750" y="578167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4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层闭环在真实数据下的完整验收——通过即上线，否则回到</a:t>
            </a:r>
            <a:r>
              <a:rPr lang="en-US" sz="900">
                <a:solidFill>
                  <a:srgbClr val="475569"/>
                </a:solidFill>
                <a:latin typeface="Microsoft YaHei"/>
                <a:ea typeface="Microsoft YaHei"/>
              </a:rPr>
              <a:t> P6 </a:t>
            </a: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修状态机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0" y="6419850"/>
            <a:ext cx="12192000" cy="438150"/>
          </a:xfrm>
          <a:custGeom>
            <a:pathLst>
              <a:path w="1280" h="4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651510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路线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=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让算法从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会算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走到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会被系统生命周期正确调度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633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padding={0}&gt;&#10;&#10;    &lt;Box style={{&#10;        width: '100%',&#10;        height: '100%',&#10;        background: '#FFFFFF',&#10;        position: 'relative',&#10;        flexDirection: 'column',&#10;        padding: 0,&#10;    }}&gt;&#10;&#10;        {/* 装饰 — 同封面的蓝色梯形 */}&#10;        &lt;Box style={{&#10;            position: 'absolute',&#10;            top: 0, right: 0,&#10;            width: 720, height: 480,&#10;            background: 'linear-gradient(225deg, #3B82F6 0%, #06B6D4 100%)',&#10;            opacity: 0.95,&#10;            clipPath: 'polygon(20% 0, 100% 0, 100% 100%, 0 80%)',&#10;        }} /&gt;&#10;&#10;        {/* 右上：阶段 */}&#10;        &lt;Box style={{&#10;            position: 'absolute',&#10;            top: 36, left: 48,&#10;            padding: '10px 24px',&#10;            borderRadius: 24,&#10;            border: '1.5px solid #3B82F6',&#10;            background: 'rgba(59,130,246,0.06)',&#10;        }}&gt;&#10;            &lt;Text style={{&#10;                fontSize: 16, color: '#3B82F6',&#10;                fontWeight: 'bold', letterSpacing: 1.5,&#10;            }}&gt;&#10;                P11 / 11 · 收 束&#10;            &lt;/Text&gt;&#10;        &lt;/Box&gt;&#10;&#10;        {/* 主标题 */}&#10;        &lt;Box style={{&#10;            position: 'absolute',&#10;            top: 110, left: 60,&#10;            width: 720,&#10;        }}&gt;&#10;            &lt;Text style={{&#10;                fontSize: 48, fontWeight: 'bold', color: '#1A1A1A',&#10;                lineHeight: 1.2, letterSpacing: -1,&#10;            }}&gt;&#10;                前 4 周交付的不是代码&#10;            &lt;/Text&gt;&#10;            &lt;Text style={{&#10;                fontSize: 48, fontWeight: 'bold', color: '#3B82F6',&#10;                lineHeight: 1.2, letterSpacing: -1, marginTop: 4,&#10;            }}&gt;&#10;                是 9 个意志的协商协议&#10;            &lt;/Text&gt;&#10;        &lt;/Box&gt;&#10;&#10;        {/* 4 大数字 — 收束 */}&#10;        &lt;Box style={{&#10;            position: 'absolute',&#10;            top: 320, left: 60,&#10;            flexDirection: 'row', gap: 56,&#10;        }}&gt;&#10;            &lt;Box&gt;&#10;                &lt;Text style={{&#10;                    fontSize: 72, fontWeight: 'bold', color: '#1A1A1A',&#10;                    fontFamily: 'JetBrains Mono, monospace', lineHeight: 1,&#10;                }}&gt;9&lt;/Text&gt;&#10;                &lt;Text style={{ fontSize: 15, color: '#64748B', marginTop: 8, letterSpacing: 1, fontWeight: 'bold' }}&gt;&#10;                    业务意志被同一种语言描述&#10;                &lt;/Text&gt;&#10;            &lt;/Box&gt;&#10;            &lt;Box&gt;&#10;                &lt;Text style={{&#10;                    fontSize: 72, fontWeight: 'bold', color: '#1A1A1A',&#10;                    fontFamily: 'JetBrains Mono, monospace', lineHeight: 1,&#10;                }}&gt;5&lt;/Text&gt;&#10;                &lt;Text style={{ fontSize: 15, color: '#64748B', marginTop: 8, letterSpacing: 1, fontWeight: 'bold' }}&gt;&#10;                    步仲裁·不靠直觉·按规则&#10;                &lt;/Text&gt;&#10;            &lt;/Box&gt;&#10;            &lt;Box&gt;&#10;                &lt;Text style={{&#10;                    fontSize: 72, fontWeight: 'bold', color: '#1A1A1A',&#10;                    fontFamily: 'JetBrains Mono, monospace', lineHeight: 1,&#10;                }}&gt;17&lt;/Text&gt;&#10;                &lt;Text style={{ fontSize: 15, color: '#64748B', marginTop: 8, letterSpacing: 1, fontWeight: 'bold' }}&gt;&#10;                    种业务冲突·确定性通过&#10;                &lt;/Text&gt;&#10;            &lt;/Box&gt;&#10;            &lt;Box&gt;&#10;                &lt;Text style={{&#10;                    fontSize: 72, fontWeight: 'bold', color: '#1A1A1A',&#10;                    fontFamily: 'JetBrains Mono, monospace', lineHeight: 1,&#10;                }}&gt;1&lt;/Text&gt;&#10;                &lt;Text style={{ fontSize: 15, color: '#64748B', marginTop: 8, letterSpacing: 1, fontWeight: 'bold' }}&gt;&#10;                    套逻辑闭环·讲得清·改得动&#10;                &lt;/Text&gt;&#10;            &lt;/Box&gt;&#10;        &lt;/Box&gt;&#10;&#10;        {/* 底部 — 3 个下一步动作 */}&#10;        &lt;Box style={{&#10;            position: 'absolute',&#10;            bottom: 60, left: 60,&#10;            flexDirection: 'row', gap: 10,&#10;        }}&gt;&#10;            &lt;Box style={{&#10;                padding: '10px 18px',&#10;                background: '#FFFFFF',&#10;                borderRadius: 8,&#10;                border: '1.5px solid #3B82F6',&#10;            }}&gt;&#10;                &lt;Text style={{ fontSize: 13, color: '#3B82F6', fontWeight: 'bold', letterSpacing: 1.5 }}&gt;下一步 1&lt;/Text&gt;&#10;                &lt;Text style={{ fontSize: 13, color: '#1A1A1A', marginTop: 4 }}&gt;&#10;                    启动 P6 状态机——3 处治理差距补齐后才开工&#10;                &lt;/Text&gt;&#10;            &lt;/Box&gt;&#10;&#10;            &lt;Box style={{&#10;                padding: '10px 18px',&#10;                background: '#FFFFFF',&#10;                borderRadius: 8,&#10;                border: '1.5px solid #06B6D4',&#10;            }}&gt;&#10;                &lt;Text style={{ fontSize: 13, color: '#06B6D4', fontWeight: 'bold', letterSpacing: 1.5 }}&gt;下一步 2&lt;/Text&gt;&#10;                &lt;Text style={{ fontSize: 13, color: '#1A1A1A', marginTop: 4 }}&gt;&#10;                    仲裁器接 04 内回放（已有 17 场景），先把&quot;算法事实&quot;固化下来&#10;                &lt;/Text&gt;&#10;            &lt;/Box&gt;&#10;&#10;            &lt;Box style={{&#10;                padding: '10px 18px',&#10;                background: '#FFFFFF',&#10;                borderRadius: 8,&#10;                border: '1.5px solid #EF4444',&#10;            }}&gt;&#10;                &lt;Text style={{ fontSize: 13, color: '#EF4444', fontWeight: 'bold', letterSpacing: 1.5 }}&gt;下一步 3&lt;/Text&gt;&#10;                &lt;Text style={{ fontSize: 13, color: '#1A1A1A', marginTop: 4 }}&gt;&#10;                    控制器联调——让&quot;算&quot;出来的东西真的能跑起来&#10;                &lt;/Text&gt;&#10;            &lt;/Box&gt;&#10;        &lt;/Box&gt;&#10;&#10;        &lt;Box style={{&#10;            position: 'absolute', bottom: 24, right: 48,&#10;        }}&gt;&#10;            &lt;Text style={{ fontSize: 14, color: '#FFFFFF', opacity: 0.85 }}&gt;&#10;                2026-09-06 · WorkBuddy&#10;            &lt;/Text&gt;&#10;        &lt;/Box&gt;&#10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334000" y="0"/>
            <a:ext cx="6858000" cy="4572000"/>
          </a:xfrm>
          <a:custGeom>
            <a:pathLst>
              <a:path w="720" h="480">
                <a:moveTo>
                  <a:pt x="144" y="0"/>
                </a:moveTo>
                <a:lnTo>
                  <a:pt x="720" y="0"/>
                </a:lnTo>
                <a:lnTo>
                  <a:pt x="720" y="480"/>
                </a:lnTo>
                <a:lnTo>
                  <a:pt x="0" y="384"/>
                </a:lnTo>
                <a:close/>
              </a:path>
            </a:pathLst>
          </a:cu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810000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57200" y="342900"/>
            <a:ext cx="1809750" cy="381000"/>
          </a:xfrm>
          <a:prstGeom prst="roundRect">
            <a:avLst>
              <a:gd name="adj" fmla="val 60000"/>
            </a:avLst>
          </a:prstGeom>
          <a:solidFill>
            <a:srgbClr val="3B82F6">
              <a:alpha val="6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P11 / 11 · </a:t>
            </a:r>
            <a:r>
              <a:rPr lang="zh-CN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收</a:t>
            </a:r>
            <a:r>
              <a:rPr lang="en-US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 </a:t>
            </a:r>
            <a:r>
              <a:rPr lang="zh-CN" sz="1200" b="1" spc="113">
                <a:solidFill>
                  <a:srgbClr val="3B82F6"/>
                </a:solidFill>
                <a:latin typeface="Microsoft YaHei"/>
                <a:ea typeface="Microsoft YaHei"/>
              </a:rPr>
              <a:t>束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68580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 spc="-75">
                <a:solidFill>
                  <a:srgbClr val="1A1A1A"/>
                </a:solidFill>
                <a:latin typeface="Microsoft YaHei"/>
                <a:ea typeface="Microsoft YaHei"/>
              </a:rPr>
              <a:t>前</a:t>
            </a:r>
            <a:r>
              <a:rPr lang="en-US" sz="3600" b="1" spc="-75">
                <a:solidFill>
                  <a:srgbClr val="1A1A1A"/>
                </a:solidFill>
                <a:latin typeface="Microsoft YaHei"/>
                <a:ea typeface="Microsoft YaHei"/>
              </a:rPr>
              <a:t> 4 </a:t>
            </a:r>
            <a:r>
              <a:rPr lang="zh-CN" sz="3600" b="1" spc="-75">
                <a:solidFill>
                  <a:srgbClr val="1A1A1A"/>
                </a:solidFill>
                <a:latin typeface="Microsoft YaHei"/>
                <a:ea typeface="Microsoft YaHei"/>
              </a:rPr>
              <a:t>周交付的不是代码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68580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 spc="-75">
                <a:solidFill>
                  <a:srgbClr val="3B82F6"/>
                </a:solidFill>
                <a:latin typeface="Microsoft YaHei"/>
                <a:ea typeface="Microsoft YaHei"/>
              </a:rPr>
              <a:t>是</a:t>
            </a:r>
            <a:r>
              <a:rPr lang="en-US" sz="3600" b="1" spc="-75">
                <a:solidFill>
                  <a:srgbClr val="3B82F6"/>
                </a:solidFill>
                <a:latin typeface="Microsoft YaHei"/>
                <a:ea typeface="Microsoft YaHei"/>
              </a:rPr>
              <a:t> 9 </a:t>
            </a:r>
            <a:r>
              <a:rPr lang="zh-CN" sz="3600" b="1" spc="-75">
                <a:solidFill>
                  <a:srgbClr val="3B82F6"/>
                </a:solidFill>
                <a:latin typeface="Microsoft YaHei"/>
                <a:ea typeface="Microsoft YaHei"/>
              </a:rPr>
              <a:t>个意志的协商协议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3048000"/>
            <a:ext cx="1828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A1A1A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39528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64748B"/>
                </a:solidFill>
                <a:latin typeface="Microsoft YaHei"/>
                <a:ea typeface="Microsoft YaHei"/>
              </a:rPr>
              <a:t>业务意志被同一种语言描述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933700" y="3048000"/>
            <a:ext cx="1676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A1A1A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933700" y="3952875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64748B"/>
                </a:solidFill>
                <a:latin typeface="Microsoft YaHei"/>
                <a:ea typeface="Microsoft YaHei"/>
              </a:rPr>
              <a:t>步仲裁·不靠直觉·按规则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143500" y="3048000"/>
            <a:ext cx="16002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A1A1A"/>
                </a:solidFill>
                <a:latin typeface="JetBrains Mono"/>
                <a:ea typeface="JetBrains Mono"/>
              </a:rPr>
              <a:t>17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143500" y="39528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64748B"/>
                </a:solidFill>
                <a:latin typeface="Microsoft YaHei"/>
                <a:ea typeface="Microsoft YaHei"/>
              </a:rPr>
              <a:t>种业务冲突·确定性通过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277100" y="3048000"/>
            <a:ext cx="1828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A1A1A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277100" y="39528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64748B"/>
                </a:solidFill>
                <a:latin typeface="Microsoft YaHei"/>
                <a:ea typeface="Microsoft YaHei"/>
              </a:rPr>
              <a:t>套逻辑闭环·讲得清·改得动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71500" y="5753100"/>
            <a:ext cx="2924175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42950" y="5848350"/>
            <a:ext cx="2581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下一步</a:t>
            </a:r>
            <a:r>
              <a:rPr lang="en-US" sz="975" b="1" spc="113">
                <a:solidFill>
                  <a:srgbClr val="3B82F6"/>
                </a:solidFill>
                <a:latin typeface="Microsoft YaHei"/>
                <a:ea typeface="Microsoft YaHei"/>
              </a:rPr>
              <a:t> 1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42950" y="6038850"/>
            <a:ext cx="2581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启动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P6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状态机——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处治理差距补齐后才开工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590925" y="5753100"/>
            <a:ext cx="38671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762375" y="5848350"/>
            <a:ext cx="352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下一步</a:t>
            </a:r>
            <a:r>
              <a:rPr lang="en-US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 2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762375" y="6038850"/>
            <a:ext cx="352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仲裁器接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04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内回放（已有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 17 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场景），先把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算法事实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固化下来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553325" y="5753100"/>
            <a:ext cx="2952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724775" y="5848350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下一步</a:t>
            </a:r>
            <a:r>
              <a:rPr lang="en-US" sz="975" b="1" spc="113">
                <a:solidFill>
                  <a:srgbClr val="EF4444"/>
                </a:solidFill>
                <a:latin typeface="Microsoft YaHei"/>
                <a:ea typeface="Microsoft YaHei"/>
              </a:rPr>
              <a:t> 3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724775" y="6038850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控制器联调——让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算</a:t>
            </a:r>
            <a:r>
              <a:rPr lang="en-US" sz="975">
                <a:solidFill>
                  <a:srgbClr val="1A1A1A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1A1A1A"/>
                </a:solidFill>
                <a:latin typeface="Microsoft YaHei"/>
                <a:ea typeface="Microsoft YaHei"/>
              </a:rPr>
              <a:t>出来的东西真的能跑起来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134600" y="64674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2026-09-06 · WorkBuddy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2026-09-07T21:38:53Z</dcterms:created>
  <dcterms:modified xsi:type="dcterms:W3CDTF">2026-09-07T21:38:53Z</dcterms:modified>
</cp:coreProperties>
</file>